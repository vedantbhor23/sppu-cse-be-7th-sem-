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46569" y="6747129"/>
            <a:ext cx="47688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578609"/>
            <a:ext cx="6886575" cy="397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34870" y="9419166"/>
            <a:ext cx="345757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slide" Target="slide21.xml"/><Relationship Id="rId18" Type="http://schemas.openxmlformats.org/officeDocument/2006/relationships/slide" Target="slide31.xml"/><Relationship Id="rId3" Type="http://schemas.openxmlformats.org/officeDocument/2006/relationships/slide" Target="slide6.xml"/><Relationship Id="rId7" Type="http://schemas.openxmlformats.org/officeDocument/2006/relationships/slide" Target="slide14.xml"/><Relationship Id="rId12" Type="http://schemas.openxmlformats.org/officeDocument/2006/relationships/slide" Target="slide19.xml"/><Relationship Id="rId17" Type="http://schemas.openxmlformats.org/officeDocument/2006/relationships/slide" Target="slide29.xml"/><Relationship Id="rId2" Type="http://schemas.openxmlformats.org/officeDocument/2006/relationships/slide" Target="slide5.xml"/><Relationship Id="rId16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slide" Target="slide18.xml"/><Relationship Id="rId5" Type="http://schemas.openxmlformats.org/officeDocument/2006/relationships/slide" Target="slide8.xml"/><Relationship Id="rId15" Type="http://schemas.openxmlformats.org/officeDocument/2006/relationships/slide" Target="slide27.xml"/><Relationship Id="rId10" Type="http://schemas.openxmlformats.org/officeDocument/2006/relationships/slide" Target="slide17.xml"/><Relationship Id="rId4" Type="http://schemas.openxmlformats.org/officeDocument/2006/relationships/slide" Target="slide7.xml"/><Relationship Id="rId9" Type="http://schemas.openxmlformats.org/officeDocument/2006/relationships/slide" Target="slide16.xml"/><Relationship Id="rId14" Type="http://schemas.openxmlformats.org/officeDocument/2006/relationships/slide" Target="slide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c/titanic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276" y="470408"/>
            <a:ext cx="6198870" cy="272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MINI-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ON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/>
                <a:cs typeface="Times New Roman"/>
              </a:rPr>
              <a:t>“</a:t>
            </a:r>
            <a:r>
              <a:rPr lang="en-US" sz="1800" b="1" dirty="0">
                <a:latin typeface="Times New Roman"/>
                <a:cs typeface="Times New Roman"/>
              </a:rPr>
              <a:t>Titanic Survival Prediction using Machine Learning Pipeline</a:t>
            </a:r>
            <a:r>
              <a:rPr sz="1800" b="1" spc="-10" dirty="0">
                <a:latin typeface="Times New Roman"/>
                <a:cs typeface="Times New Roman"/>
              </a:rPr>
              <a:t>”</a:t>
            </a:r>
            <a:endParaRPr sz="1800" dirty="0">
              <a:latin typeface="Times New Roman"/>
              <a:cs typeface="Times New Roman"/>
            </a:endParaRPr>
          </a:p>
          <a:p>
            <a:pPr marL="111125" marR="126364" indent="494665">
              <a:lnSpc>
                <a:spcPct val="143600"/>
              </a:lnSpc>
              <a:spcBef>
                <a:spcPts val="1955"/>
              </a:spcBef>
            </a:pPr>
            <a:r>
              <a:rPr sz="1400" spc="-10" dirty="0">
                <a:latin typeface="Times New Roman"/>
                <a:cs typeface="Times New Roman"/>
              </a:rPr>
              <a:t>SUBMITTED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SAVITRIBAI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PHULE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PUNE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UNIVERSITY,</a:t>
            </a:r>
            <a:r>
              <a:rPr sz="1400" spc="5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PARTIAL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FULFILLMENT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REQUIREMENTS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</a:t>
            </a:r>
            <a:endParaRPr sz="1400" dirty="0">
              <a:latin typeface="Times New Roman"/>
              <a:cs typeface="Times New Roman"/>
            </a:endParaRPr>
          </a:p>
          <a:p>
            <a:pPr marL="2985770" marR="2063750" indent="-937260">
              <a:lnSpc>
                <a:spcPts val="2420"/>
              </a:lnSpc>
              <a:spcBef>
                <a:spcPts val="200"/>
              </a:spcBef>
            </a:pPr>
            <a:r>
              <a:rPr sz="1400" dirty="0">
                <a:latin typeface="Times New Roman"/>
                <a:cs typeface="Times New Roman"/>
              </a:rPr>
              <a:t>AWARD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DEGREE </a:t>
            </a:r>
            <a:r>
              <a:rPr sz="1400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515"/>
              </a:spcBef>
            </a:pPr>
            <a:r>
              <a:rPr sz="1600" b="1" spc="-20" dirty="0">
                <a:latin typeface="Times New Roman"/>
                <a:cs typeface="Times New Roman"/>
              </a:rPr>
              <a:t>Computer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Engineering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8275" y="3867124"/>
            <a:ext cx="2355215" cy="6381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1400" b="1" spc="-10" dirty="0">
                <a:latin typeface="Times New Roman"/>
                <a:cs typeface="Times New Roman"/>
              </a:rPr>
              <a:t>UNDER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GUIDANCE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730"/>
              </a:spcBef>
            </a:pPr>
            <a:r>
              <a:rPr sz="1400" spc="-25" dirty="0">
                <a:latin typeface="Times New Roman"/>
                <a:cs typeface="Times New Roman"/>
              </a:rPr>
              <a:t>Ms.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Milan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R.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Shetke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8963" y="6443853"/>
            <a:ext cx="2141220" cy="16935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ENGINEERING</a:t>
            </a:r>
            <a:endParaRPr sz="120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P.E.S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MODERN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COLLEGE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spc="-10" dirty="0">
                <a:latin typeface="Times New Roman"/>
                <a:cs typeface="Times New Roman"/>
              </a:rPr>
              <a:t>ENGINEERING</a:t>
            </a:r>
            <a:r>
              <a:rPr sz="1200" dirty="0">
                <a:latin typeface="Times New Roman"/>
                <a:cs typeface="Times New Roman"/>
              </a:rPr>
              <a:t> PUNE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411005.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Times New Roman"/>
              <a:cs typeface="Times New Roman"/>
            </a:endParaRPr>
          </a:p>
          <a:p>
            <a:pPr marL="238125" marR="228600" indent="-128270">
              <a:lnSpc>
                <a:spcPct val="144200"/>
              </a:lnSpc>
            </a:pPr>
            <a:r>
              <a:rPr sz="1200" spc="-20" dirty="0">
                <a:latin typeface="Times New Roman"/>
                <a:cs typeface="Times New Roman"/>
              </a:rPr>
              <a:t>SAVITRIBAI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PHULE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PUNE UNIVERSITY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[2025-</a:t>
            </a:r>
            <a:r>
              <a:rPr sz="1200" spc="-25" dirty="0">
                <a:latin typeface="Times New Roman"/>
                <a:cs typeface="Times New Roman"/>
              </a:rPr>
              <a:t>26]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304800"/>
            <a:ext cx="7164705" cy="9450705"/>
            <a:chOff x="304800" y="304800"/>
            <a:chExt cx="7164705" cy="9450705"/>
          </a:xfrm>
        </p:grpSpPr>
        <p:sp>
          <p:nvSpPr>
            <p:cNvPr id="6" name="object 6"/>
            <p:cNvSpPr/>
            <p:nvPr/>
          </p:nvSpPr>
          <p:spPr>
            <a:xfrm>
              <a:off x="304800" y="304799"/>
              <a:ext cx="7164705" cy="9450705"/>
            </a:xfrm>
            <a:custGeom>
              <a:avLst/>
              <a:gdLst/>
              <a:ahLst/>
              <a:cxnLst/>
              <a:rect l="l" t="t" r="r" b="b"/>
              <a:pathLst>
                <a:path w="7164705" h="9450705">
                  <a:moveTo>
                    <a:pt x="7164311" y="9444241"/>
                  </a:moveTo>
                  <a:lnTo>
                    <a:pt x="7158228" y="9444241"/>
                  </a:lnTo>
                  <a:lnTo>
                    <a:pt x="6096" y="9444241"/>
                  </a:lnTo>
                  <a:lnTo>
                    <a:pt x="0" y="9444241"/>
                  </a:lnTo>
                  <a:lnTo>
                    <a:pt x="0" y="9450324"/>
                  </a:lnTo>
                  <a:lnTo>
                    <a:pt x="6096" y="9450324"/>
                  </a:lnTo>
                  <a:lnTo>
                    <a:pt x="7158228" y="9450324"/>
                  </a:lnTo>
                  <a:lnTo>
                    <a:pt x="7164311" y="9450324"/>
                  </a:lnTo>
                  <a:lnTo>
                    <a:pt x="7164311" y="9444241"/>
                  </a:lnTo>
                  <a:close/>
                </a:path>
                <a:path w="7164705" h="9450705">
                  <a:moveTo>
                    <a:pt x="7164311" y="0"/>
                  </a:moveTo>
                  <a:lnTo>
                    <a:pt x="7158228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9444228"/>
                  </a:lnTo>
                  <a:lnTo>
                    <a:pt x="6096" y="9444228"/>
                  </a:lnTo>
                  <a:lnTo>
                    <a:pt x="6096" y="6096"/>
                  </a:lnTo>
                  <a:lnTo>
                    <a:pt x="7158228" y="6096"/>
                  </a:lnTo>
                  <a:lnTo>
                    <a:pt x="7158228" y="9444228"/>
                  </a:lnTo>
                  <a:lnTo>
                    <a:pt x="7164311" y="9444228"/>
                  </a:lnTo>
                  <a:lnTo>
                    <a:pt x="7164311" y="6096"/>
                  </a:lnTo>
                  <a:lnTo>
                    <a:pt x="71643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5175" y="4770501"/>
              <a:ext cx="1161846" cy="15735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214727"/>
            <a:ext cx="6426200" cy="351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59660" marR="2351405" indent="-2540" algn="ctr">
              <a:lnSpc>
                <a:spcPct val="1438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Progressive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Education </a:t>
            </a:r>
            <a:r>
              <a:rPr sz="1400" dirty="0">
                <a:latin typeface="Times New Roman"/>
                <a:cs typeface="Times New Roman"/>
              </a:rPr>
              <a:t>Society’s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Modern College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 </a:t>
            </a:r>
            <a:r>
              <a:rPr sz="1400" dirty="0">
                <a:latin typeface="Times New Roman"/>
                <a:cs typeface="Times New Roman"/>
              </a:rPr>
              <a:t>Shivajinagar,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: </a:t>
            </a:r>
            <a:r>
              <a:rPr sz="1400" spc="-10" dirty="0">
                <a:latin typeface="Times New Roman"/>
                <a:cs typeface="Times New Roman"/>
              </a:rPr>
              <a:t>411005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CERTIFICATE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certify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PES’s,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completed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entitled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“Titanic </a:t>
            </a:r>
            <a:r>
              <a:rPr sz="1200" b="1" dirty="0">
                <a:latin typeface="Times New Roman"/>
                <a:cs typeface="Times New Roman"/>
              </a:rPr>
              <a:t>Survival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Pipeline”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instructor.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are:</a:t>
            </a:r>
            <a:endParaRPr sz="12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6416" y="5805804"/>
          <a:ext cx="6413500" cy="1344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marL="1220470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Roll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0" algn="ctr">
                        <a:lnSpc>
                          <a:spcPts val="1390"/>
                        </a:lnSpc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129667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41207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3520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Vedant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Bhor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129667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41210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6144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Siddesh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Choudhari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1296670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41228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0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Rajnandini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Kanade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129667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41245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Ketaki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Mahamuni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7500366"/>
            <a:ext cx="6659880" cy="7493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08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partial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fulfillment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degree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Savitribai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Phule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Pune </a:t>
            </a:r>
            <a:r>
              <a:rPr sz="1200" spc="-10" dirty="0">
                <a:latin typeface="Times New Roman"/>
                <a:cs typeface="Times New Roman"/>
              </a:rPr>
              <a:t>University.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Date: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037" y="8713899"/>
            <a:ext cx="1165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Ms.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Milan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Shetke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6131" y="8679267"/>
            <a:ext cx="1652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Prof.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Mrs.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Itkar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3775" y="457200"/>
            <a:ext cx="1161846" cy="157276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2"/>
          <p:cNvSpPr txBox="1"/>
          <p:nvPr/>
        </p:nvSpPr>
        <p:spPr>
          <a:xfrm>
            <a:off x="1189037" y="8974187"/>
            <a:ext cx="1073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Instructor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5002326" y="8916575"/>
            <a:ext cx="2307590" cy="5499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R="202565" algn="ctr">
              <a:lnSpc>
                <a:spcPct val="100000"/>
              </a:lnSpc>
              <a:spcBef>
                <a:spcPts val="725"/>
              </a:spcBef>
            </a:pPr>
            <a:r>
              <a:rPr sz="1200" spc="-20" dirty="0">
                <a:latin typeface="Times New Roman"/>
                <a:cs typeface="Times New Roman"/>
              </a:rPr>
              <a:t>H.O.D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Department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Engineering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5545" y="1219200"/>
            <a:ext cx="2861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ACKNOWLEDGEMENT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8560" y="1905000"/>
            <a:ext cx="6430010" cy="371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439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sincere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gratitude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Mr.Milan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Shetke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consistent </a:t>
            </a:r>
            <a:r>
              <a:rPr sz="1200" dirty="0">
                <a:latin typeface="Times New Roman"/>
                <a:cs typeface="Times New Roman"/>
              </a:rPr>
              <a:t>guidance,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throughout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project, </a:t>
            </a:r>
            <a:r>
              <a:rPr sz="1200" b="1" dirty="0">
                <a:latin typeface="Times New Roman"/>
                <a:cs typeface="Times New Roman"/>
              </a:rPr>
              <a:t>“Titanic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Survival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using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Pipeline”.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expertise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technologies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instrumental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shaping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completion.</a:t>
            </a: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439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thankful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Prof.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Dr.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Mrs.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S.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Itkar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conducive environment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undertake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 effectively.</a:t>
            </a: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acknowledge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Department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10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Computer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Engineering,</a:t>
            </a:r>
            <a:r>
              <a:rPr sz="1200" b="1" spc="10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Progressive</a:t>
            </a:r>
            <a:r>
              <a:rPr sz="1200" b="1" spc="8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Education </a:t>
            </a:r>
            <a:r>
              <a:rPr sz="1200" b="1" dirty="0">
                <a:latin typeface="Times New Roman"/>
                <a:cs typeface="Times New Roman"/>
              </a:rPr>
              <a:t>Society’s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Modern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College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facilitating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infrastructure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project.</a:t>
            </a: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19050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Lastly,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appreciation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faculty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suggestions </a:t>
            </a:r>
            <a:r>
              <a:rPr sz="1200" dirty="0">
                <a:latin typeface="Times New Roman"/>
                <a:cs typeface="Times New Roman"/>
              </a:rPr>
              <a:t>contributed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refinement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21650D1-3051-C58A-48E9-2AC0F4B25D32}"/>
              </a:ext>
            </a:extLst>
          </p:cNvPr>
          <p:cNvSpPr txBox="1"/>
          <p:nvPr/>
        </p:nvSpPr>
        <p:spPr>
          <a:xfrm>
            <a:off x="2157412" y="413283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535940"/>
            <a:ext cx="2700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Table</a:t>
            </a:r>
            <a:r>
              <a:rPr sz="2800" spc="-125" dirty="0"/>
              <a:t> </a:t>
            </a:r>
            <a:r>
              <a:rPr sz="2800" dirty="0"/>
              <a:t>of</a:t>
            </a:r>
            <a:r>
              <a:rPr sz="2800" spc="-120" dirty="0"/>
              <a:t> </a:t>
            </a:r>
            <a:r>
              <a:rPr sz="2800" spc="-10" dirty="0"/>
              <a:t>Contents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673100" y="1219200"/>
            <a:ext cx="6663690" cy="68694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00" u="sng" spc="-20" dirty="0">
                <a:latin typeface="Times New Roman"/>
                <a:cs typeface="Times New Roman"/>
                <a:hlinkClick r:id="rId2" action="ppaction://hlinksldjump"/>
              </a:rPr>
              <a:t>ABSTRACT</a:t>
            </a:r>
            <a:r>
              <a:rPr sz="1200" u="sng" spc="42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2" action="ppaction://hlinksldjump"/>
              </a:rPr>
              <a:t>........................................................................................................................................................i</a:t>
            </a:r>
            <a:endParaRPr sz="1200" u="sng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u="sng" spc="-25" dirty="0">
                <a:latin typeface="Times New Roman"/>
                <a:cs typeface="Times New Roman"/>
                <a:hlinkClick r:id="rId3" action="ppaction://hlinksldjump"/>
              </a:rPr>
              <a:t>Introduction</a:t>
            </a:r>
            <a:r>
              <a:rPr sz="1200" u="sng" spc="145" dirty="0">
                <a:latin typeface="Times New Roman"/>
                <a:cs typeface="Times New Roman"/>
                <a:hlinkClick r:id="rId3" action="ppaction://hlinksldjump"/>
              </a:rPr>
              <a:t>  </a:t>
            </a:r>
            <a:r>
              <a:rPr sz="1200" u="sng" spc="-10" dirty="0">
                <a:latin typeface="Times New Roman"/>
                <a:cs typeface="Times New Roman"/>
                <a:hlinkClick r:id="rId3" action="ppaction://hlinksldjump"/>
              </a:rPr>
              <a:t>........................................................................................................................................................1</a:t>
            </a:r>
            <a:endParaRPr sz="1200" u="sng" dirty="0">
              <a:latin typeface="Times New Roman"/>
              <a:cs typeface="Times New Roman"/>
            </a:endParaRPr>
          </a:p>
          <a:p>
            <a:pPr marL="367030" indent="-213995">
              <a:lnSpc>
                <a:spcPct val="100000"/>
              </a:lnSpc>
              <a:spcBef>
                <a:spcPts val="555"/>
              </a:spcBef>
              <a:buSzPct val="116666"/>
              <a:buAutoNum type="alphaUcPeriod"/>
              <a:tabLst>
                <a:tab pos="367030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Background</a:t>
            </a:r>
            <a:r>
              <a:rPr sz="1200" u="sng" spc="-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and</a:t>
            </a:r>
            <a:r>
              <a:rPr sz="1200" u="sng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Problem</a:t>
            </a:r>
            <a:r>
              <a:rPr sz="1200" u="sng" spc="2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4" action="ppaction://hlinksldjump"/>
              </a:rPr>
              <a:t>Statement</a:t>
            </a:r>
            <a:r>
              <a:rPr sz="1200" u="sng" spc="2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.........................................................................................................2</a:t>
            </a:r>
            <a:endParaRPr sz="1200" u="sng" dirty="0">
              <a:latin typeface="Times New Roman"/>
              <a:cs typeface="Times New Roman"/>
            </a:endParaRPr>
          </a:p>
          <a:p>
            <a:pPr marL="359410" indent="-206375">
              <a:lnSpc>
                <a:spcPct val="100000"/>
              </a:lnSpc>
              <a:spcBef>
                <a:spcPts val="470"/>
              </a:spcBef>
              <a:buSzPct val="116666"/>
              <a:buAutoNum type="alphaUcPeriod"/>
              <a:tabLst>
                <a:tab pos="359410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Role</a:t>
            </a:r>
            <a:r>
              <a:rPr sz="1200" u="sng" spc="-7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of</a:t>
            </a:r>
            <a:r>
              <a:rPr sz="1200" u="sng" spc="-7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4" action="ppaction://hlinksldjump"/>
              </a:rPr>
              <a:t>AI</a:t>
            </a:r>
            <a:r>
              <a:rPr sz="1200" u="sng" spc="-8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4" action="ppaction://hlinksldjump"/>
              </a:rPr>
              <a:t>and</a:t>
            </a:r>
            <a:r>
              <a:rPr sz="1200" u="sng" spc="-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Machine</a:t>
            </a:r>
            <a:r>
              <a:rPr sz="1200" u="sng" spc="-4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Learning</a:t>
            </a:r>
            <a:r>
              <a:rPr sz="1200" u="sng" spc="-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4" action="ppaction://hlinksldjump"/>
              </a:rPr>
              <a:t>in</a:t>
            </a:r>
            <a:r>
              <a:rPr sz="1200" u="sng" spc="-4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4" action="ppaction://hlinksldjump"/>
              </a:rPr>
              <a:t>Survival</a:t>
            </a:r>
            <a:r>
              <a:rPr sz="1200" u="sng" spc="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4" action="ppaction://hlinksldjump"/>
              </a:rPr>
              <a:t>Prediction..........................................................................2</a:t>
            </a:r>
            <a:endParaRPr sz="1200" u="sng" dirty="0">
              <a:latin typeface="Times New Roman"/>
              <a:cs typeface="Times New Roman"/>
            </a:endParaRPr>
          </a:p>
          <a:p>
            <a:pPr marL="357505" indent="-204470">
              <a:lnSpc>
                <a:spcPct val="100000"/>
              </a:lnSpc>
              <a:spcBef>
                <a:spcPts val="465"/>
              </a:spcBef>
              <a:buSzPct val="116666"/>
              <a:buAutoNum type="alphaUcPeriod"/>
              <a:tabLst>
                <a:tab pos="357505" algn="l"/>
              </a:tabLst>
            </a:pPr>
            <a:r>
              <a:rPr sz="1200" u="sng" spc="-25" dirty="0">
                <a:latin typeface="Times New Roman"/>
                <a:cs typeface="Times New Roman"/>
                <a:hlinkClick r:id="rId5" action="ppaction://hlinksldjump"/>
              </a:rPr>
              <a:t>Human-</a:t>
            </a:r>
            <a:r>
              <a:rPr sz="1200" u="sng" spc="-10" dirty="0">
                <a:latin typeface="Times New Roman"/>
                <a:cs typeface="Times New Roman"/>
                <a:hlinkClick r:id="rId5" action="ppaction://hlinksldjump"/>
              </a:rPr>
              <a:t>Centered</a:t>
            </a:r>
            <a:r>
              <a:rPr sz="1200" u="sng" spc="5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5" action="ppaction://hlinksldjump"/>
              </a:rPr>
              <a:t>Interface</a:t>
            </a:r>
            <a:r>
              <a:rPr sz="1200" u="sng" spc="1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5" action="ppaction://hlinksldjump"/>
              </a:rPr>
              <a:t>and</a:t>
            </a:r>
            <a:r>
              <a:rPr sz="1200" u="sng" spc="4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5" action="ppaction://hlinksldjump"/>
              </a:rPr>
              <a:t>Usability</a:t>
            </a:r>
            <a:r>
              <a:rPr sz="1200" u="sng" spc="-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5" action="ppaction://hlinksldjump"/>
              </a:rPr>
              <a:t>..................................................................................................3</a:t>
            </a:r>
            <a:endParaRPr sz="1200" u="sng" dirty="0">
              <a:latin typeface="Times New Roman"/>
              <a:cs typeface="Times New Roman"/>
            </a:endParaRPr>
          </a:p>
          <a:p>
            <a:pPr marL="367030" indent="-213995">
              <a:lnSpc>
                <a:spcPct val="100000"/>
              </a:lnSpc>
              <a:spcBef>
                <a:spcPts val="480"/>
              </a:spcBef>
              <a:buSzPct val="116666"/>
              <a:buAutoNum type="alphaUcPeriod"/>
              <a:tabLst>
                <a:tab pos="367030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5" action="ppaction://hlinksldjump"/>
              </a:rPr>
              <a:t>Contribution</a:t>
            </a:r>
            <a:r>
              <a:rPr sz="1200" u="sng" spc="8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5" action="ppaction://hlinksldjump"/>
              </a:rPr>
              <a:t>and</a:t>
            </a:r>
            <a:r>
              <a:rPr sz="1200" u="sng" spc="10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5" action="ppaction://hlinksldjump"/>
              </a:rPr>
              <a:t>Innovations</a:t>
            </a:r>
            <a:r>
              <a:rPr sz="1200" u="sng" spc="-12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5" action="ppaction://hlinksldjump"/>
              </a:rPr>
              <a:t>....................................................................................................................3</a:t>
            </a:r>
            <a:endParaRPr sz="1200" u="sng" dirty="0">
              <a:latin typeface="Times New Roman"/>
              <a:cs typeface="Times New Roman"/>
            </a:endParaRPr>
          </a:p>
          <a:p>
            <a:pPr marR="6350" algn="r">
              <a:lnSpc>
                <a:spcPct val="100000"/>
              </a:lnSpc>
              <a:spcBef>
                <a:spcPts val="480"/>
              </a:spcBef>
            </a:pPr>
            <a:r>
              <a:rPr sz="1200" u="sng" spc="-10" dirty="0">
                <a:latin typeface="Times New Roman"/>
                <a:cs typeface="Times New Roman"/>
              </a:rPr>
              <a:t>Objectives...........................................................................................................................................................4</a:t>
            </a:r>
            <a:endParaRPr sz="1200" u="sng" dirty="0">
              <a:latin typeface="Times New Roman"/>
              <a:cs typeface="Times New Roman"/>
            </a:endParaRPr>
          </a:p>
          <a:p>
            <a:pPr marL="182880" marR="6350" indent="-182880" algn="r">
              <a:lnSpc>
                <a:spcPct val="100000"/>
              </a:lnSpc>
              <a:spcBef>
                <a:spcPts val="575"/>
              </a:spcBef>
              <a:buSzPct val="91666"/>
              <a:buAutoNum type="alphaUcPeriod"/>
              <a:tabLst>
                <a:tab pos="182880" algn="l"/>
              </a:tabLst>
            </a:pPr>
            <a:r>
              <a:rPr sz="1200" u="sng" spc="-20" dirty="0">
                <a:latin typeface="Times New Roman"/>
                <a:cs typeface="Times New Roman"/>
              </a:rPr>
              <a:t>Functional</a:t>
            </a:r>
            <a:r>
              <a:rPr sz="1200" u="sng" spc="175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latin typeface="Times New Roman"/>
                <a:cs typeface="Times New Roman"/>
              </a:rPr>
              <a:t>Objectives</a:t>
            </a:r>
            <a:r>
              <a:rPr sz="1200" u="sng" spc="165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................................................................................................................................5</a:t>
            </a:r>
            <a:endParaRPr sz="1200" u="sng" dirty="0">
              <a:latin typeface="Times New Roman"/>
              <a:cs typeface="Times New Roman"/>
            </a:endParaRPr>
          </a:p>
          <a:p>
            <a:pPr marL="203200" marR="6350" indent="-203200" algn="r">
              <a:lnSpc>
                <a:spcPct val="100000"/>
              </a:lnSpc>
              <a:spcBef>
                <a:spcPts val="565"/>
              </a:spcBef>
              <a:buAutoNum type="alphaUcPeriod"/>
              <a:tabLst>
                <a:tab pos="203200" algn="l"/>
              </a:tabLst>
            </a:pPr>
            <a:r>
              <a:rPr sz="1200" u="sng" spc="-20" dirty="0">
                <a:latin typeface="Times New Roman"/>
                <a:cs typeface="Times New Roman"/>
              </a:rPr>
              <a:t>Technical</a:t>
            </a:r>
            <a:r>
              <a:rPr sz="1200" u="sng" spc="254" dirty="0">
                <a:latin typeface="Times New Roman"/>
                <a:cs typeface="Times New Roman"/>
              </a:rPr>
              <a:t> </a:t>
            </a:r>
            <a:r>
              <a:rPr sz="1200" u="sng" spc="-20" dirty="0">
                <a:latin typeface="Times New Roman"/>
                <a:cs typeface="Times New Roman"/>
              </a:rPr>
              <a:t>Objectives</a:t>
            </a:r>
            <a:r>
              <a:rPr sz="1200" u="sng" spc="110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.................................................................................................................................6</a:t>
            </a:r>
            <a:endParaRPr sz="1200" u="sng" dirty="0">
              <a:latin typeface="Times New Roman"/>
              <a:cs typeface="Times New Roman"/>
            </a:endParaRPr>
          </a:p>
          <a:p>
            <a:pPr marR="6350" algn="r">
              <a:lnSpc>
                <a:spcPct val="100000"/>
              </a:lnSpc>
              <a:spcBef>
                <a:spcPts val="565"/>
              </a:spcBef>
            </a:pPr>
            <a:r>
              <a:rPr sz="1200" u="sng" spc="-25" dirty="0">
                <a:latin typeface="Times New Roman"/>
                <a:cs typeface="Times New Roman"/>
                <a:hlinkClick r:id="rId6" action="ppaction://hlinksldjump"/>
              </a:rPr>
              <a:t>Motivation</a:t>
            </a:r>
            <a:r>
              <a:rPr sz="1200" u="sng" spc="135" dirty="0">
                <a:latin typeface="Times New Roman"/>
                <a:cs typeface="Times New Roman"/>
                <a:hlinkClick r:id="rId6" action="ppaction://hlinksldjump"/>
              </a:rPr>
              <a:t>  </a:t>
            </a:r>
            <a:r>
              <a:rPr sz="1200" u="sng" spc="-10" dirty="0">
                <a:latin typeface="Times New Roman"/>
                <a:cs typeface="Times New Roman"/>
                <a:hlinkClick r:id="rId6" action="ppaction://hlinksldjump"/>
              </a:rPr>
              <a:t>..........................................................................................................................................................7</a:t>
            </a:r>
            <a:endParaRPr sz="1200" u="sng" dirty="0">
              <a:latin typeface="Times New Roman"/>
              <a:cs typeface="Times New Roman"/>
            </a:endParaRPr>
          </a:p>
          <a:p>
            <a:pPr marR="6350" algn="r">
              <a:lnSpc>
                <a:spcPct val="100000"/>
              </a:lnSpc>
              <a:spcBef>
                <a:spcPts val="575"/>
              </a:spcBef>
            </a:pPr>
            <a:r>
              <a:rPr sz="1200" u="sng" spc="-10" dirty="0">
                <a:latin typeface="Times New Roman"/>
                <a:cs typeface="Times New Roman"/>
                <a:hlinkClick r:id="rId7" action="ppaction://hlinksldjump"/>
              </a:rPr>
              <a:t>Scope</a:t>
            </a:r>
            <a:r>
              <a:rPr sz="1200" u="sng" spc="50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7" action="ppaction://hlinksldjump"/>
              </a:rPr>
              <a:t>and</a:t>
            </a:r>
            <a:r>
              <a:rPr sz="1200" u="sng" spc="75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7" action="ppaction://hlinksldjump"/>
              </a:rPr>
              <a:t>Design</a:t>
            </a:r>
            <a:r>
              <a:rPr sz="1200" u="sng" spc="85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200" u="sng" spc="-25" dirty="0">
                <a:latin typeface="Times New Roman"/>
                <a:cs typeface="Times New Roman"/>
                <a:hlinkClick r:id="rId7" action="ppaction://hlinksldjump"/>
              </a:rPr>
              <a:t>Rationale</a:t>
            </a:r>
            <a:r>
              <a:rPr sz="1200" u="sng" spc="-40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7" action="ppaction://hlinksldjump"/>
              </a:rPr>
              <a:t>...............................................................................................................................9</a:t>
            </a:r>
            <a:endParaRPr sz="1200" u="sng" dirty="0">
              <a:latin typeface="Times New Roman"/>
              <a:cs typeface="Times New Roman"/>
            </a:endParaRPr>
          </a:p>
          <a:p>
            <a:pPr marL="213995" marR="12700" indent="-213995" algn="r">
              <a:lnSpc>
                <a:spcPct val="100000"/>
              </a:lnSpc>
              <a:spcBef>
                <a:spcPts val="545"/>
              </a:spcBef>
              <a:buSzPct val="116666"/>
              <a:buAutoNum type="alphaUcPeriod"/>
              <a:tabLst>
                <a:tab pos="213995" algn="l"/>
              </a:tabLst>
            </a:pPr>
            <a:r>
              <a:rPr sz="1200" u="sng" dirty="0">
                <a:latin typeface="Times New Roman"/>
                <a:cs typeface="Times New Roman"/>
                <a:hlinkClick r:id="rId8" action="ppaction://hlinksldjump"/>
              </a:rPr>
              <a:t>Scope</a:t>
            </a:r>
            <a:r>
              <a:rPr sz="1200" u="sng" spc="5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8" action="ppaction://hlinksldjump"/>
              </a:rPr>
              <a:t>of</a:t>
            </a:r>
            <a:r>
              <a:rPr sz="1200" u="sng" spc="6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8" action="ppaction://hlinksldjump"/>
              </a:rPr>
              <a:t>the</a:t>
            </a:r>
            <a:r>
              <a:rPr sz="1200" u="sng" spc="75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u="sng" spc="-25" dirty="0">
                <a:latin typeface="Times New Roman"/>
                <a:cs typeface="Times New Roman"/>
                <a:hlinkClick r:id="rId8" action="ppaction://hlinksldjump"/>
              </a:rPr>
              <a:t>System</a:t>
            </a:r>
            <a:r>
              <a:rPr sz="1200" u="sng" spc="-12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8" action="ppaction://hlinksldjump"/>
              </a:rPr>
              <a:t>................................................................................................................................10</a:t>
            </a:r>
            <a:endParaRPr sz="1200" u="sng" dirty="0">
              <a:latin typeface="Times New Roman"/>
              <a:cs typeface="Times New Roman"/>
            </a:endParaRPr>
          </a:p>
          <a:p>
            <a:pPr marL="204470" marR="12700" indent="-204470" algn="r">
              <a:lnSpc>
                <a:spcPct val="100000"/>
              </a:lnSpc>
              <a:spcBef>
                <a:spcPts val="480"/>
              </a:spcBef>
              <a:buSzPct val="116666"/>
              <a:buAutoNum type="alphaUcPeriod"/>
              <a:tabLst>
                <a:tab pos="204470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9" action="ppaction://hlinksldjump"/>
              </a:rPr>
              <a:t>Design</a:t>
            </a:r>
            <a:r>
              <a:rPr sz="1200" u="sng" spc="195" dirty="0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sz="1200" u="sng" spc="-25" dirty="0">
                <a:latin typeface="Times New Roman"/>
                <a:cs typeface="Times New Roman"/>
                <a:hlinkClick r:id="rId9" action="ppaction://hlinksldjump"/>
              </a:rPr>
              <a:t>Rationale</a:t>
            </a:r>
            <a:r>
              <a:rPr sz="1200" u="sng" spc="160" dirty="0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9" action="ppaction://hlinksldjump"/>
              </a:rPr>
              <a:t>.....................................................................................................................................11</a:t>
            </a:r>
            <a:endParaRPr sz="1200" u="sng" dirty="0">
              <a:latin typeface="Times New Roman"/>
              <a:cs typeface="Times New Roman"/>
            </a:endParaRPr>
          </a:p>
          <a:p>
            <a:pPr marR="12700" algn="r">
              <a:lnSpc>
                <a:spcPct val="100000"/>
              </a:lnSpc>
              <a:spcBef>
                <a:spcPts val="475"/>
              </a:spcBef>
            </a:pPr>
            <a:r>
              <a:rPr sz="1200" u="sng" spc="-20" dirty="0">
                <a:latin typeface="Times New Roman"/>
                <a:cs typeface="Times New Roman"/>
                <a:hlinkClick r:id="rId10" action="ppaction://hlinksldjump"/>
              </a:rPr>
              <a:t>Methodological</a:t>
            </a:r>
            <a:r>
              <a:rPr sz="1200" u="sng" spc="409" dirty="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0" action="ppaction://hlinksldjump"/>
              </a:rPr>
              <a:t>Details.....................................................................................................................................12</a:t>
            </a:r>
            <a:endParaRPr sz="1200" u="sng" dirty="0">
              <a:latin typeface="Times New Roman"/>
              <a:cs typeface="Times New Roman"/>
            </a:endParaRPr>
          </a:p>
          <a:p>
            <a:pPr marL="359410" indent="-213995">
              <a:lnSpc>
                <a:spcPct val="100000"/>
              </a:lnSpc>
              <a:spcBef>
                <a:spcPts val="570"/>
              </a:spcBef>
              <a:buSzPct val="116666"/>
              <a:buAutoNum type="alphaUcPeriod"/>
              <a:tabLst>
                <a:tab pos="359410" algn="l"/>
              </a:tabLst>
            </a:pPr>
            <a:r>
              <a:rPr sz="1200" u="sng" spc="-20" dirty="0">
                <a:latin typeface="Times New Roman"/>
                <a:cs typeface="Times New Roman"/>
                <a:hlinkClick r:id="rId11" action="ppaction://hlinksldjump"/>
              </a:rPr>
              <a:t>Data</a:t>
            </a:r>
            <a:r>
              <a:rPr sz="1200" u="sng" spc="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1" action="ppaction://hlinksldjump"/>
              </a:rPr>
              <a:t>Acquisition</a:t>
            </a:r>
            <a:r>
              <a:rPr sz="1200" u="sng" spc="3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1" action="ppaction://hlinksldjump"/>
              </a:rPr>
              <a:t>and</a:t>
            </a:r>
            <a:r>
              <a:rPr sz="1200" u="sng" spc="3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200" u="sng" spc="-25" dirty="0">
                <a:latin typeface="Times New Roman"/>
                <a:cs typeface="Times New Roman"/>
                <a:hlinkClick r:id="rId11" action="ppaction://hlinksldjump"/>
              </a:rPr>
              <a:t>Preprocessing</a:t>
            </a:r>
            <a:r>
              <a:rPr sz="1200" u="sng" spc="-6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1" action="ppaction://hlinksldjump"/>
              </a:rPr>
              <a:t>........................................................................................................13</a:t>
            </a:r>
            <a:endParaRPr sz="1200" u="sng" dirty="0">
              <a:latin typeface="Times New Roman"/>
              <a:cs typeface="Times New Roman"/>
            </a:endParaRPr>
          </a:p>
          <a:p>
            <a:pPr marL="349885" indent="-204470">
              <a:lnSpc>
                <a:spcPct val="100000"/>
              </a:lnSpc>
              <a:spcBef>
                <a:spcPts val="755"/>
              </a:spcBef>
              <a:buSzPct val="116666"/>
              <a:buAutoNum type="alphaUcPeriod"/>
              <a:tabLst>
                <a:tab pos="349885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12" action="ppaction://hlinksldjump"/>
              </a:rPr>
              <a:t>Model</a:t>
            </a:r>
            <a:r>
              <a:rPr sz="1200" u="sng" spc="1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2" action="ppaction://hlinksldjump"/>
              </a:rPr>
              <a:t>Design</a:t>
            </a:r>
            <a:r>
              <a:rPr sz="1200" u="sng" spc="3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2" action="ppaction://hlinksldjump"/>
              </a:rPr>
              <a:t>and</a:t>
            </a:r>
            <a:r>
              <a:rPr sz="1200" u="sng" spc="2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12" action="ppaction://hlinksldjump"/>
              </a:rPr>
              <a:t>Training</a:t>
            </a:r>
            <a:r>
              <a:rPr sz="1200" u="sng" spc="-8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2" action="ppaction://hlinksldjump"/>
              </a:rPr>
              <a:t>.....................</a:t>
            </a:r>
            <a:r>
              <a:rPr lang="en-IN" sz="1200" u="sng" spc="-10" dirty="0">
                <a:latin typeface="Times New Roman"/>
                <a:cs typeface="Times New Roman"/>
                <a:hlinkClick r:id="rId12" action="ppaction://hlinksldjump"/>
              </a:rPr>
              <a:t>..</a:t>
            </a:r>
            <a:r>
              <a:rPr sz="1200" u="sng" spc="-10" dirty="0">
                <a:latin typeface="Times New Roman"/>
                <a:cs typeface="Times New Roman"/>
                <a:hlinkClick r:id="rId12" action="ppaction://hlinksldjump"/>
              </a:rPr>
              <a:t>..............................................................................................14</a:t>
            </a:r>
            <a:endParaRPr sz="1200" u="sng" dirty="0">
              <a:latin typeface="Times New Roman"/>
              <a:cs typeface="Times New Roman"/>
            </a:endParaRPr>
          </a:p>
          <a:p>
            <a:pPr marL="349885" indent="-204470">
              <a:lnSpc>
                <a:spcPct val="100000"/>
              </a:lnSpc>
              <a:spcBef>
                <a:spcPts val="770"/>
              </a:spcBef>
              <a:buSzPct val="116666"/>
              <a:buAutoNum type="alphaUcPeriod"/>
              <a:tabLst>
                <a:tab pos="349885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13" action="ppaction://hlinksldjump"/>
              </a:rPr>
              <a:t>Model</a:t>
            </a:r>
            <a:r>
              <a:rPr sz="1200" u="sng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3" action="ppaction://hlinksldjump"/>
              </a:rPr>
              <a:t>Evaluation</a:t>
            </a:r>
            <a:r>
              <a:rPr sz="1200" u="sng" spc="5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3" action="ppaction://hlinksldjump"/>
              </a:rPr>
              <a:t>and</a:t>
            </a:r>
            <a:r>
              <a:rPr sz="1200" u="sng" spc="5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3" action="ppaction://hlinksldjump"/>
              </a:rPr>
              <a:t>Visualization........................................................................................................17</a:t>
            </a:r>
            <a:endParaRPr sz="1200" u="sng" dirty="0">
              <a:latin typeface="Times New Roman"/>
              <a:cs typeface="Times New Roman"/>
            </a:endParaRPr>
          </a:p>
          <a:p>
            <a:pPr marL="12700" marR="12700" indent="346710">
              <a:lnSpc>
                <a:spcPts val="2270"/>
              </a:lnSpc>
              <a:spcBef>
                <a:spcPts val="365"/>
              </a:spcBef>
              <a:buSzPct val="116666"/>
              <a:buAutoNum type="alphaUcPeriod"/>
              <a:tabLst>
                <a:tab pos="359410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13" action="ppaction://hlinksldjump"/>
              </a:rPr>
              <a:t>Deployment</a:t>
            </a:r>
            <a:r>
              <a:rPr sz="1200" u="sng" spc="-35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3" action="ppaction://hlinksldjump"/>
              </a:rPr>
              <a:t>and</a:t>
            </a:r>
            <a:r>
              <a:rPr sz="1200" u="sng" spc="-35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3" action="ppaction://hlinksldjump"/>
              </a:rPr>
              <a:t>User</a:t>
            </a:r>
            <a:r>
              <a:rPr sz="1200" u="sng" spc="-25" dirty="0">
                <a:latin typeface="Times New Roman"/>
                <a:cs typeface="Times New Roman"/>
                <a:hlinkClick r:id="rId13" action="ppaction://hlinksldjump"/>
              </a:rPr>
              <a:t> Interaction</a:t>
            </a:r>
            <a:r>
              <a:rPr sz="1200" u="sng" spc="-155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3" action="ppaction://hlinksldjump"/>
              </a:rPr>
              <a:t>............................................................................................................17</a:t>
            </a:r>
            <a:r>
              <a:rPr sz="1200" u="sng" spc="500" dirty="0">
                <a:latin typeface="Times New Roman"/>
                <a:cs typeface="Times New Roman"/>
              </a:rPr>
              <a:t> </a:t>
            </a:r>
            <a:r>
              <a:rPr sz="1200" u="sng" spc="-20" dirty="0">
                <a:latin typeface="Times New Roman"/>
                <a:cs typeface="Times New Roman"/>
              </a:rPr>
              <a:t>Results</a:t>
            </a:r>
            <a:r>
              <a:rPr sz="1200" u="sng" spc="480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..............................................................................................................................................................18</a:t>
            </a:r>
            <a:endParaRPr sz="1200" u="sng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u="sng" spc="-10" dirty="0">
                <a:latin typeface="Times New Roman"/>
                <a:cs typeface="Times New Roman"/>
                <a:hlinkClick r:id="rId14" action="ppaction://hlinksldjump"/>
              </a:rPr>
              <a:t>Analysis............................................................................................................................................................22</a:t>
            </a:r>
            <a:endParaRPr sz="1200" u="sng" dirty="0">
              <a:latin typeface="Times New Roman"/>
              <a:cs typeface="Times New Roman"/>
            </a:endParaRPr>
          </a:p>
          <a:p>
            <a:pPr marL="359410" indent="-213995">
              <a:lnSpc>
                <a:spcPct val="100000"/>
              </a:lnSpc>
              <a:spcBef>
                <a:spcPts val="530"/>
              </a:spcBef>
              <a:buSzPct val="116666"/>
              <a:buAutoNum type="alphaUcPeriod"/>
              <a:tabLst>
                <a:tab pos="359410" algn="l"/>
              </a:tabLst>
            </a:pPr>
            <a:r>
              <a:rPr sz="1200" u="sng" spc="-20" dirty="0">
                <a:latin typeface="Times New Roman"/>
                <a:cs typeface="Times New Roman"/>
                <a:hlinkClick r:id="rId14" action="ppaction://hlinksldjump"/>
              </a:rPr>
              <a:t>Technical </a:t>
            </a:r>
            <a:r>
              <a:rPr sz="1200" u="sng" spc="-10" dirty="0">
                <a:latin typeface="Times New Roman"/>
                <a:cs typeface="Times New Roman"/>
                <a:hlinkClick r:id="rId14" action="ppaction://hlinksldjump"/>
              </a:rPr>
              <a:t>Development</a:t>
            </a:r>
            <a:r>
              <a:rPr sz="1200" u="sng" spc="2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4" action="ppaction://hlinksldjump"/>
              </a:rPr>
              <a:t>and</a:t>
            </a:r>
            <a:r>
              <a:rPr sz="1200" u="sng" spc="3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200" u="sng" spc="-25" dirty="0">
                <a:latin typeface="Times New Roman"/>
                <a:cs typeface="Times New Roman"/>
                <a:hlinkClick r:id="rId14" action="ppaction://hlinksldjump"/>
              </a:rPr>
              <a:t>Implementation</a:t>
            </a:r>
            <a:r>
              <a:rPr sz="1200" u="sng" spc="-7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4" action="ppaction://hlinksldjump"/>
              </a:rPr>
              <a:t>..........................................................................................23</a:t>
            </a:r>
            <a:endParaRPr sz="1200" u="sng" dirty="0">
              <a:latin typeface="Times New Roman"/>
              <a:cs typeface="Times New Roman"/>
            </a:endParaRPr>
          </a:p>
          <a:p>
            <a:pPr marL="349885" indent="-204470">
              <a:lnSpc>
                <a:spcPct val="100000"/>
              </a:lnSpc>
              <a:spcBef>
                <a:spcPts val="480"/>
              </a:spcBef>
              <a:buSzPct val="116666"/>
              <a:buAutoNum type="alphaUcPeriod"/>
              <a:tabLst>
                <a:tab pos="349885" algn="l"/>
              </a:tabLst>
            </a:pPr>
            <a:r>
              <a:rPr sz="1200" u="sng" spc="-20" dirty="0">
                <a:latin typeface="Times New Roman"/>
                <a:cs typeface="Times New Roman"/>
                <a:hlinkClick r:id="rId15" action="ppaction://hlinksldjump"/>
              </a:rPr>
              <a:t>Deployment,</a:t>
            </a:r>
            <a:r>
              <a:rPr sz="1200" u="sng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200" u="sng" dirty="0">
                <a:latin typeface="Times New Roman"/>
                <a:cs typeface="Times New Roman"/>
                <a:hlinkClick r:id="rId15" action="ppaction://hlinksldjump"/>
              </a:rPr>
              <a:t>User</a:t>
            </a:r>
            <a:r>
              <a:rPr sz="1200" u="sng" spc="-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15" action="ppaction://hlinksldjump"/>
              </a:rPr>
              <a:t>Accessibility,</a:t>
            </a:r>
            <a:r>
              <a:rPr sz="1200" u="sng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5" action="ppaction://hlinksldjump"/>
              </a:rPr>
              <a:t>and</a:t>
            </a:r>
            <a:r>
              <a:rPr sz="1200" u="sng" spc="-3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5" action="ppaction://hlinksldjump"/>
              </a:rPr>
              <a:t>Project</a:t>
            </a:r>
            <a:r>
              <a:rPr sz="1200" u="sng" spc="3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15" action="ppaction://hlinksldjump"/>
              </a:rPr>
              <a:t>Insights</a:t>
            </a:r>
            <a:r>
              <a:rPr sz="1200" u="sng" spc="-3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5" action="ppaction://hlinksldjump"/>
              </a:rPr>
              <a:t>.............................................................................24</a:t>
            </a:r>
            <a:endParaRPr sz="1200" u="sng" dirty="0">
              <a:latin typeface="Times New Roman"/>
              <a:cs typeface="Times New Roman"/>
            </a:endParaRPr>
          </a:p>
          <a:p>
            <a:pPr marL="349885" indent="-204470">
              <a:lnSpc>
                <a:spcPct val="100000"/>
              </a:lnSpc>
              <a:spcBef>
                <a:spcPts val="780"/>
              </a:spcBef>
              <a:buSzPct val="116666"/>
              <a:buAutoNum type="alphaUcPeriod"/>
              <a:tabLst>
                <a:tab pos="349885" algn="l"/>
              </a:tabLst>
            </a:pPr>
            <a:r>
              <a:rPr sz="1200" u="sng" spc="-10" dirty="0">
                <a:latin typeface="Times New Roman"/>
                <a:cs typeface="Times New Roman"/>
                <a:hlinkClick r:id="rId16" action="ppaction://hlinksldjump"/>
              </a:rPr>
              <a:t>Overall</a:t>
            </a:r>
            <a:r>
              <a:rPr sz="1200" u="sng" spc="180" dirty="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sz="1200" u="sng" spc="-20" dirty="0">
                <a:latin typeface="Times New Roman"/>
                <a:cs typeface="Times New Roman"/>
                <a:hlinkClick r:id="rId16" action="ppaction://hlinksldjump"/>
              </a:rPr>
              <a:t>analysis</a:t>
            </a:r>
            <a:r>
              <a:rPr sz="1200" u="sng" spc="130" dirty="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sz="1200" u="sng" spc="-10" dirty="0">
                <a:latin typeface="Times New Roman"/>
                <a:cs typeface="Times New Roman"/>
                <a:hlinkClick r:id="rId16" action="ppaction://hlinksldjump"/>
              </a:rPr>
              <a:t>.......................................................................................................................................25</a:t>
            </a:r>
            <a:endParaRPr sz="1200" u="sng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00" u="sng" spc="-10" dirty="0">
                <a:latin typeface="Times New Roman"/>
                <a:cs typeface="Times New Roman"/>
                <a:hlinkClick r:id="rId17" action="ppaction://hlinksldjump"/>
              </a:rPr>
              <a:t>Conclusion........................................................................................................................................................26</a:t>
            </a:r>
            <a:endParaRPr sz="1200" u="sng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u="sng" spc="-25" dirty="0">
                <a:latin typeface="Times New Roman"/>
                <a:cs typeface="Times New Roman"/>
                <a:hlinkClick r:id="rId18" action="ppaction://hlinksldjump"/>
              </a:rPr>
              <a:t>References</a:t>
            </a:r>
            <a:r>
              <a:rPr sz="1200" u="sng" spc="105" dirty="0">
                <a:latin typeface="Times New Roman"/>
                <a:cs typeface="Times New Roman"/>
                <a:hlinkClick r:id="rId18" action="ppaction://hlinksldjump"/>
              </a:rPr>
              <a:t>  </a:t>
            </a:r>
            <a:r>
              <a:rPr sz="1200" u="sng" spc="-10" dirty="0">
                <a:latin typeface="Times New Roman"/>
                <a:cs typeface="Times New Roman"/>
                <a:hlinkClick r:id="rId18" action="ppaction://hlinksldjump"/>
              </a:rPr>
              <a:t>........................................................................................................................................................28</a:t>
            </a:r>
            <a:endParaRPr sz="1200" u="sng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55607" y="931862"/>
            <a:ext cx="18161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/>
              <a:t>ABSTRACT</a:t>
            </a:r>
            <a:endParaRPr sz="2600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09601" y="1981200"/>
            <a:ext cx="6553200" cy="39706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437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135" dirty="0"/>
              <a:t> </a:t>
            </a:r>
            <a:r>
              <a:rPr dirty="0"/>
              <a:t>project</a:t>
            </a:r>
            <a:r>
              <a:rPr spc="145" dirty="0"/>
              <a:t> </a:t>
            </a:r>
            <a:r>
              <a:rPr dirty="0"/>
              <a:t>titled</a:t>
            </a:r>
            <a:r>
              <a:rPr spc="150" dirty="0"/>
              <a:t> </a:t>
            </a:r>
            <a:r>
              <a:rPr b="1" dirty="0">
                <a:latin typeface="Times New Roman"/>
                <a:cs typeface="Times New Roman"/>
              </a:rPr>
              <a:t>“Titanic</a:t>
            </a:r>
            <a:r>
              <a:rPr b="1" spc="1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Survival</a:t>
            </a:r>
            <a:r>
              <a:rPr b="1" spc="1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Prediction</a:t>
            </a:r>
            <a:r>
              <a:rPr b="1" spc="1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using</a:t>
            </a:r>
            <a:r>
              <a:rPr b="1" spc="1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Machine</a:t>
            </a:r>
            <a:r>
              <a:rPr b="1" spc="1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Learning”</a:t>
            </a:r>
            <a:r>
              <a:rPr b="1" spc="170" dirty="0">
                <a:latin typeface="Times New Roman"/>
                <a:cs typeface="Times New Roman"/>
              </a:rPr>
              <a:t> </a:t>
            </a:r>
            <a:r>
              <a:rPr dirty="0"/>
              <a:t>focuses</a:t>
            </a:r>
            <a:r>
              <a:rPr spc="140" dirty="0"/>
              <a:t> </a:t>
            </a:r>
            <a:r>
              <a:rPr dirty="0"/>
              <a:t>on</a:t>
            </a:r>
            <a:r>
              <a:rPr spc="140" dirty="0"/>
              <a:t> </a:t>
            </a:r>
            <a:r>
              <a:rPr dirty="0"/>
              <a:t>applying</a:t>
            </a:r>
            <a:r>
              <a:rPr spc="145" dirty="0"/>
              <a:t> </a:t>
            </a:r>
            <a:r>
              <a:rPr spc="-10" dirty="0"/>
              <a:t>supervised </a:t>
            </a:r>
            <a:r>
              <a:rPr dirty="0"/>
              <a:t>learning</a:t>
            </a:r>
            <a:r>
              <a:rPr spc="5" dirty="0"/>
              <a:t> </a:t>
            </a:r>
            <a:r>
              <a:rPr dirty="0"/>
              <a:t>techniques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predict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likelihood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passenger</a:t>
            </a:r>
            <a:r>
              <a:rPr spc="5" dirty="0"/>
              <a:t> </a:t>
            </a:r>
            <a:r>
              <a:rPr dirty="0"/>
              <a:t>survival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Titanic</a:t>
            </a:r>
            <a:r>
              <a:rPr spc="5" dirty="0"/>
              <a:t> </a:t>
            </a:r>
            <a:r>
              <a:rPr dirty="0"/>
              <a:t>disaster</a:t>
            </a:r>
            <a:r>
              <a:rPr spc="5" dirty="0"/>
              <a:t> </a:t>
            </a:r>
            <a:r>
              <a:rPr dirty="0"/>
              <a:t>based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spc="-10" dirty="0"/>
              <a:t>demographic </a:t>
            </a:r>
            <a:r>
              <a:rPr dirty="0"/>
              <a:t>and</a:t>
            </a:r>
            <a:r>
              <a:rPr spc="45" dirty="0"/>
              <a:t> </a:t>
            </a:r>
            <a:r>
              <a:rPr spc="-10" dirty="0"/>
              <a:t>travel-</a:t>
            </a:r>
            <a:r>
              <a:rPr dirty="0"/>
              <a:t>related</a:t>
            </a:r>
            <a:r>
              <a:rPr spc="50" dirty="0"/>
              <a:t> </a:t>
            </a:r>
            <a:r>
              <a:rPr dirty="0"/>
              <a:t>factors.</a:t>
            </a:r>
            <a:r>
              <a:rPr spc="45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dataset,</a:t>
            </a:r>
            <a:r>
              <a:rPr spc="50" dirty="0"/>
              <a:t> </a:t>
            </a:r>
            <a:r>
              <a:rPr dirty="0"/>
              <a:t>obtained</a:t>
            </a:r>
            <a:r>
              <a:rPr spc="50" dirty="0"/>
              <a:t> </a:t>
            </a:r>
            <a:r>
              <a:rPr dirty="0"/>
              <a:t>from</a:t>
            </a:r>
            <a:r>
              <a:rPr spc="50" dirty="0"/>
              <a:t> </a:t>
            </a:r>
            <a:r>
              <a:rPr dirty="0"/>
              <a:t>Kaggle,</a:t>
            </a:r>
            <a:r>
              <a:rPr spc="50" dirty="0"/>
              <a:t> </a:t>
            </a:r>
            <a:r>
              <a:rPr dirty="0"/>
              <a:t>includes</a:t>
            </a:r>
            <a:r>
              <a:rPr spc="45" dirty="0"/>
              <a:t> </a:t>
            </a:r>
            <a:r>
              <a:rPr dirty="0"/>
              <a:t>details</a:t>
            </a:r>
            <a:r>
              <a:rPr spc="55" dirty="0"/>
              <a:t> </a:t>
            </a:r>
            <a:r>
              <a:rPr dirty="0"/>
              <a:t>such</a:t>
            </a:r>
            <a:r>
              <a:rPr spc="45" dirty="0"/>
              <a:t> </a:t>
            </a:r>
            <a:r>
              <a:rPr dirty="0"/>
              <a:t>as</a:t>
            </a:r>
            <a:r>
              <a:rPr spc="50" dirty="0"/>
              <a:t> </a:t>
            </a:r>
            <a:r>
              <a:rPr dirty="0"/>
              <a:t>passenger</a:t>
            </a:r>
            <a:r>
              <a:rPr spc="40" dirty="0"/>
              <a:t> </a:t>
            </a:r>
            <a:r>
              <a:rPr dirty="0"/>
              <a:t>class,</a:t>
            </a:r>
            <a:r>
              <a:rPr spc="55" dirty="0"/>
              <a:t> </a:t>
            </a:r>
            <a:r>
              <a:rPr spc="-10" dirty="0"/>
              <a:t>gender, </a:t>
            </a:r>
            <a:r>
              <a:rPr dirty="0"/>
              <a:t>age,</a:t>
            </a:r>
            <a:r>
              <a:rPr spc="-45" dirty="0"/>
              <a:t> </a:t>
            </a:r>
            <a:r>
              <a:rPr dirty="0"/>
              <a:t>fare,</a:t>
            </a:r>
            <a:r>
              <a:rPr spc="-4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family</a:t>
            </a:r>
            <a:r>
              <a:rPr spc="-50" dirty="0"/>
              <a:t> </a:t>
            </a:r>
            <a:r>
              <a:rPr dirty="0"/>
              <a:t>size.</a:t>
            </a:r>
            <a:r>
              <a:rPr spc="-4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project</a:t>
            </a:r>
            <a:r>
              <a:rPr spc="-40" dirty="0"/>
              <a:t> </a:t>
            </a:r>
            <a:r>
              <a:rPr spc="-10" dirty="0"/>
              <a:t>involves</a:t>
            </a:r>
            <a:r>
              <a:rPr spc="-50" dirty="0"/>
              <a:t> </a:t>
            </a:r>
            <a:r>
              <a:rPr dirty="0"/>
              <a:t>systematic</a:t>
            </a:r>
            <a:r>
              <a:rPr spc="-50" dirty="0"/>
              <a:t> </a:t>
            </a: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preprocessing</a:t>
            </a:r>
            <a:r>
              <a:rPr dirty="0"/>
              <a:t>,</a:t>
            </a:r>
            <a:r>
              <a:rPr spc="-55" dirty="0"/>
              <a:t> </a:t>
            </a:r>
            <a:r>
              <a:rPr b="1" spc="-10" dirty="0">
                <a:latin typeface="Times New Roman"/>
                <a:cs typeface="Times New Roman"/>
              </a:rPr>
              <a:t>feature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engineering</a:t>
            </a:r>
            <a:r>
              <a:rPr dirty="0"/>
              <a:t>,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5" dirty="0"/>
              <a:t>use </a:t>
            </a:r>
            <a:r>
              <a:rPr dirty="0"/>
              <a:t>of multiple machine</a:t>
            </a:r>
            <a:r>
              <a:rPr spc="5" dirty="0"/>
              <a:t> </a:t>
            </a:r>
            <a:r>
              <a:rPr dirty="0"/>
              <a:t>learning</a:t>
            </a:r>
            <a:r>
              <a:rPr spc="5" dirty="0"/>
              <a:t> </a:t>
            </a:r>
            <a:r>
              <a:rPr dirty="0"/>
              <a:t>algorithms</a:t>
            </a:r>
            <a:r>
              <a:rPr spc="20" dirty="0"/>
              <a:t> </a:t>
            </a:r>
            <a:r>
              <a:rPr dirty="0"/>
              <a:t>—</a:t>
            </a:r>
            <a:r>
              <a:rPr spc="5" dirty="0"/>
              <a:t> </a:t>
            </a:r>
            <a:r>
              <a:rPr dirty="0"/>
              <a:t>namely</a:t>
            </a:r>
            <a:r>
              <a:rPr spc="10" dirty="0"/>
              <a:t> </a:t>
            </a:r>
            <a:r>
              <a:rPr b="1" dirty="0">
                <a:latin typeface="Times New Roman"/>
                <a:cs typeface="Times New Roman"/>
              </a:rPr>
              <a:t>Logistic Regression</a:t>
            </a:r>
            <a:r>
              <a:rPr dirty="0"/>
              <a:t>,</a:t>
            </a:r>
            <a:r>
              <a:rPr spc="5" dirty="0"/>
              <a:t> </a:t>
            </a:r>
            <a:r>
              <a:rPr b="1" dirty="0">
                <a:latin typeface="Times New Roman"/>
                <a:cs typeface="Times New Roman"/>
              </a:rPr>
              <a:t>Random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Forest</a:t>
            </a:r>
            <a:r>
              <a:rPr dirty="0"/>
              <a:t>,</a:t>
            </a:r>
            <a:r>
              <a:rPr spc="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b="1" dirty="0">
                <a:latin typeface="Times New Roman"/>
                <a:cs typeface="Times New Roman"/>
              </a:rPr>
              <a:t>XGBoost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dirty="0"/>
              <a:t>—</a:t>
            </a:r>
            <a:r>
              <a:rPr spc="5" dirty="0"/>
              <a:t> </a:t>
            </a:r>
            <a:r>
              <a:rPr spc="-25" dirty="0"/>
              <a:t>to </a:t>
            </a:r>
            <a:r>
              <a:rPr dirty="0"/>
              <a:t>develop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reliable</a:t>
            </a:r>
            <a:r>
              <a:rPr spc="-45" dirty="0"/>
              <a:t> </a:t>
            </a:r>
            <a:r>
              <a:rPr dirty="0"/>
              <a:t>classification</a:t>
            </a:r>
            <a:r>
              <a:rPr spc="-40" dirty="0"/>
              <a:t> </a:t>
            </a:r>
            <a:r>
              <a:rPr spc="-10" dirty="0"/>
              <a:t>model.</a:t>
            </a:r>
          </a:p>
          <a:p>
            <a:pPr marL="12700" marR="6985" algn="just">
              <a:lnSpc>
                <a:spcPct val="143700"/>
              </a:lnSpc>
              <a:spcBef>
                <a:spcPts val="5"/>
              </a:spcBef>
            </a:pPr>
            <a:r>
              <a:rPr dirty="0"/>
              <a:t>Feature</a:t>
            </a:r>
            <a:r>
              <a:rPr spc="-30" dirty="0"/>
              <a:t> </a:t>
            </a:r>
            <a:r>
              <a:rPr spc="-10" dirty="0"/>
              <a:t>engineering</a:t>
            </a:r>
            <a:r>
              <a:rPr spc="-30" dirty="0"/>
              <a:t> </a:t>
            </a:r>
            <a:r>
              <a:rPr dirty="0"/>
              <a:t>plays</a:t>
            </a:r>
            <a:r>
              <a:rPr spc="-3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key</a:t>
            </a:r>
            <a:r>
              <a:rPr spc="-30" dirty="0"/>
              <a:t> </a:t>
            </a:r>
            <a:r>
              <a:rPr dirty="0"/>
              <a:t>role</a:t>
            </a:r>
            <a:r>
              <a:rPr spc="-4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improving</a:t>
            </a:r>
            <a:r>
              <a:rPr spc="-3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spc="-10" dirty="0"/>
              <a:t>accuracy,</a:t>
            </a:r>
            <a:r>
              <a:rPr spc="-4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derived</a:t>
            </a:r>
            <a:r>
              <a:rPr spc="-40" dirty="0"/>
              <a:t> </a:t>
            </a:r>
            <a:r>
              <a:rPr spc="-10" dirty="0"/>
              <a:t>attributes</a:t>
            </a:r>
            <a:r>
              <a:rPr spc="-35" dirty="0"/>
              <a:t> </a:t>
            </a:r>
            <a:r>
              <a:rPr dirty="0"/>
              <a:t>such</a:t>
            </a:r>
            <a:r>
              <a:rPr spc="-3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spc="-10" dirty="0"/>
              <a:t>passenger</a:t>
            </a:r>
            <a:r>
              <a:rPr spc="-40" dirty="0"/>
              <a:t> </a:t>
            </a:r>
            <a:r>
              <a:rPr spc="-10" dirty="0"/>
              <a:t>title, </a:t>
            </a:r>
            <a:r>
              <a:rPr dirty="0"/>
              <a:t>family</a:t>
            </a:r>
            <a:r>
              <a:rPr spc="300" dirty="0"/>
              <a:t> </a:t>
            </a:r>
            <a:r>
              <a:rPr dirty="0"/>
              <a:t>size,</a:t>
            </a:r>
            <a:r>
              <a:rPr spc="305" dirty="0"/>
              <a:t> </a:t>
            </a:r>
            <a:r>
              <a:rPr dirty="0"/>
              <a:t>fare</a:t>
            </a:r>
            <a:r>
              <a:rPr spc="295" dirty="0"/>
              <a:t> </a:t>
            </a:r>
            <a:r>
              <a:rPr dirty="0"/>
              <a:t>per</a:t>
            </a:r>
            <a:r>
              <a:rPr spc="290" dirty="0"/>
              <a:t> </a:t>
            </a:r>
            <a:r>
              <a:rPr dirty="0"/>
              <a:t>person,</a:t>
            </a:r>
            <a:r>
              <a:rPr spc="300" dirty="0"/>
              <a:t> </a:t>
            </a:r>
            <a:r>
              <a:rPr dirty="0"/>
              <a:t>and</a:t>
            </a:r>
            <a:r>
              <a:rPr spc="305" dirty="0"/>
              <a:t> </a:t>
            </a:r>
            <a:r>
              <a:rPr spc="-10" dirty="0"/>
              <a:t>travel-</a:t>
            </a:r>
            <a:r>
              <a:rPr dirty="0"/>
              <a:t>alone</a:t>
            </a:r>
            <a:r>
              <a:rPr spc="315" dirty="0"/>
              <a:t> </a:t>
            </a:r>
            <a:r>
              <a:rPr dirty="0"/>
              <a:t>indicators</a:t>
            </a:r>
            <a:r>
              <a:rPr spc="300" dirty="0"/>
              <a:t> </a:t>
            </a:r>
            <a:r>
              <a:rPr dirty="0"/>
              <a:t>providing</a:t>
            </a:r>
            <a:r>
              <a:rPr spc="295" dirty="0"/>
              <a:t> </a:t>
            </a:r>
            <a:r>
              <a:rPr dirty="0"/>
              <a:t>deeper</a:t>
            </a:r>
            <a:r>
              <a:rPr spc="310" dirty="0"/>
              <a:t> </a:t>
            </a:r>
            <a:r>
              <a:rPr dirty="0"/>
              <a:t>insights</a:t>
            </a:r>
            <a:r>
              <a:rPr spc="300" dirty="0"/>
              <a:t> </a:t>
            </a:r>
            <a:r>
              <a:rPr dirty="0"/>
              <a:t>into</a:t>
            </a:r>
            <a:r>
              <a:rPr spc="295" dirty="0"/>
              <a:t> </a:t>
            </a:r>
            <a:r>
              <a:rPr dirty="0"/>
              <a:t>survival</a:t>
            </a:r>
            <a:r>
              <a:rPr spc="305" dirty="0"/>
              <a:t> </a:t>
            </a:r>
            <a:r>
              <a:rPr spc="-10" dirty="0"/>
              <a:t>patterns. Evaluation</a:t>
            </a:r>
            <a:r>
              <a:rPr spc="-40" dirty="0"/>
              <a:t> </a:t>
            </a:r>
            <a:r>
              <a:rPr spc="-10" dirty="0"/>
              <a:t>metrics</a:t>
            </a:r>
            <a:r>
              <a:rPr spc="-40" dirty="0"/>
              <a:t> </a:t>
            </a:r>
            <a:r>
              <a:rPr spc="-10" dirty="0"/>
              <a:t>like</a:t>
            </a:r>
            <a:r>
              <a:rPr spc="-25" dirty="0"/>
              <a:t> </a:t>
            </a:r>
            <a:r>
              <a:rPr b="1" spc="-10" dirty="0">
                <a:latin typeface="Times New Roman"/>
                <a:cs typeface="Times New Roman"/>
              </a:rPr>
              <a:t>accuracy</a:t>
            </a:r>
            <a:r>
              <a:rPr spc="-10" dirty="0"/>
              <a:t>,</a:t>
            </a:r>
            <a:r>
              <a:rPr spc="-25" dirty="0"/>
              <a:t> </a:t>
            </a:r>
            <a:r>
              <a:rPr b="1" spc="-10" dirty="0">
                <a:latin typeface="Times New Roman"/>
                <a:cs typeface="Times New Roman"/>
              </a:rPr>
              <a:t>confusion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matrix</a:t>
            </a:r>
            <a:r>
              <a:rPr spc="-10" dirty="0"/>
              <a:t>,</a:t>
            </a:r>
            <a:r>
              <a:rPr spc="-40" dirty="0"/>
              <a:t> </a:t>
            </a:r>
            <a:r>
              <a:rPr spc="-10" dirty="0"/>
              <a:t>and</a:t>
            </a:r>
            <a:r>
              <a:rPr spc="-45" dirty="0"/>
              <a:t> </a:t>
            </a:r>
            <a:r>
              <a:rPr b="1" spc="-10" dirty="0">
                <a:latin typeface="Times New Roman"/>
                <a:cs typeface="Times New Roman"/>
              </a:rPr>
              <a:t>ROC-AUC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score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spc="-20" dirty="0"/>
              <a:t>are</a:t>
            </a:r>
            <a:r>
              <a:rPr spc="-55" dirty="0"/>
              <a:t> </a:t>
            </a:r>
            <a:r>
              <a:rPr spc="-10" dirty="0"/>
              <a:t>used</a:t>
            </a:r>
            <a:r>
              <a:rPr spc="-4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assess</a:t>
            </a:r>
            <a:r>
              <a:rPr spc="-40" dirty="0"/>
              <a:t> </a:t>
            </a:r>
            <a:r>
              <a:rPr spc="-10" dirty="0"/>
              <a:t>performance,</a:t>
            </a:r>
            <a:r>
              <a:rPr spc="-25" dirty="0"/>
              <a:t> </a:t>
            </a:r>
            <a:r>
              <a:rPr spc="-10" dirty="0"/>
              <a:t>while </a:t>
            </a:r>
            <a:r>
              <a:rPr dirty="0"/>
              <a:t>visualizations</a:t>
            </a:r>
            <a:r>
              <a:rPr spc="95" dirty="0"/>
              <a:t> </a:t>
            </a:r>
            <a:r>
              <a:rPr dirty="0"/>
              <a:t>created</a:t>
            </a:r>
            <a:r>
              <a:rPr spc="90" dirty="0"/>
              <a:t> </a:t>
            </a:r>
            <a:r>
              <a:rPr dirty="0"/>
              <a:t>using</a:t>
            </a:r>
            <a:r>
              <a:rPr spc="105" dirty="0"/>
              <a:t> </a:t>
            </a:r>
            <a:r>
              <a:rPr b="1" dirty="0">
                <a:latin typeface="Times New Roman"/>
                <a:cs typeface="Times New Roman"/>
              </a:rPr>
              <a:t>Matplotlib</a:t>
            </a:r>
            <a:r>
              <a:rPr b="1" spc="105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b="1" dirty="0">
                <a:latin typeface="Times New Roman"/>
                <a:cs typeface="Times New Roman"/>
              </a:rPr>
              <a:t>Seaborn</a:t>
            </a:r>
            <a:r>
              <a:rPr b="1" spc="100" dirty="0">
                <a:latin typeface="Times New Roman"/>
                <a:cs typeface="Times New Roman"/>
              </a:rPr>
              <a:t> </a:t>
            </a:r>
            <a:r>
              <a:rPr dirty="0"/>
              <a:t>help</a:t>
            </a:r>
            <a:r>
              <a:rPr spc="95" dirty="0"/>
              <a:t> </a:t>
            </a:r>
            <a:r>
              <a:rPr dirty="0"/>
              <a:t>interpret</a:t>
            </a:r>
            <a:r>
              <a:rPr spc="95" dirty="0"/>
              <a:t> </a:t>
            </a:r>
            <a:r>
              <a:rPr dirty="0"/>
              <a:t>survival</a:t>
            </a:r>
            <a:r>
              <a:rPr spc="95" dirty="0"/>
              <a:t> </a:t>
            </a:r>
            <a:r>
              <a:rPr dirty="0"/>
              <a:t>trends.</a:t>
            </a:r>
            <a:r>
              <a:rPr spc="95" dirty="0"/>
              <a:t> </a:t>
            </a:r>
            <a:r>
              <a:rPr dirty="0"/>
              <a:t>The</a:t>
            </a:r>
            <a:r>
              <a:rPr spc="90" dirty="0"/>
              <a:t> </a:t>
            </a:r>
            <a:r>
              <a:rPr dirty="0"/>
              <a:t>outcome</a:t>
            </a:r>
            <a:r>
              <a:rPr spc="90" dirty="0"/>
              <a:t> </a:t>
            </a:r>
            <a:r>
              <a:rPr dirty="0"/>
              <a:t>is</a:t>
            </a:r>
            <a:r>
              <a:rPr spc="100" dirty="0"/>
              <a:t> </a:t>
            </a:r>
            <a:r>
              <a:rPr dirty="0"/>
              <a:t>a</a:t>
            </a:r>
            <a:r>
              <a:rPr spc="90" dirty="0"/>
              <a:t> </a:t>
            </a:r>
            <a:r>
              <a:rPr spc="-10" dirty="0"/>
              <a:t>robust, </a:t>
            </a:r>
            <a:r>
              <a:rPr dirty="0"/>
              <a:t>interpretable,</a:t>
            </a:r>
            <a:r>
              <a:rPr spc="130" dirty="0"/>
              <a:t> </a:t>
            </a:r>
            <a:r>
              <a:rPr dirty="0"/>
              <a:t>and</a:t>
            </a:r>
            <a:r>
              <a:rPr spc="125" dirty="0"/>
              <a:t> </a:t>
            </a:r>
            <a:r>
              <a:rPr dirty="0"/>
              <a:t>scalable</a:t>
            </a:r>
            <a:r>
              <a:rPr spc="120" dirty="0"/>
              <a:t> </a:t>
            </a:r>
            <a:r>
              <a:rPr dirty="0"/>
              <a:t>predictive</a:t>
            </a:r>
            <a:r>
              <a:rPr spc="135" dirty="0"/>
              <a:t> </a:t>
            </a:r>
            <a:r>
              <a:rPr dirty="0"/>
              <a:t>system</a:t>
            </a:r>
            <a:r>
              <a:rPr spc="125" dirty="0"/>
              <a:t> </a:t>
            </a:r>
            <a:r>
              <a:rPr dirty="0"/>
              <a:t>that</a:t>
            </a:r>
            <a:r>
              <a:rPr spc="130" dirty="0"/>
              <a:t> </a:t>
            </a:r>
            <a:r>
              <a:rPr dirty="0"/>
              <a:t>demonstrates</a:t>
            </a:r>
            <a:r>
              <a:rPr spc="125" dirty="0"/>
              <a:t> </a:t>
            </a:r>
            <a:r>
              <a:rPr dirty="0"/>
              <a:t>how</a:t>
            </a:r>
            <a:r>
              <a:rPr spc="135" dirty="0"/>
              <a:t> </a:t>
            </a:r>
            <a:r>
              <a:rPr dirty="0"/>
              <a:t>machine</a:t>
            </a:r>
            <a:r>
              <a:rPr spc="120" dirty="0"/>
              <a:t> </a:t>
            </a:r>
            <a:r>
              <a:rPr dirty="0"/>
              <a:t>learning</a:t>
            </a:r>
            <a:r>
              <a:rPr spc="130" dirty="0"/>
              <a:t> </a:t>
            </a:r>
            <a:r>
              <a:rPr dirty="0"/>
              <a:t>can</a:t>
            </a:r>
            <a:r>
              <a:rPr spc="135" dirty="0"/>
              <a:t> </a:t>
            </a:r>
            <a:r>
              <a:rPr dirty="0"/>
              <a:t>effectively</a:t>
            </a:r>
            <a:r>
              <a:rPr spc="125" dirty="0"/>
              <a:t> </a:t>
            </a:r>
            <a:r>
              <a:rPr spc="-10" dirty="0"/>
              <a:t>extract </a:t>
            </a:r>
            <a:r>
              <a:rPr dirty="0"/>
              <a:t>insights</a:t>
            </a:r>
            <a:r>
              <a:rPr spc="-20" dirty="0"/>
              <a:t> </a:t>
            </a:r>
            <a:r>
              <a:rPr dirty="0"/>
              <a:t>from</a:t>
            </a:r>
            <a:r>
              <a:rPr spc="-10" dirty="0"/>
              <a:t> real-</a:t>
            </a:r>
            <a:r>
              <a:rPr dirty="0"/>
              <a:t>world datasets</a:t>
            </a:r>
            <a:r>
              <a:rPr spc="-2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support</a:t>
            </a:r>
            <a:r>
              <a:rPr spc="-10" dirty="0"/>
              <a:t> data-</a:t>
            </a:r>
            <a:r>
              <a:rPr dirty="0"/>
              <a:t>driven</a:t>
            </a:r>
            <a:r>
              <a:rPr spc="-15" dirty="0"/>
              <a:t> </a:t>
            </a:r>
            <a:r>
              <a:rPr spc="-10" dirty="0"/>
              <a:t>decision-making.</a:t>
            </a: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pc="-10" dirty="0"/>
          </a:p>
          <a:p>
            <a:pPr marL="12700" marR="6985" algn="just">
              <a:lnSpc>
                <a:spcPct val="144300"/>
              </a:lnSpc>
            </a:pPr>
            <a:r>
              <a:rPr b="1" dirty="0">
                <a:latin typeface="Times New Roman"/>
                <a:cs typeface="Times New Roman"/>
              </a:rPr>
              <a:t>Keywords: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dirty="0"/>
              <a:t>Titanic Dataset,</a:t>
            </a:r>
            <a:r>
              <a:rPr spc="-5" dirty="0"/>
              <a:t> </a:t>
            </a:r>
            <a:r>
              <a:rPr dirty="0"/>
              <a:t>Machine</a:t>
            </a:r>
            <a:r>
              <a:rPr spc="-5" dirty="0"/>
              <a:t> </a:t>
            </a:r>
            <a:r>
              <a:rPr dirty="0"/>
              <a:t>Learning,</a:t>
            </a:r>
            <a:r>
              <a:rPr spc="5" dirty="0"/>
              <a:t> </a:t>
            </a:r>
            <a:r>
              <a:rPr dirty="0"/>
              <a:t>Classification,</a:t>
            </a:r>
            <a:r>
              <a:rPr spc="-10" dirty="0"/>
              <a:t> </a:t>
            </a:r>
            <a:r>
              <a:rPr dirty="0"/>
              <a:t>Feature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10" dirty="0"/>
              <a:t> </a:t>
            </a:r>
            <a:r>
              <a:rPr dirty="0"/>
              <a:t>XGBoost,</a:t>
            </a:r>
            <a:r>
              <a:rPr spc="-10" dirty="0"/>
              <a:t> </a:t>
            </a:r>
            <a:r>
              <a:rPr dirty="0"/>
              <a:t>Random</a:t>
            </a:r>
            <a:r>
              <a:rPr spc="-5" dirty="0"/>
              <a:t> </a:t>
            </a:r>
            <a:r>
              <a:rPr spc="-10" dirty="0"/>
              <a:t>Forest, </a:t>
            </a:r>
            <a:r>
              <a:rPr dirty="0"/>
              <a:t>Logistic</a:t>
            </a:r>
            <a:r>
              <a:rPr spc="-50" dirty="0"/>
              <a:t> </a:t>
            </a:r>
            <a:r>
              <a:rPr dirty="0"/>
              <a:t>Regression,</a:t>
            </a:r>
            <a:r>
              <a:rPr spc="-50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Preprocessing,</a:t>
            </a:r>
            <a:r>
              <a:rPr spc="-45" dirty="0"/>
              <a:t> </a:t>
            </a:r>
            <a:r>
              <a:rPr dirty="0"/>
              <a:t>Visualization,</a:t>
            </a:r>
            <a:r>
              <a:rPr spc="-50" dirty="0"/>
              <a:t> </a:t>
            </a:r>
            <a:r>
              <a:rPr dirty="0"/>
              <a:t>Predictive</a:t>
            </a:r>
            <a:r>
              <a:rPr spc="-50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F519933-7FCA-7649-1789-E0B429845D60}"/>
              </a:ext>
            </a:extLst>
          </p:cNvPr>
          <p:cNvSpPr txBox="1"/>
          <p:nvPr/>
        </p:nvSpPr>
        <p:spPr>
          <a:xfrm>
            <a:off x="2163899" y="444925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1156" y="541660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027" y="7171182"/>
            <a:ext cx="3336290" cy="196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latin typeface="Times New Roman"/>
                <a:cs typeface="Times New Roman"/>
              </a:rPr>
              <a:t>1.</a:t>
            </a:r>
            <a:endParaRPr sz="4800">
              <a:latin typeface="Times New Roman"/>
              <a:cs typeface="Times New Roman"/>
            </a:endParaRPr>
          </a:p>
          <a:p>
            <a:pPr marR="6985" algn="r">
              <a:lnSpc>
                <a:spcPct val="100000"/>
              </a:lnSpc>
              <a:spcBef>
                <a:spcPts val="3719"/>
              </a:spcBef>
            </a:pPr>
            <a:r>
              <a:rPr sz="4800" b="1" spc="-10" dirty="0">
                <a:latin typeface="Times New Roman"/>
                <a:cs typeface="Times New Roman"/>
              </a:rPr>
              <a:t>Introduction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9013431"/>
                </a:moveTo>
                <a:lnTo>
                  <a:pt x="133985" y="9013431"/>
                </a:lnTo>
                <a:lnTo>
                  <a:pt x="133985" y="9022563"/>
                </a:lnTo>
                <a:lnTo>
                  <a:pt x="7030085" y="9022563"/>
                </a:lnTo>
                <a:lnTo>
                  <a:pt x="7030085" y="9013431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438403"/>
            <a:ext cx="6424930" cy="3970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35"/>
              </a:spcBef>
            </a:pPr>
            <a:endParaRPr lang="en-US" sz="11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/>
                <a:cs typeface="Times New Roman"/>
              </a:rPr>
              <a:t>A.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Background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Problem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Statement</a:t>
            </a:r>
            <a:endParaRPr sz="1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5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sinking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RMS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1912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well-</a:t>
            </a:r>
            <a:r>
              <a:rPr sz="1200" dirty="0">
                <a:latin typeface="Times New Roman"/>
                <a:cs typeface="Times New Roman"/>
              </a:rPr>
              <a:t>documented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maritime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disasters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history.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2,200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crew,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1,500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lost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lives.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tragedy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various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ticket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chances.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 </a:t>
            </a:r>
            <a:r>
              <a:rPr sz="1200" dirty="0">
                <a:latin typeface="Times New Roman"/>
                <a:cs typeface="Times New Roman"/>
              </a:rPr>
              <a:t>excellent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opportunity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techniques.</a:t>
            </a:r>
            <a:endParaRPr sz="1200" dirty="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60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focuses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would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disaster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sex,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family </a:t>
            </a:r>
            <a:r>
              <a:rPr sz="1200" dirty="0">
                <a:latin typeface="Times New Roman"/>
                <a:cs typeface="Times New Roman"/>
              </a:rPr>
              <a:t>size,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nonlinear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these </a:t>
            </a:r>
            <a:r>
              <a:rPr sz="1200" dirty="0">
                <a:latin typeface="Times New Roman"/>
                <a:cs typeface="Times New Roman"/>
              </a:rPr>
              <a:t>variables.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supervised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hidden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probability.</a:t>
            </a: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pipeline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survival </a:t>
            </a:r>
            <a:r>
              <a:rPr sz="1200" dirty="0">
                <a:latin typeface="Times New Roman"/>
                <a:cs typeface="Times New Roman"/>
              </a:rPr>
              <a:t>outcomes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accuracy.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selection,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5011038"/>
            <a:ext cx="6424930" cy="359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825"/>
              </a:lnSpc>
            </a:pPr>
            <a:r>
              <a:rPr sz="1600" b="1" dirty="0">
                <a:latin typeface="Times New Roman"/>
                <a:cs typeface="Times New Roman"/>
              </a:rPr>
              <a:t>B.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Role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AI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Machine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Learning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Survival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Prediction</a:t>
            </a:r>
            <a:endParaRPr sz="1400" dirty="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600"/>
              </a:lnSpc>
              <a:spcBef>
                <a:spcPts val="1550"/>
              </a:spcBef>
            </a:pPr>
            <a:r>
              <a:rPr sz="1200" dirty="0">
                <a:latin typeface="Times New Roman"/>
                <a:cs typeface="Times New Roman"/>
              </a:rPr>
              <a:t>Artificial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Intelligence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(AI)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(ML)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vital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hidden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transform </a:t>
            </a:r>
            <a:r>
              <a:rPr sz="1200" dirty="0">
                <a:latin typeface="Times New Roman"/>
                <a:cs typeface="Times New Roman"/>
              </a:rPr>
              <a:t>raw,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incomplete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chances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based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travel-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attributes.</a:t>
            </a:r>
            <a:endParaRPr sz="1200" dirty="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Unlike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rule-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ML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automatically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data, </a:t>
            </a:r>
            <a:r>
              <a:rPr sz="1200" dirty="0">
                <a:latin typeface="Times New Roman"/>
                <a:cs typeface="Times New Roman"/>
              </a:rPr>
              <a:t>recognize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accuracy.</a:t>
            </a:r>
            <a:endParaRPr sz="1200" dirty="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435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particularly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efficiently.</a:t>
            </a: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cross-</a:t>
            </a:r>
            <a:r>
              <a:rPr sz="1200" dirty="0">
                <a:latin typeface="Times New Roman"/>
                <a:cs typeface="Times New Roman"/>
              </a:rPr>
              <a:t>validation,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AI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decision-making.</a:t>
            </a:r>
            <a:endParaRPr sz="1200" dirty="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influenced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also </a:t>
            </a:r>
            <a:r>
              <a:rPr sz="1200" spc="-10" dirty="0">
                <a:latin typeface="Times New Roman"/>
                <a:cs typeface="Times New Roman"/>
              </a:rPr>
              <a:t>demonstrates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8926220"/>
                </a:moveTo>
                <a:lnTo>
                  <a:pt x="133350" y="8926220"/>
                </a:lnTo>
                <a:lnTo>
                  <a:pt x="133350" y="8935352"/>
                </a:lnTo>
                <a:lnTo>
                  <a:pt x="7029450" y="8935352"/>
                </a:lnTo>
                <a:lnTo>
                  <a:pt x="7029450" y="8926220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DCBCCD4-31D1-4572-3A08-BC1048690145}"/>
              </a:ext>
            </a:extLst>
          </p:cNvPr>
          <p:cNvSpPr txBox="1"/>
          <p:nvPr/>
        </p:nvSpPr>
        <p:spPr>
          <a:xfrm>
            <a:off x="2239010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1" y="438403"/>
            <a:ext cx="6489700" cy="858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n-US" sz="11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r>
              <a:rPr lang="en-IN" sz="1100" dirty="0">
                <a:latin typeface="Times New Roman"/>
                <a:cs typeface="Times New Roman"/>
              </a:rPr>
              <a:t> </a:t>
            </a:r>
            <a:endParaRPr sz="1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C.</a:t>
            </a:r>
            <a:r>
              <a:rPr sz="1600" b="1" spc="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Human-Centered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Interface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and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Usability</a:t>
            </a:r>
            <a:endParaRPr sz="1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57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human-</a:t>
            </a:r>
            <a:r>
              <a:rPr sz="1200" dirty="0">
                <a:latin typeface="Times New Roman"/>
                <a:cs typeface="Times New Roman"/>
              </a:rPr>
              <a:t>centered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10" dirty="0">
                <a:latin typeface="Times New Roman"/>
                <a:cs typeface="Times New Roman"/>
              </a:rPr>
              <a:t> approach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intuitive,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interactive,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use </a:t>
            </a:r>
            <a:r>
              <a:rPr sz="1200" dirty="0">
                <a:latin typeface="Times New Roman"/>
                <a:cs typeface="Times New Roman"/>
              </a:rPr>
              <a:t>for both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non-technical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interpretation.</a:t>
            </a:r>
            <a:endParaRPr sz="12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41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Visualizations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histograms,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heatmaps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survival </a:t>
            </a:r>
            <a:r>
              <a:rPr sz="1200" dirty="0">
                <a:latin typeface="Times New Roman"/>
                <a:cs typeface="Times New Roman"/>
              </a:rPr>
              <a:t>rate.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comprehend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impact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outcomes. </a:t>
            </a:r>
            <a:r>
              <a:rPr sz="1200" dirty="0">
                <a:latin typeface="Times New Roman"/>
                <a:cs typeface="Times New Roman"/>
              </a:rPr>
              <a:t>Additionally,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minimizes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 </a:t>
            </a:r>
            <a:r>
              <a:rPr sz="1200" dirty="0">
                <a:latin typeface="Times New Roman"/>
                <a:cs typeface="Times New Roman"/>
              </a:rPr>
              <a:t>intervention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smooth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 </a:t>
            </a:r>
            <a:r>
              <a:rPr sz="1200" dirty="0">
                <a:latin typeface="Times New Roman"/>
                <a:cs typeface="Times New Roman"/>
              </a:rPr>
              <a:t>interpretation.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usability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outcomes.</a:t>
            </a:r>
            <a:endParaRPr sz="1200" dirty="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3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Overall,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emphasizes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user-friendly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enabling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accessible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insights.</a:t>
            </a: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3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D.</a:t>
            </a:r>
            <a:r>
              <a:rPr sz="1600" b="1" spc="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Contribution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Innovations</a:t>
            </a:r>
            <a:endParaRPr sz="1400" dirty="0">
              <a:latin typeface="Times New Roman"/>
              <a:cs typeface="Times New Roman"/>
            </a:endParaRPr>
          </a:p>
          <a:p>
            <a:pPr marL="12700" marR="236220" algn="just">
              <a:lnSpc>
                <a:spcPct val="143600"/>
              </a:lnSpc>
              <a:spcBef>
                <a:spcPts val="135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introduces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predicting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Titanic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clarity.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contribution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lies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systematic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preprocessing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evaluation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interpretability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throughout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workflow.</a:t>
            </a:r>
            <a:endParaRPr sz="1200" dirty="0">
              <a:latin typeface="Times New Roman"/>
              <a:cs typeface="Times New Roman"/>
            </a:endParaRPr>
          </a:p>
          <a:p>
            <a:pPr marL="12700" marR="234315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important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innovation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meaningful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passenger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titles,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family </a:t>
            </a:r>
            <a:r>
              <a:rPr sz="1200" b="1" dirty="0">
                <a:latin typeface="Times New Roman"/>
                <a:cs typeface="Times New Roman"/>
              </a:rPr>
              <a:t>size,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travel-</a:t>
            </a:r>
            <a:r>
              <a:rPr sz="1200" b="1" dirty="0">
                <a:latin typeface="Times New Roman"/>
                <a:cs typeface="Times New Roman"/>
              </a:rPr>
              <a:t>alone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indicators,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deck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identification,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fare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person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attributes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captured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hidden </a:t>
            </a:r>
            <a:r>
              <a:rPr sz="1200" dirty="0">
                <a:latin typeface="Times New Roman"/>
                <a:cs typeface="Times New Roman"/>
              </a:rPr>
              <a:t>social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chances.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implemented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Logistic</a:t>
            </a:r>
            <a:r>
              <a:rPr sz="1200" b="1" spc="1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Regression,</a:t>
            </a:r>
            <a:r>
              <a:rPr sz="1200" b="1" spc="19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Random</a:t>
            </a:r>
            <a:endParaRPr sz="1200" dirty="0">
              <a:latin typeface="Times New Roman"/>
              <a:cs typeface="Times New Roman"/>
            </a:endParaRPr>
          </a:p>
          <a:p>
            <a:pPr marL="12700" marR="238760" algn="just">
              <a:lnSpc>
                <a:spcPct val="143300"/>
              </a:lnSpc>
              <a:spcBef>
                <a:spcPts val="15"/>
              </a:spcBef>
            </a:pPr>
            <a:r>
              <a:rPr sz="1200" b="1" dirty="0">
                <a:latin typeface="Times New Roman"/>
                <a:cs typeface="Times New Roman"/>
              </a:rPr>
              <a:t>Forest,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XGBoost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comparison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ROC-</a:t>
            </a:r>
            <a:r>
              <a:rPr sz="1200" dirty="0">
                <a:latin typeface="Times New Roman"/>
                <a:cs typeface="Times New Roman"/>
              </a:rPr>
              <a:t>AUC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matrix.</a:t>
            </a:r>
            <a:endParaRPr sz="1200" dirty="0">
              <a:latin typeface="Times New Roman"/>
              <a:cs typeface="Times New Roman"/>
            </a:endParaRPr>
          </a:p>
          <a:p>
            <a:pPr marL="12700" marR="237490" algn="just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Furthermore,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inclusion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visualization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strengthened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interpretability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illustrating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groups.</a:t>
            </a:r>
            <a:endParaRPr sz="1200" dirty="0">
              <a:latin typeface="Times New Roman"/>
              <a:cs typeface="Times New Roman"/>
            </a:endParaRPr>
          </a:p>
          <a:p>
            <a:pPr marL="12700" marR="23749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Overall,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thoughtful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advanced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ensemble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combined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robust,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high-performing,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interpretable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 system.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9110345"/>
                </a:moveTo>
                <a:lnTo>
                  <a:pt x="133985" y="9110345"/>
                </a:lnTo>
                <a:lnTo>
                  <a:pt x="133985" y="9119476"/>
                </a:lnTo>
                <a:lnTo>
                  <a:pt x="7030085" y="9119476"/>
                </a:lnTo>
                <a:lnTo>
                  <a:pt x="7030085" y="9110345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DC6D5C4-159F-07A7-0C59-ACA8DE5A2D88}"/>
              </a:ext>
            </a:extLst>
          </p:cNvPr>
          <p:cNvSpPr txBox="1"/>
          <p:nvPr/>
        </p:nvSpPr>
        <p:spPr>
          <a:xfrm>
            <a:off x="2436495" y="427517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48353" y="6691172"/>
            <a:ext cx="2760345" cy="2329815"/>
          </a:xfrm>
          <a:prstGeom prst="rect">
            <a:avLst/>
          </a:prstGeom>
        </p:spPr>
        <p:txBody>
          <a:bodyPr vert="horz" wrap="square" lIns="0" tIns="4330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410"/>
              </a:spcBef>
            </a:pPr>
            <a:r>
              <a:rPr sz="4800" b="1" spc="-25" dirty="0">
                <a:latin typeface="Times New Roman"/>
                <a:cs typeface="Times New Roman"/>
              </a:rPr>
              <a:t>2.</a:t>
            </a:r>
            <a:endParaRPr sz="4800">
              <a:latin typeface="Times New Roman"/>
              <a:cs typeface="Times New Roman"/>
            </a:endParaRPr>
          </a:p>
          <a:p>
            <a:pPr marR="8255" algn="r">
              <a:lnSpc>
                <a:spcPct val="100000"/>
              </a:lnSpc>
              <a:spcBef>
                <a:spcPts val="3310"/>
              </a:spcBef>
            </a:pPr>
            <a:r>
              <a:rPr sz="4800" b="1" spc="-10" dirty="0">
                <a:latin typeface="Times New Roman"/>
                <a:cs typeface="Times New Roman"/>
              </a:rPr>
              <a:t>Objectives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883320"/>
                </a:moveTo>
                <a:lnTo>
                  <a:pt x="133985" y="8883320"/>
                </a:lnTo>
                <a:lnTo>
                  <a:pt x="133985" y="8892451"/>
                </a:lnTo>
                <a:lnTo>
                  <a:pt x="7030085" y="8892451"/>
                </a:lnTo>
                <a:lnTo>
                  <a:pt x="7030085" y="8883320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EC94ABD-D408-40A6-4868-DDE2A1663A93}"/>
              </a:ext>
            </a:extLst>
          </p:cNvPr>
          <p:cNvSpPr txBox="1"/>
          <p:nvPr/>
        </p:nvSpPr>
        <p:spPr>
          <a:xfrm>
            <a:off x="2116727" y="444925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5" y="438403"/>
            <a:ext cx="6260796" cy="51155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62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endParaRPr lang="en-US" sz="1600" b="1" spc="-4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endParaRPr lang="en-IN" sz="1600" b="1" spc="-4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600" b="1" spc="-40" dirty="0">
                <a:latin typeface="Times New Roman"/>
                <a:cs typeface="Times New Roman"/>
              </a:rPr>
              <a:t>A.</a:t>
            </a:r>
            <a:r>
              <a:rPr sz="1600" b="1" spc="-114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Functional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objective</a:t>
            </a:r>
            <a:endParaRPr sz="14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1320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Predict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Passenger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Survival:</a:t>
            </a:r>
            <a:endParaRPr sz="1200" dirty="0">
              <a:latin typeface="Times New Roman"/>
              <a:cs typeface="Times New Roman"/>
            </a:endParaRPr>
          </a:p>
          <a:p>
            <a:pPr marL="469265" marR="113030" algn="just">
              <a:lnSpc>
                <a:spcPct val="1433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Develop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whether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passenger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survived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Titanic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disaster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relevant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travel-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Perform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Engineering:</a:t>
            </a:r>
            <a:endParaRPr sz="1200" dirty="0">
              <a:latin typeface="Times New Roman"/>
              <a:cs typeface="Times New Roman"/>
            </a:endParaRPr>
          </a:p>
          <a:p>
            <a:pPr marL="469265" marR="8255" algn="just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interpretability.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730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Visualize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Patterns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Relationships:</a:t>
            </a:r>
            <a:endParaRPr sz="1200" dirty="0">
              <a:latin typeface="Times New Roman"/>
              <a:cs typeface="Times New Roman"/>
            </a:endParaRPr>
          </a:p>
          <a:p>
            <a:pPr marL="469265" marR="8890" algn="just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 </a:t>
            </a:r>
            <a:r>
              <a:rPr sz="1200" spc="-10" dirty="0">
                <a:latin typeface="Times New Roman"/>
                <a:cs typeface="Times New Roman"/>
              </a:rPr>
              <a:t>variables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embarked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port.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Ensure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Usability:</a:t>
            </a:r>
            <a:endParaRPr sz="1200" dirty="0">
              <a:latin typeface="Times New Roman"/>
              <a:cs typeface="Times New Roman"/>
            </a:endParaRPr>
          </a:p>
          <a:p>
            <a:pPr marL="469265" marR="5080" algn="just">
              <a:lnSpc>
                <a:spcPct val="143300"/>
              </a:lnSpc>
            </a:pPr>
            <a:r>
              <a:rPr sz="1200" spc="-10" dirty="0">
                <a:latin typeface="Times New Roman"/>
                <a:cs typeface="Times New Roman"/>
              </a:rPr>
              <a:t>Implement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understanding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researchers.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Compare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Multiple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Algorithms:</a:t>
            </a:r>
            <a:endParaRPr sz="1200" dirty="0">
              <a:latin typeface="Times New Roman"/>
              <a:cs typeface="Times New Roman"/>
            </a:endParaRPr>
          </a:p>
          <a:p>
            <a:pPr marL="469265" marR="5080" algn="just">
              <a:lnSpc>
                <a:spcPts val="2080"/>
              </a:lnSpc>
              <a:spcBef>
                <a:spcPts val="80"/>
              </a:spcBef>
            </a:pP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(Random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Logistic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854364"/>
                </a:moveTo>
                <a:lnTo>
                  <a:pt x="133985" y="8854364"/>
                </a:lnTo>
                <a:lnTo>
                  <a:pt x="133985" y="8863495"/>
                </a:lnTo>
                <a:lnTo>
                  <a:pt x="7030085" y="8863495"/>
                </a:lnTo>
                <a:lnTo>
                  <a:pt x="7030085" y="8854364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CF185D3-62F3-E6A5-743E-1DD4EC07CBB0}"/>
              </a:ext>
            </a:extLst>
          </p:cNvPr>
          <p:cNvSpPr txBox="1"/>
          <p:nvPr/>
        </p:nvSpPr>
        <p:spPr>
          <a:xfrm>
            <a:off x="2303615" y="444925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782" y="609600"/>
            <a:ext cx="6426835" cy="50123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R="4732655" algn="r">
              <a:lnSpc>
                <a:spcPct val="100000"/>
              </a:lnSpc>
              <a:spcBef>
                <a:spcPts val="5"/>
              </a:spcBef>
            </a:pPr>
            <a:endParaRPr lang="en-US" sz="1600" b="1" dirty="0">
              <a:latin typeface="Times New Roman"/>
              <a:cs typeface="Times New Roman"/>
            </a:endParaRPr>
          </a:p>
          <a:p>
            <a:pPr marR="4732655" algn="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/>
                <a:cs typeface="Times New Roman"/>
              </a:rPr>
              <a:t>B.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Technical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objective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27965" marR="4684395" indent="-227965" algn="r">
              <a:lnSpc>
                <a:spcPct val="100000"/>
              </a:lnSpc>
              <a:buSzPct val="116666"/>
              <a:buFont typeface="Symbol"/>
              <a:buChar char=""/>
              <a:tabLst>
                <a:tab pos="227965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Preprocessing</a:t>
            </a:r>
            <a:endParaRPr sz="1200" dirty="0">
              <a:latin typeface="Times New Roman"/>
              <a:cs typeface="Times New Roman"/>
            </a:endParaRPr>
          </a:p>
          <a:p>
            <a:pPr marL="469265" marR="762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values, outliers, 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imputation techniques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such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replacement.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Encoding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Scaling</a:t>
            </a:r>
            <a:endParaRPr sz="1200" dirty="0">
              <a:latin typeface="Times New Roman"/>
              <a:cs typeface="Times New Roman"/>
            </a:endParaRPr>
          </a:p>
          <a:p>
            <a:pPr marL="469265" marR="762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appropriate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convergence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735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Building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Training</a:t>
            </a:r>
            <a:endParaRPr sz="1200" dirty="0">
              <a:latin typeface="Times New Roman"/>
              <a:cs typeface="Times New Roman"/>
            </a:endParaRPr>
          </a:p>
          <a:p>
            <a:pPr marL="469265" marR="9525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Evaluation</a:t>
            </a:r>
            <a:endParaRPr sz="1200" dirty="0">
              <a:latin typeface="Times New Roman"/>
              <a:cs typeface="Times New Roman"/>
            </a:endParaRPr>
          </a:p>
          <a:p>
            <a:pPr marL="469265" marR="508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metrics such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matrix,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ROC-AUC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compare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efficiency.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730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Pipeline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Integration</a:t>
            </a:r>
            <a:endParaRPr sz="1200" dirty="0">
              <a:latin typeface="Times New Roman"/>
              <a:cs typeface="Times New Roman"/>
            </a:endParaRPr>
          </a:p>
          <a:p>
            <a:pPr marL="469265" marR="5080">
              <a:lnSpc>
                <a:spcPct val="1435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Implement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 </a:t>
            </a:r>
            <a:r>
              <a:rPr sz="1200" spc="-10" dirty="0">
                <a:latin typeface="Times New Roman"/>
                <a:cs typeface="Times New Roman"/>
              </a:rPr>
              <a:t>end-to-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 combining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 feature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selection,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fitting,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reusability.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930602"/>
                </a:moveTo>
                <a:lnTo>
                  <a:pt x="133985" y="8930602"/>
                </a:lnTo>
                <a:lnTo>
                  <a:pt x="133985" y="8939733"/>
                </a:lnTo>
                <a:lnTo>
                  <a:pt x="7030085" y="8939733"/>
                </a:lnTo>
                <a:lnTo>
                  <a:pt x="7030085" y="8930602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043E669-1370-177E-1B84-8984C0404431}"/>
              </a:ext>
            </a:extLst>
          </p:cNvPr>
          <p:cNvSpPr txBox="1"/>
          <p:nvPr/>
        </p:nvSpPr>
        <p:spPr>
          <a:xfrm>
            <a:off x="2157411" y="423870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11192" y="7003542"/>
            <a:ext cx="2897505" cy="196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latin typeface="Times New Roman"/>
                <a:cs typeface="Times New Roman"/>
              </a:rPr>
              <a:t>3.</a:t>
            </a:r>
            <a:endParaRPr sz="4800">
              <a:latin typeface="Times New Roman"/>
              <a:cs typeface="Times New Roman"/>
            </a:endParaRPr>
          </a:p>
          <a:p>
            <a:pPr marR="10160" algn="r">
              <a:lnSpc>
                <a:spcPct val="100000"/>
              </a:lnSpc>
              <a:spcBef>
                <a:spcPts val="3719"/>
              </a:spcBef>
            </a:pPr>
            <a:r>
              <a:rPr sz="4800" b="1" spc="-10" dirty="0">
                <a:latin typeface="Times New Roman"/>
                <a:cs typeface="Times New Roman"/>
              </a:rPr>
              <a:t>Motivation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42785" y="8899754"/>
                </a:moveTo>
                <a:lnTo>
                  <a:pt x="146685" y="8899754"/>
                </a:lnTo>
                <a:lnTo>
                  <a:pt x="146685" y="8908885"/>
                </a:lnTo>
                <a:lnTo>
                  <a:pt x="7042785" y="8908885"/>
                </a:lnTo>
                <a:lnTo>
                  <a:pt x="7042785" y="8899754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D6A66AA-154F-9591-6C95-35DC7069DBC8}"/>
              </a:ext>
            </a:extLst>
          </p:cNvPr>
          <p:cNvSpPr txBox="1"/>
          <p:nvPr/>
        </p:nvSpPr>
        <p:spPr>
          <a:xfrm>
            <a:off x="2057400" y="444925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3100" y="1314958"/>
            <a:ext cx="6423660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algn="just">
              <a:lnSpc>
                <a:spcPct val="143700"/>
              </a:lnSpc>
              <a:spcBef>
                <a:spcPts val="1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iconic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widely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excellent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impact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motivation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behind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arises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socio-</a:t>
            </a:r>
            <a:r>
              <a:rPr sz="1200" dirty="0">
                <a:latin typeface="Times New Roman"/>
                <a:cs typeface="Times New Roman"/>
              </a:rPr>
              <a:t>economic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demographic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disaster.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only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effectively.</a:t>
            </a:r>
            <a:endParaRPr sz="1200" dirty="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situations,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incomplete,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unbalanced,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Titanic dataset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reflects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challenges,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making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applying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data-cleaning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strategies,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imputations,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accuracy.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Moreover,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supervised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algorithms,</a:t>
            </a: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demonstrating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artificial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intelligence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conclusions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engaging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hands-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building,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artificial </a:t>
            </a:r>
            <a:r>
              <a:rPr sz="1200" dirty="0">
                <a:latin typeface="Times New Roman"/>
                <a:cs typeface="Times New Roman"/>
              </a:rPr>
              <a:t>intelligence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domains.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thus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bridge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theoretical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practical implementation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10" dirty="0">
                <a:latin typeface="Times New Roman"/>
                <a:cs typeface="Times New Roman"/>
              </a:rPr>
              <a:t> analytics.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8842654"/>
                </a:moveTo>
                <a:lnTo>
                  <a:pt x="133350" y="8842654"/>
                </a:lnTo>
                <a:lnTo>
                  <a:pt x="133350" y="8851786"/>
                </a:lnTo>
                <a:lnTo>
                  <a:pt x="7029450" y="8851786"/>
                </a:lnTo>
                <a:lnTo>
                  <a:pt x="7029450" y="8842654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17BEAC0-DC84-F1EB-934A-2064F8D63459}"/>
              </a:ext>
            </a:extLst>
          </p:cNvPr>
          <p:cNvSpPr txBox="1"/>
          <p:nvPr/>
        </p:nvSpPr>
        <p:spPr>
          <a:xfrm>
            <a:off x="2156142" y="444925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45534" y="6218301"/>
            <a:ext cx="3462654" cy="231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latin typeface="Times New Roman"/>
                <a:cs typeface="Times New Roman"/>
              </a:rPr>
              <a:t>4.</a:t>
            </a:r>
            <a:endParaRPr sz="4800">
              <a:latin typeface="Times New Roman"/>
              <a:cs typeface="Times New Roman"/>
            </a:endParaRPr>
          </a:p>
          <a:p>
            <a:pPr marL="12700" marR="36195">
              <a:lnSpc>
                <a:spcPts val="4140"/>
              </a:lnSpc>
              <a:spcBef>
                <a:spcPts val="4110"/>
              </a:spcBef>
            </a:pPr>
            <a:r>
              <a:rPr sz="3600" b="1" dirty="0">
                <a:latin typeface="Times New Roman"/>
                <a:cs typeface="Times New Roman"/>
              </a:rPr>
              <a:t>Scope</a:t>
            </a:r>
            <a:r>
              <a:rPr sz="3600" b="1" spc="-10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b="1" spc="-9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Design Rationale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779129"/>
                </a:moveTo>
                <a:lnTo>
                  <a:pt x="133985" y="8779129"/>
                </a:lnTo>
                <a:lnTo>
                  <a:pt x="133985" y="8788260"/>
                </a:lnTo>
                <a:lnTo>
                  <a:pt x="7030085" y="8788260"/>
                </a:lnTo>
                <a:lnTo>
                  <a:pt x="7030085" y="8779129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F601040-B136-F5EF-D29C-F92ADB4FB7D7}"/>
              </a:ext>
            </a:extLst>
          </p:cNvPr>
          <p:cNvSpPr txBox="1"/>
          <p:nvPr/>
        </p:nvSpPr>
        <p:spPr>
          <a:xfrm>
            <a:off x="2286000" y="438402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830" y="455811"/>
            <a:ext cx="6428740" cy="7366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lang="en-US"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A.</a:t>
            </a:r>
            <a:r>
              <a:rPr sz="1400" b="1" spc="25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Scope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System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116666"/>
              <a:buFont typeface="Wingdings"/>
              <a:buChar char="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Titanic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Survival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Prediction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Learning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likelihood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travel-related</a:t>
            </a:r>
            <a:endParaRPr sz="1200" dirty="0">
              <a:latin typeface="Times New Roman"/>
              <a:cs typeface="Times New Roman"/>
            </a:endParaRPr>
          </a:p>
          <a:p>
            <a:pPr marL="241300" marR="6350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attributes.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SzPct val="116666"/>
              <a:buFont typeface="Wingdings"/>
              <a:buChar char="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Kaggle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Titanic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Dataset</a:t>
            </a:r>
            <a:endParaRPr sz="1200" dirty="0">
              <a:latin typeface="Times New Roman"/>
              <a:cs typeface="Times New Roman"/>
            </a:endParaRPr>
          </a:p>
          <a:p>
            <a:pPr marL="241300" marR="1143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utilizes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Kaggle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age,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ticket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cabin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foundation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evaluation.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SzPct val="116666"/>
              <a:buFont typeface="Wingdings"/>
              <a:buChar char="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Improved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Accuracy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extraction,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travel-</a:t>
            </a:r>
            <a:endParaRPr sz="1200" dirty="0">
              <a:latin typeface="Times New Roman"/>
              <a:cs typeface="Times New Roman"/>
            </a:endParaRPr>
          </a:p>
          <a:p>
            <a:pPr marL="241300" marR="9525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alone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indicator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hidden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survival outcomes.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SzPct val="116666"/>
              <a:buFont typeface="Wingdings"/>
              <a:buChar char="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Implementation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Multiple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Models</a:t>
            </a:r>
            <a:endParaRPr sz="1200" dirty="0">
              <a:latin typeface="Times New Roman"/>
              <a:cs typeface="Times New Roman"/>
            </a:endParaRPr>
          </a:p>
          <a:p>
            <a:pPr marL="241300" marR="8890">
              <a:lnSpc>
                <a:spcPct val="1433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employs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classification.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metrics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matrix,</a:t>
            </a:r>
            <a:r>
              <a:rPr sz="1200" spc="-25" dirty="0">
                <a:latin typeface="Times New Roman"/>
                <a:cs typeface="Times New Roman"/>
              </a:rPr>
              <a:t> and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ROC-</a:t>
            </a:r>
            <a:r>
              <a:rPr sz="1200" dirty="0">
                <a:latin typeface="Times New Roman"/>
                <a:cs typeface="Times New Roman"/>
              </a:rPr>
              <a:t>AUC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SzPct val="116666"/>
              <a:buFont typeface="Wingdings"/>
              <a:buChar char="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Visualization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Better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Interpretability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Graphical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across</a:t>
            </a:r>
            <a:endParaRPr sz="1200" dirty="0">
              <a:latin typeface="Times New Roman"/>
              <a:cs typeface="Times New Roman"/>
            </a:endParaRPr>
          </a:p>
          <a:p>
            <a:pPr marL="241300" marR="762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groups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age.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outcomes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SzPct val="116666"/>
              <a:buFont typeface="Wingdings"/>
              <a:buChar char="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Modular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Scalable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Design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project’s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modular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integration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</a:t>
            </a:r>
            <a:endParaRPr sz="1200" dirty="0">
              <a:latin typeface="Times New Roman"/>
              <a:cs typeface="Times New Roman"/>
            </a:endParaRPr>
          </a:p>
          <a:p>
            <a:pPr marL="241300" marR="8890">
              <a:lnSpc>
                <a:spcPts val="2080"/>
              </a:lnSpc>
              <a:spcBef>
                <a:spcPts val="80"/>
              </a:spcBef>
            </a:pP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scalability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adaptability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cases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disaster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classification-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994229"/>
                </a:moveTo>
                <a:lnTo>
                  <a:pt x="133985" y="8994229"/>
                </a:lnTo>
                <a:lnTo>
                  <a:pt x="133985" y="9003360"/>
                </a:lnTo>
                <a:lnTo>
                  <a:pt x="7030085" y="9003360"/>
                </a:lnTo>
                <a:lnTo>
                  <a:pt x="7030085" y="8994229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279E8C3-7D1C-8B85-CEE0-CC78B01226CB}"/>
              </a:ext>
            </a:extLst>
          </p:cNvPr>
          <p:cNvSpPr txBox="1"/>
          <p:nvPr/>
        </p:nvSpPr>
        <p:spPr>
          <a:xfrm>
            <a:off x="2157412" y="364760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304" y="609600"/>
            <a:ext cx="6656705" cy="71666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lang="en-US" sz="1100" b="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B.</a:t>
            </a:r>
            <a:r>
              <a:rPr sz="1400" b="1" spc="229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Design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Rationale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SzPct val="116666"/>
              <a:buFont typeface="Wingdings"/>
              <a:buChar char="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Structured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Pipeline</a:t>
            </a:r>
            <a:endParaRPr sz="1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end-</a:t>
            </a:r>
            <a:r>
              <a:rPr sz="1200" spc="-10" dirty="0">
                <a:latin typeface="Times New Roman"/>
                <a:cs typeface="Times New Roman"/>
              </a:rPr>
              <a:t>to-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</a:t>
            </a:r>
            <a:endParaRPr sz="1200" dirty="0">
              <a:latin typeface="Times New Roman"/>
              <a:cs typeface="Times New Roman"/>
            </a:endParaRPr>
          </a:p>
          <a:p>
            <a:pPr marL="469900" marR="6985">
              <a:lnSpc>
                <a:spcPct val="1433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engineering,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evaluation.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ensures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consistency,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reproducibility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results.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780"/>
              </a:spcBef>
              <a:buSzPct val="116666"/>
              <a:buFont typeface="Wingdings"/>
              <a:buChar char="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Handling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Complex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Mixed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Data</a:t>
            </a:r>
            <a:endParaRPr sz="1200" dirty="0">
              <a:latin typeface="Times New Roman"/>
              <a:cs typeface="Times New Roman"/>
            </a:endParaRPr>
          </a:p>
          <a:p>
            <a:pPr marL="469900" marR="9525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variables.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incorporates appropriate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scaling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numerical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uniformity</a:t>
            </a:r>
            <a:endParaRPr sz="1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765"/>
              </a:spcBef>
              <a:buSzPct val="116666"/>
              <a:buFont typeface="Wingdings"/>
              <a:buChar char="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Realistic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Insights</a:t>
            </a:r>
            <a:endParaRPr sz="1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travel-</a:t>
            </a:r>
            <a:r>
              <a:rPr sz="1200" dirty="0">
                <a:latin typeface="Times New Roman"/>
                <a:cs typeface="Times New Roman"/>
              </a:rPr>
              <a:t>alone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were</a:t>
            </a:r>
            <a:endParaRPr sz="1200" dirty="0">
              <a:latin typeface="Times New Roman"/>
              <a:cs typeface="Times New Roman"/>
            </a:endParaRPr>
          </a:p>
          <a:p>
            <a:pPr marL="469900" marR="9525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introduced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social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help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realistic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behaviors.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780"/>
              </a:spcBef>
              <a:buSzPct val="116666"/>
              <a:buFont typeface="Wingdings"/>
              <a:buChar char="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Selection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-10" dirty="0">
                <a:latin typeface="Times New Roman"/>
                <a:cs typeface="Times New Roman"/>
              </a:rPr>
              <a:t> Interpretability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Accuracy</a:t>
            </a:r>
            <a:endParaRPr sz="1200" dirty="0">
              <a:latin typeface="Times New Roman"/>
              <a:cs typeface="Times New Roman"/>
            </a:endParaRPr>
          </a:p>
          <a:p>
            <a:pPr marL="469900" marR="508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chosen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their </a:t>
            </a:r>
            <a:r>
              <a:rPr sz="1200" dirty="0">
                <a:latin typeface="Times New Roman"/>
                <a:cs typeface="Times New Roman"/>
              </a:rPr>
              <a:t>balance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interpretability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power.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Ensemble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nonlinear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770"/>
              </a:spcBef>
              <a:buSzPct val="116666"/>
              <a:buFont typeface="Wingdings"/>
              <a:buChar char="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Visualization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Analytical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Clarity</a:t>
            </a:r>
            <a:endParaRPr sz="12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 dirty="0">
              <a:latin typeface="Times New Roman"/>
              <a:cs typeface="Times New Roman"/>
            </a:endParaRPr>
          </a:p>
          <a:p>
            <a:pPr marL="469900" marR="9525" algn="just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importance.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affect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outcomes.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780"/>
              </a:spcBef>
              <a:buSzPct val="116666"/>
              <a:buFont typeface="Wingdings"/>
              <a:buChar char="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Scalable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Modular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</a:t>
            </a:r>
            <a:endParaRPr sz="1200" dirty="0">
              <a:latin typeface="Times New Roman"/>
              <a:cs typeface="Times New Roman"/>
            </a:endParaRPr>
          </a:p>
          <a:p>
            <a:pPr marL="469900" marR="9525" algn="just">
              <a:lnSpc>
                <a:spcPct val="1434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promotes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flexibility,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integration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advanced </a:t>
            </a:r>
            <a:r>
              <a:rPr sz="1200" dirty="0">
                <a:latin typeface="Times New Roman"/>
                <a:cs typeface="Times New Roman"/>
              </a:rPr>
              <a:t>algorithms,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deployment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Streamlit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Flask.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scalability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ensures long-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relevance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maintenance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9132684"/>
                </a:moveTo>
                <a:lnTo>
                  <a:pt x="133350" y="9132684"/>
                </a:lnTo>
                <a:lnTo>
                  <a:pt x="133350" y="9141816"/>
                </a:lnTo>
                <a:lnTo>
                  <a:pt x="7029450" y="9141816"/>
                </a:lnTo>
                <a:lnTo>
                  <a:pt x="7029450" y="9132684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054D1CE-C4CC-FA74-CDE2-AFEBC4AD2248}"/>
              </a:ext>
            </a:extLst>
          </p:cNvPr>
          <p:cNvSpPr txBox="1"/>
          <p:nvPr/>
        </p:nvSpPr>
        <p:spPr>
          <a:xfrm>
            <a:off x="2157412" y="348006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1272" y="6793230"/>
            <a:ext cx="5967095" cy="196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latin typeface="Times New Roman"/>
                <a:cs typeface="Times New Roman"/>
              </a:rPr>
              <a:t>5.</a:t>
            </a:r>
            <a:endParaRPr sz="4800">
              <a:latin typeface="Times New Roman"/>
              <a:cs typeface="Times New Roman"/>
            </a:endParaRPr>
          </a:p>
          <a:p>
            <a:pPr marR="15875" algn="r">
              <a:lnSpc>
                <a:spcPct val="100000"/>
              </a:lnSpc>
              <a:spcBef>
                <a:spcPts val="3720"/>
              </a:spcBef>
            </a:pPr>
            <a:r>
              <a:rPr sz="4800" b="1" spc="-20" dirty="0">
                <a:latin typeface="Times New Roman"/>
                <a:cs typeface="Times New Roman"/>
              </a:rPr>
              <a:t>Methodological</a:t>
            </a:r>
            <a:r>
              <a:rPr sz="4800" b="1" spc="-225" dirty="0">
                <a:latin typeface="Times New Roman"/>
                <a:cs typeface="Times New Roman"/>
              </a:rPr>
              <a:t> </a:t>
            </a:r>
            <a:r>
              <a:rPr sz="4800" b="1" spc="-10" dirty="0">
                <a:latin typeface="Times New Roman"/>
                <a:cs typeface="Times New Roman"/>
              </a:rPr>
              <a:t>Details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721395"/>
                </a:moveTo>
                <a:lnTo>
                  <a:pt x="133985" y="8721395"/>
                </a:lnTo>
                <a:lnTo>
                  <a:pt x="133985" y="8730526"/>
                </a:lnTo>
                <a:lnTo>
                  <a:pt x="7030085" y="8730526"/>
                </a:lnTo>
                <a:lnTo>
                  <a:pt x="7030085" y="8721395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8951EEB-4904-AB0E-6EAA-DFDC8A828794}"/>
              </a:ext>
            </a:extLst>
          </p:cNvPr>
          <p:cNvSpPr txBox="1"/>
          <p:nvPr/>
        </p:nvSpPr>
        <p:spPr>
          <a:xfrm>
            <a:off x="2396031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438403"/>
            <a:ext cx="6655434" cy="8165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3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245110" algn="just">
              <a:lnSpc>
                <a:spcPct val="1439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methodology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follows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systematic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raw </a:t>
            </a:r>
            <a:r>
              <a:rPr sz="1200" spc="-10" dirty="0">
                <a:latin typeface="Times New Roman"/>
                <a:cs typeface="Times New Roman"/>
              </a:rPr>
              <a:t>passenger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meaningful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involves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collection,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outcomes.</a:t>
            </a: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2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</a:pPr>
            <a:r>
              <a:rPr sz="1600" b="1" spc="-40" dirty="0">
                <a:latin typeface="Times New Roman"/>
                <a:cs typeface="Times New Roman"/>
              </a:rPr>
              <a:t>A.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Data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Acquisition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Preprocessing</a:t>
            </a:r>
            <a:endParaRPr sz="14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10" dirty="0">
                <a:latin typeface="Times New Roman"/>
                <a:cs typeface="Times New Roman"/>
              </a:rPr>
              <a:t> Collection:</a:t>
            </a:r>
            <a:endParaRPr sz="1200" dirty="0">
              <a:latin typeface="Times New Roman"/>
              <a:cs typeface="Times New Roman"/>
            </a:endParaRPr>
          </a:p>
          <a:p>
            <a:pPr marL="241300" marR="5080" algn="just">
              <a:lnSpc>
                <a:spcPts val="208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Kaggle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Disaster </a:t>
            </a:r>
            <a:r>
              <a:rPr sz="1200" dirty="0">
                <a:latin typeface="Times New Roman"/>
                <a:cs typeface="Times New Roman"/>
              </a:rPr>
              <a:t>competition.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CSV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files:</a:t>
            </a:r>
            <a:endParaRPr sz="1200" dirty="0">
              <a:latin typeface="Times New Roman"/>
              <a:cs typeface="Times New Roman"/>
            </a:endParaRPr>
          </a:p>
          <a:p>
            <a:pPr marL="660400" algn="just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Times New Roman"/>
                <a:cs typeface="Times New Roman"/>
              </a:rPr>
              <a:t>train.csv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(includes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labels)</a:t>
            </a:r>
            <a:endParaRPr sz="1200" dirty="0">
              <a:latin typeface="Times New Roman"/>
              <a:cs typeface="Times New Roman"/>
            </a:endParaRPr>
          </a:p>
          <a:p>
            <a:pPr marL="622300" algn="just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test.csv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labels)</a:t>
            </a:r>
            <a:endParaRPr sz="1200" dirty="0">
              <a:latin typeface="Times New Roman"/>
              <a:cs typeface="Times New Roman"/>
            </a:endParaRPr>
          </a:p>
          <a:p>
            <a:pPr marL="241300" marR="8890" algn="just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ticket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fare.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44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10" dirty="0">
                <a:latin typeface="Times New Roman"/>
                <a:cs typeface="Times New Roman"/>
              </a:rPr>
              <a:t> Cleaning:</a:t>
            </a:r>
            <a:endParaRPr sz="1200" dirty="0">
              <a:latin typeface="Times New Roman"/>
              <a:cs typeface="Times New Roman"/>
            </a:endParaRPr>
          </a:p>
          <a:p>
            <a:pPr marL="241300" marR="5715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particularly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Cabin,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Embarked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ages are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imputed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median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age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based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passenger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title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Missing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embarked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replaced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filled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62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Extraction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Engineering: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40"/>
              </a:spcBef>
            </a:pPr>
            <a:r>
              <a:rPr sz="1200" b="1" dirty="0">
                <a:latin typeface="Times New Roman"/>
                <a:cs typeface="Times New Roman"/>
              </a:rPr>
              <a:t>Title Extraction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Extracted from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passenger’s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 (e.g.,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Mr, Mrs, Miss,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Master)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social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status.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40"/>
              </a:spcBef>
            </a:pPr>
            <a:r>
              <a:rPr sz="1200" b="1" dirty="0">
                <a:latin typeface="Times New Roman"/>
                <a:cs typeface="Times New Roman"/>
              </a:rPr>
              <a:t>Family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Size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SibSp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together.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20"/>
              </a:spcBef>
            </a:pPr>
            <a:r>
              <a:rPr sz="1200" b="1" dirty="0">
                <a:latin typeface="Times New Roman"/>
                <a:cs typeface="Times New Roman"/>
              </a:rPr>
              <a:t>IsAlone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alone.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40"/>
              </a:spcBef>
            </a:pPr>
            <a:r>
              <a:rPr sz="1200" b="1" dirty="0">
                <a:latin typeface="Times New Roman"/>
                <a:cs typeface="Times New Roman"/>
              </a:rPr>
              <a:t>Deck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cabin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level.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25"/>
              </a:spcBef>
            </a:pPr>
            <a:r>
              <a:rPr sz="1200" b="1" spc="-10" dirty="0">
                <a:latin typeface="Times New Roman"/>
                <a:cs typeface="Times New Roman"/>
              </a:rPr>
              <a:t>FarePerPerson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influence.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10" dirty="0">
                <a:latin typeface="Times New Roman"/>
                <a:cs typeface="Times New Roman"/>
              </a:rPr>
              <a:t> Transformation: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Embarked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OneHotEncoder.</a:t>
            </a:r>
            <a:endParaRPr sz="1200" dirty="0">
              <a:latin typeface="Times New Roman"/>
              <a:cs typeface="Times New Roman"/>
            </a:endParaRPr>
          </a:p>
          <a:p>
            <a:pPr marL="241300" marR="716280" algn="just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standardized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StandardScaler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uniformity.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training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testing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subsets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931072"/>
                </a:moveTo>
                <a:lnTo>
                  <a:pt x="133985" y="8931072"/>
                </a:lnTo>
                <a:lnTo>
                  <a:pt x="133985" y="8940203"/>
                </a:lnTo>
                <a:lnTo>
                  <a:pt x="7030085" y="8940203"/>
                </a:lnTo>
                <a:lnTo>
                  <a:pt x="7030085" y="8931072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01BB871-63F4-E72B-E97B-172DDBA1D9E2}"/>
              </a:ext>
            </a:extLst>
          </p:cNvPr>
          <p:cNvSpPr txBox="1"/>
          <p:nvPr/>
        </p:nvSpPr>
        <p:spPr>
          <a:xfrm>
            <a:off x="2379028" y="347352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38403"/>
            <a:ext cx="6328410" cy="875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B.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Model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Design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Training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Building</a:t>
            </a:r>
            <a:endParaRPr sz="1200" dirty="0">
              <a:latin typeface="Times New Roman"/>
              <a:cs typeface="Times New Roman"/>
            </a:endParaRPr>
          </a:p>
          <a:p>
            <a:pPr marL="12700" marR="146685">
              <a:lnSpc>
                <a:spcPts val="158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balance interpretability,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computational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efficiency.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-20" dirty="0">
                <a:latin typeface="Times New Roman"/>
                <a:cs typeface="Times New Roman"/>
              </a:rPr>
              <a:t> were </a:t>
            </a:r>
            <a:r>
              <a:rPr sz="1200" dirty="0">
                <a:latin typeface="Times New Roman"/>
                <a:cs typeface="Times New Roman"/>
              </a:rPr>
              <a:t>implemented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spc="-10" dirty="0">
                <a:latin typeface="Times New Roman"/>
                <a:cs typeface="Times New Roman"/>
              </a:rPr>
              <a:t>characteristics.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Logistic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Regression: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baseline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simplicity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interpretability.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</a:t>
            </a:r>
            <a:endParaRPr sz="1200" dirty="0">
              <a:latin typeface="Times New Roman"/>
              <a:cs typeface="Times New Roman"/>
            </a:endParaRPr>
          </a:p>
          <a:p>
            <a:pPr marL="241300" marR="180975">
              <a:lnSpc>
                <a:spcPct val="1101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effectively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Logistic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coefficient analysis.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Random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Forest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Classifier:</a:t>
            </a:r>
            <a:endParaRPr sz="1200" dirty="0">
              <a:latin typeface="Times New Roman"/>
              <a:cs typeface="Times New Roman"/>
            </a:endParaRPr>
          </a:p>
          <a:p>
            <a:pPr marL="241300" marR="5080">
              <a:lnSpc>
                <a:spcPct val="110000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powerful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ensemble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combines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overfitting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generalization.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nonlinear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influential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XGBoost </a:t>
            </a:r>
            <a:r>
              <a:rPr sz="1200" b="1" spc="-10" dirty="0">
                <a:latin typeface="Times New Roman"/>
                <a:cs typeface="Times New Roman"/>
              </a:rPr>
              <a:t>Classifier:</a:t>
            </a:r>
            <a:endParaRPr sz="1200" dirty="0">
              <a:latin typeface="Times New Roman"/>
              <a:cs typeface="Times New Roman"/>
            </a:endParaRPr>
          </a:p>
          <a:p>
            <a:pPr marL="241300" marR="111760">
              <a:lnSpc>
                <a:spcPct val="1100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gradient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boosting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sequential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regularization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overfitting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pruning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learning-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control.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Training</a:t>
            </a:r>
            <a:endParaRPr sz="1200" dirty="0">
              <a:latin typeface="Times New Roman"/>
              <a:cs typeface="Times New Roman"/>
            </a:endParaRPr>
          </a:p>
          <a:p>
            <a:pPr marL="241300" marR="142875" algn="just">
              <a:lnSpc>
                <a:spcPct val="143300"/>
              </a:lnSpc>
              <a:spcBef>
                <a:spcPts val="11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subsets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ensure generalization.</a:t>
            </a:r>
            <a:endParaRPr sz="1200" dirty="0">
              <a:latin typeface="Times New Roman"/>
              <a:cs typeface="Times New Roman"/>
            </a:endParaRPr>
          </a:p>
          <a:p>
            <a:pPr marL="241300" marR="14097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Stratified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K-</a:t>
            </a:r>
            <a:r>
              <a:rPr sz="1200" b="1" dirty="0">
                <a:latin typeface="Times New Roman"/>
                <a:cs typeface="Times New Roman"/>
              </a:rPr>
              <a:t>Fold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Cross-</a:t>
            </a:r>
            <a:r>
              <a:rPr sz="1200" b="1" dirty="0">
                <a:latin typeface="Times New Roman"/>
                <a:cs typeface="Times New Roman"/>
              </a:rPr>
              <a:t>Validation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balance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during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 </a:t>
            </a:r>
            <a:r>
              <a:rPr sz="1200" dirty="0">
                <a:latin typeface="Times New Roman"/>
                <a:cs typeface="Times New Roman"/>
              </a:rPr>
              <a:t>proportional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non-survivors.</a:t>
            </a:r>
            <a:endParaRPr sz="1200" dirty="0">
              <a:latin typeface="Times New Roman"/>
              <a:cs typeface="Times New Roman"/>
            </a:endParaRPr>
          </a:p>
          <a:p>
            <a:pPr marL="241300" marR="140970" algn="just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prepared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features.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445"/>
              </a:spcBef>
            </a:pPr>
            <a:r>
              <a:rPr sz="1200" b="1" spc="-10" dirty="0">
                <a:latin typeface="Times New Roman"/>
                <a:cs typeface="Times New Roman"/>
              </a:rPr>
              <a:t>Hyperparameter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tuning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grid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search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cross-validation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best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configuration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stability.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Scikit-</a:t>
            </a:r>
            <a:r>
              <a:rPr sz="1200" b="1" dirty="0">
                <a:latin typeface="Times New Roman"/>
                <a:cs typeface="Times New Roman"/>
              </a:rPr>
              <a:t>learn</a:t>
            </a:r>
            <a:r>
              <a:rPr sz="1200" b="1" spc="1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Pipeline</a:t>
            </a:r>
            <a:r>
              <a:rPr sz="1200" b="1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endParaRPr sz="1200" dirty="0">
              <a:latin typeface="Times New Roman"/>
              <a:cs typeface="Times New Roman"/>
            </a:endParaRPr>
          </a:p>
          <a:p>
            <a:pPr marL="241300" marR="141605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fitting,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evaluation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consistently.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 not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reduced manual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intervention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enhanced</a:t>
            </a:r>
            <a:r>
              <a:rPr sz="1200" spc="-10" dirty="0">
                <a:latin typeface="Times New Roman"/>
                <a:cs typeface="Times New Roman"/>
              </a:rPr>
              <a:t> reproducibility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9009723"/>
                </a:moveTo>
                <a:lnTo>
                  <a:pt x="133350" y="9009723"/>
                </a:lnTo>
                <a:lnTo>
                  <a:pt x="133350" y="9018854"/>
                </a:lnTo>
                <a:lnTo>
                  <a:pt x="7029450" y="9018854"/>
                </a:lnTo>
                <a:lnTo>
                  <a:pt x="7029450" y="9009723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BA0D57B-EEEC-040B-887A-168DAAC13AA3}"/>
              </a:ext>
            </a:extLst>
          </p:cNvPr>
          <p:cNvSpPr txBox="1"/>
          <p:nvPr/>
        </p:nvSpPr>
        <p:spPr>
          <a:xfrm>
            <a:off x="2402688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38403"/>
            <a:ext cx="6245860" cy="83213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8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10200"/>
              </a:lnSpc>
              <a:spcBef>
                <a:spcPts val="5"/>
              </a:spcBef>
            </a:pPr>
            <a:endParaRPr lang="en-US" sz="12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102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Titanic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Survival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pipeline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systematically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survival </a:t>
            </a:r>
            <a:r>
              <a:rPr sz="1200" dirty="0">
                <a:latin typeface="Times New Roman"/>
                <a:cs typeface="Times New Roman"/>
              </a:rPr>
              <a:t>predictions.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architecture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sequential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several key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—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acquisition,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preprocessing,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engineering,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training,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output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— </a:t>
            </a:r>
            <a:r>
              <a:rPr sz="1200" dirty="0">
                <a:latin typeface="Times New Roman"/>
                <a:cs typeface="Times New Roman"/>
              </a:rPr>
              <a:t>ensuring 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end-to-</a:t>
            </a:r>
            <a:r>
              <a:rPr sz="1200" dirty="0">
                <a:latin typeface="Times New Roman"/>
                <a:cs typeface="Times New Roman"/>
              </a:rPr>
              <a:t>end automated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solution.Layers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components:</a:t>
            </a: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5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65100" indent="-1524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Input</a:t>
            </a:r>
            <a:r>
              <a:rPr sz="1200" b="1" spc="-10" dirty="0">
                <a:latin typeface="Times New Roman"/>
                <a:cs typeface="Times New Roman"/>
              </a:rPr>
              <a:t> Layer</a:t>
            </a:r>
            <a:endParaRPr sz="1200" dirty="0">
              <a:latin typeface="Times New Roman"/>
              <a:cs typeface="Times New Roman"/>
            </a:endParaRPr>
          </a:p>
          <a:p>
            <a:pPr marL="12700" marR="8255" algn="just">
              <a:lnSpc>
                <a:spcPct val="1100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layer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Kaggle.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includes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sex,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ticket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cabin,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inputs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foundational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model.</a:t>
            </a:r>
            <a:endParaRPr sz="1200" dirty="0">
              <a:latin typeface="Times New Roman"/>
              <a:cs typeface="Times New Roman"/>
            </a:endParaRPr>
          </a:p>
          <a:p>
            <a:pPr marL="165100" indent="-152400" algn="just">
              <a:lnSpc>
                <a:spcPct val="100000"/>
              </a:lnSpc>
              <a:spcBef>
                <a:spcPts val="155"/>
              </a:spcBef>
              <a:buAutoNum type="arabicPeriod" startAt="2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Preprocessing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Layer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undergoes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accuracy.</a:t>
            </a:r>
            <a:endParaRPr sz="1200" dirty="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ct val="11000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Handling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Missing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Values: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entries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Age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Fare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Embarked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filled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median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imputation.</a:t>
            </a:r>
            <a:endParaRPr sz="1200" dirty="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ts val="160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Encoding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Normalization: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Sex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Embarked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into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One-</a:t>
            </a:r>
            <a:r>
              <a:rPr sz="1200" b="1" dirty="0">
                <a:latin typeface="Times New Roman"/>
                <a:cs typeface="Times New Roman"/>
              </a:rPr>
              <a:t>Hot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Encoding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6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Outlier</a:t>
            </a:r>
            <a:r>
              <a:rPr sz="1200" b="1" spc="1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Detection:</a:t>
            </a:r>
            <a:r>
              <a:rPr sz="1200" b="1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Extreme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detected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treated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endParaRPr sz="1200" dirty="0">
              <a:latin typeface="Times New Roman"/>
              <a:cs typeface="Times New Roman"/>
            </a:endParaRPr>
          </a:p>
          <a:p>
            <a:pPr marL="469265" algn="just">
              <a:lnSpc>
                <a:spcPct val="100000"/>
              </a:lnSpc>
              <a:spcBef>
                <a:spcPts val="145"/>
              </a:spcBef>
            </a:pPr>
            <a:r>
              <a:rPr sz="1200" spc="-10" dirty="0">
                <a:latin typeface="Times New Roman"/>
                <a:cs typeface="Times New Roman"/>
              </a:rPr>
              <a:t>distortion.</a:t>
            </a:r>
            <a:endParaRPr sz="1200" dirty="0">
              <a:latin typeface="Times New Roman"/>
              <a:cs typeface="Times New Roman"/>
            </a:endParaRPr>
          </a:p>
          <a:p>
            <a:pPr marL="165100" indent="-152400" algn="just">
              <a:lnSpc>
                <a:spcPct val="100000"/>
              </a:lnSpc>
              <a:spcBef>
                <a:spcPts val="145"/>
              </a:spcBef>
              <a:buAutoNum type="arabicPeriod" startAt="3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Layer</a:t>
            </a:r>
            <a:endParaRPr sz="1200" dirty="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1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hidden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social relationships.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include:</a:t>
            </a:r>
            <a:endParaRPr sz="1200" dirty="0">
              <a:latin typeface="Times New Roman"/>
              <a:cs typeface="Times New Roman"/>
            </a:endParaRPr>
          </a:p>
          <a:p>
            <a:pPr marL="469265" marR="10160" lvl="1" indent="-228600" algn="just">
              <a:lnSpc>
                <a:spcPts val="159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Title</a:t>
            </a:r>
            <a:r>
              <a:rPr sz="1200" b="1" spc="10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Extraction: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honorifics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(Mr,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Mrs,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Master)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social status.</a:t>
            </a:r>
            <a:endParaRPr sz="1200" dirty="0">
              <a:latin typeface="Times New Roman"/>
              <a:cs typeface="Times New Roman"/>
            </a:endParaRPr>
          </a:p>
          <a:p>
            <a:pPr marL="469265" marR="6350" lvl="1" indent="-228600" algn="just">
              <a:lnSpc>
                <a:spcPts val="158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FamilySize: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siblings/spouses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i="1" dirty="0">
                <a:latin typeface="Times New Roman"/>
                <a:cs typeface="Times New Roman"/>
              </a:rPr>
              <a:t>SibSp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parents/children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i="1" dirty="0">
                <a:latin typeface="Times New Roman"/>
                <a:cs typeface="Times New Roman"/>
              </a:rPr>
              <a:t>Parch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estimate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groups.</a:t>
            </a:r>
            <a:endParaRPr sz="1200" dirty="0">
              <a:latin typeface="Times New Roman"/>
              <a:cs typeface="Times New Roman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IsAlone: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(FamilySize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1).</a:t>
            </a:r>
            <a:endParaRPr sz="1200" dirty="0">
              <a:latin typeface="Times New Roman"/>
              <a:cs typeface="Times New Roman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14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FarePerPerson: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adjust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tickets.</a:t>
            </a:r>
            <a:endParaRPr sz="1200" dirty="0">
              <a:latin typeface="Times New Roman"/>
              <a:cs typeface="Times New Roman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1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Deck: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cabin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 dirty="0">
              <a:latin typeface="Times New Roman"/>
              <a:cs typeface="Times New Roman"/>
            </a:endParaRPr>
          </a:p>
          <a:p>
            <a:pPr marL="161925" indent="-149225" algn="just">
              <a:lnSpc>
                <a:spcPct val="100000"/>
              </a:lnSpc>
              <a:spcBef>
                <a:spcPts val="145"/>
              </a:spcBef>
              <a:buAutoNum type="arabicPeriod" startAt="4"/>
              <a:tabLst>
                <a:tab pos="161925" algn="l"/>
              </a:tabLst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Training:</a:t>
            </a:r>
            <a:endParaRPr sz="120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ct val="110000"/>
              </a:lnSpc>
            </a:pP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Logistic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Stratified K-</a:t>
            </a:r>
            <a:r>
              <a:rPr sz="1200" dirty="0">
                <a:latin typeface="Times New Roman"/>
                <a:cs typeface="Times New Roman"/>
              </a:rPr>
              <a:t>Fold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Cross-</a:t>
            </a:r>
            <a:r>
              <a:rPr sz="1200" dirty="0">
                <a:latin typeface="Times New Roman"/>
                <a:cs typeface="Times New Roman"/>
              </a:rPr>
              <a:t>Validation.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Hyperparameter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tuning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avoid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overfitting.</a:t>
            </a:r>
            <a:endParaRPr sz="1200" dirty="0">
              <a:latin typeface="Times New Roman"/>
              <a:cs typeface="Times New Roman"/>
            </a:endParaRPr>
          </a:p>
          <a:p>
            <a:pPr marL="161925" indent="-149225" algn="just">
              <a:lnSpc>
                <a:spcPct val="100000"/>
              </a:lnSpc>
              <a:spcBef>
                <a:spcPts val="145"/>
              </a:spcBef>
              <a:buAutoNum type="arabicPeriod" startAt="5"/>
              <a:tabLst>
                <a:tab pos="161925" algn="l"/>
              </a:tabLst>
            </a:pPr>
            <a:r>
              <a:rPr sz="1200" b="1" dirty="0">
                <a:latin typeface="Times New Roman"/>
                <a:cs typeface="Times New Roman"/>
              </a:rPr>
              <a:t>Evaluation,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Visualization:</a:t>
            </a:r>
            <a:endParaRPr sz="1200" dirty="0">
              <a:latin typeface="Times New Roman"/>
              <a:cs typeface="Times New Roman"/>
            </a:endParaRPr>
          </a:p>
          <a:p>
            <a:pPr marL="12700" marR="8255" algn="just">
              <a:lnSpc>
                <a:spcPct val="11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metrics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Precision,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Recall, F1-</a:t>
            </a:r>
            <a:r>
              <a:rPr sz="1200" dirty="0">
                <a:latin typeface="Times New Roman"/>
                <a:cs typeface="Times New Roman"/>
              </a:rPr>
              <a:t>Score,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ROC-AUC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effectiveness.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matrices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</a:t>
            </a:r>
            <a:endParaRPr sz="1200" dirty="0">
              <a:latin typeface="Times New Roman"/>
              <a:cs typeface="Times New Roman"/>
            </a:endParaRPr>
          </a:p>
          <a:p>
            <a:pPr marL="12700" marR="6350" algn="just">
              <a:lnSpc>
                <a:spcPct val="1100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importance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influential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features.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best-performing </a:t>
            </a:r>
            <a:r>
              <a:rPr sz="1200" dirty="0">
                <a:latin typeface="Times New Roman"/>
                <a:cs typeface="Times New Roman"/>
              </a:rPr>
              <a:t>model,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predictions</a:t>
            </a:r>
            <a:r>
              <a:rPr sz="1200" spc="20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Additionally,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visualizations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groups,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insightful.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925128"/>
                </a:moveTo>
                <a:lnTo>
                  <a:pt x="133985" y="8925128"/>
                </a:lnTo>
                <a:lnTo>
                  <a:pt x="133985" y="8934259"/>
                </a:lnTo>
                <a:lnTo>
                  <a:pt x="7030085" y="8934259"/>
                </a:lnTo>
                <a:lnTo>
                  <a:pt x="7030085" y="8925128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E074B1B-F541-0E6D-E5BC-300CDE36463D}"/>
              </a:ext>
            </a:extLst>
          </p:cNvPr>
          <p:cNvSpPr txBox="1"/>
          <p:nvPr/>
        </p:nvSpPr>
        <p:spPr>
          <a:xfrm>
            <a:off x="2296146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438403"/>
            <a:ext cx="6658609" cy="7789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algn="just">
              <a:lnSpc>
                <a:spcPts val="1914"/>
              </a:lnSpc>
            </a:pPr>
            <a:endParaRPr lang="en-US" sz="1600" b="1" spc="-40" dirty="0">
              <a:latin typeface="Times New Roman"/>
              <a:cs typeface="Times New Roman"/>
            </a:endParaRPr>
          </a:p>
          <a:p>
            <a:pPr marL="184785" algn="just">
              <a:lnSpc>
                <a:spcPts val="1914"/>
              </a:lnSpc>
            </a:pPr>
            <a:r>
              <a:rPr sz="1600" b="1" spc="-40" dirty="0">
                <a:latin typeface="Times New Roman"/>
                <a:cs typeface="Times New Roman"/>
              </a:rPr>
              <a:t>C.</a:t>
            </a:r>
            <a:r>
              <a:rPr sz="16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Model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Evaluation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Visualization</a:t>
            </a:r>
            <a:endParaRPr sz="14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5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Evaluation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Metrics:</a:t>
            </a:r>
            <a:endParaRPr sz="1200" dirty="0">
              <a:latin typeface="Times New Roman"/>
              <a:cs typeface="Times New Roman"/>
            </a:endParaRPr>
          </a:p>
          <a:p>
            <a:pPr marL="469900" marR="10160" lvl="1" indent="-228600" algn="just">
              <a:lnSpc>
                <a:spcPct val="143300"/>
              </a:lnSpc>
              <a:spcBef>
                <a:spcPts val="10"/>
              </a:spcBef>
              <a:buFont typeface="Times New Roman"/>
              <a:buAutoNum type="alphaLcParenR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Accuracy</a:t>
            </a:r>
            <a:r>
              <a:rPr sz="1200" b="1" spc="20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Score:</a:t>
            </a:r>
            <a:r>
              <a:rPr sz="1200" b="1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correctness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predictions,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classifies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survivors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</a:t>
            </a:r>
            <a:r>
              <a:rPr sz="1200" spc="-10" dirty="0">
                <a:latin typeface="Times New Roman"/>
                <a:cs typeface="Times New Roman"/>
              </a:rPr>
              <a:t>survivors.</a:t>
            </a:r>
            <a:endParaRPr sz="1200" dirty="0">
              <a:latin typeface="Times New Roman"/>
              <a:cs typeface="Times New Roman"/>
            </a:endParaRPr>
          </a:p>
          <a:p>
            <a:pPr marL="469900" marR="10160" lvl="1" indent="-228600" algn="just">
              <a:lnSpc>
                <a:spcPct val="143300"/>
              </a:lnSpc>
              <a:spcBef>
                <a:spcPts val="15"/>
              </a:spcBef>
              <a:buFont typeface="Times New Roman"/>
              <a:buAutoNum type="alphaLcParenR"/>
              <a:tabLst>
                <a:tab pos="4699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Confusion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Matrix: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Displays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distribution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positives,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negatives,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false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positives,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false </a:t>
            </a:r>
            <a:r>
              <a:rPr sz="1200" dirty="0">
                <a:latin typeface="Times New Roman"/>
                <a:cs typeface="Times New Roman"/>
              </a:rPr>
              <a:t>negatives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quality.</a:t>
            </a:r>
            <a:endParaRPr sz="1200" dirty="0">
              <a:latin typeface="Times New Roman"/>
              <a:cs typeface="Times New Roman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635"/>
              </a:spcBef>
              <a:buFont typeface="Times New Roman"/>
              <a:buAutoNum type="alphaLcParenR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Precision,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Recall,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F1-</a:t>
            </a:r>
            <a:r>
              <a:rPr sz="1200" b="1" dirty="0">
                <a:latin typeface="Times New Roman"/>
                <a:cs typeface="Times New Roman"/>
              </a:rPr>
              <a:t>Score: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model’s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survivors</a:t>
            </a:r>
            <a:endParaRPr sz="12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imbalanced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</a:t>
            </a:r>
            <a:endParaRPr sz="1200" dirty="0">
              <a:latin typeface="Times New Roman"/>
              <a:cs typeface="Times New Roman"/>
            </a:endParaRPr>
          </a:p>
          <a:p>
            <a:pPr marL="469900" marR="5080" lvl="1" indent="-228600" algn="just">
              <a:lnSpc>
                <a:spcPct val="143500"/>
              </a:lnSpc>
              <a:spcBef>
                <a:spcPts val="10"/>
              </a:spcBef>
              <a:buFont typeface="Times New Roman"/>
              <a:buAutoNum type="alphaLcParenR" startAt="4"/>
              <a:tabLst>
                <a:tab pos="4699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ROC-</a:t>
            </a:r>
            <a:r>
              <a:rPr sz="1200" b="1" dirty="0">
                <a:latin typeface="Times New Roman"/>
                <a:cs typeface="Times New Roman"/>
              </a:rPr>
              <a:t>AUC</a:t>
            </a:r>
            <a:r>
              <a:rPr sz="1200" b="1" spc="229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Score:</a:t>
            </a:r>
            <a:r>
              <a:rPr sz="1200" b="1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model’s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capacity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distinguish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survivors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non- </a:t>
            </a:r>
            <a:r>
              <a:rPr sz="1200" dirty="0">
                <a:latin typeface="Times New Roman"/>
                <a:cs typeface="Times New Roman"/>
              </a:rPr>
              <a:t>survivors,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2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Visualization:</a:t>
            </a:r>
            <a:endParaRPr sz="1200" dirty="0">
              <a:latin typeface="Times New Roman"/>
              <a:cs typeface="Times New Roman"/>
            </a:endParaRPr>
          </a:p>
          <a:p>
            <a:pPr marL="241300" marR="8255" algn="just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Graphs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Matplotlib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Seaborn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outputs.</a:t>
            </a:r>
            <a:endParaRPr sz="1200" dirty="0">
              <a:latin typeface="Times New Roman"/>
              <a:cs typeface="Times New Roman"/>
            </a:endParaRPr>
          </a:p>
          <a:p>
            <a:pPr marL="469900" marR="6985" lvl="1" indent="-228600" algn="just">
              <a:lnSpc>
                <a:spcPct val="143300"/>
              </a:lnSpc>
              <a:spcBef>
                <a:spcPts val="15"/>
              </a:spcBef>
              <a:buAutoNum type="alphaLcParenR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gender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class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age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group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females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first-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passengers.</a:t>
            </a:r>
            <a:endParaRPr sz="1200" dirty="0">
              <a:latin typeface="Times New Roman"/>
              <a:cs typeface="Times New Roman"/>
            </a:endParaRPr>
          </a:p>
          <a:p>
            <a:pPr marL="469900" marR="8890" lvl="1" indent="-228600" algn="just">
              <a:lnSpc>
                <a:spcPct val="143300"/>
              </a:lnSpc>
              <a:spcBef>
                <a:spcPts val="10"/>
              </a:spcBef>
              <a:buFont typeface="Times New Roman"/>
              <a:buAutoNum type="alphaLcParenR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3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importance</a:t>
            </a:r>
            <a:r>
              <a:rPr sz="1200" b="1" spc="3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plots</a:t>
            </a:r>
            <a:r>
              <a:rPr sz="1200" b="1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identified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 </a:t>
            </a:r>
            <a:r>
              <a:rPr sz="1200" dirty="0">
                <a:latin typeface="Times New Roman"/>
                <a:cs typeface="Times New Roman"/>
              </a:rPr>
              <a:t>influencing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Sex,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Pclass,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Age.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chosen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accurately.</a:t>
            </a: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459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84785" algn="just">
              <a:lnSpc>
                <a:spcPct val="100000"/>
              </a:lnSpc>
              <a:spcBef>
                <a:spcPts val="5"/>
              </a:spcBef>
            </a:pPr>
            <a:r>
              <a:rPr sz="1600" b="1" spc="-40" dirty="0">
                <a:latin typeface="Times New Roman"/>
                <a:cs typeface="Times New Roman"/>
              </a:rPr>
              <a:t>D.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Deployment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User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Interaction</a:t>
            </a:r>
            <a:endParaRPr sz="1400" dirty="0">
              <a:latin typeface="Times New Roman"/>
              <a:cs typeface="Times New Roman"/>
            </a:endParaRPr>
          </a:p>
          <a:p>
            <a:pPr marL="184785" marR="5715" algn="just">
              <a:lnSpc>
                <a:spcPct val="143300"/>
              </a:lnSpc>
              <a:spcBef>
                <a:spcPts val="890"/>
              </a:spcBef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primarily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analysis-</a:t>
            </a:r>
            <a:r>
              <a:rPr sz="1200" dirty="0">
                <a:latin typeface="Times New Roman"/>
                <a:cs typeface="Times New Roman"/>
              </a:rPr>
              <a:t>based,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extended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application</a:t>
            </a:r>
            <a:r>
              <a:rPr sz="1200" b="1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 </a:t>
            </a:r>
            <a:r>
              <a:rPr sz="1200" dirty="0">
                <a:latin typeface="Times New Roman"/>
                <a:cs typeface="Times New Roman"/>
              </a:rPr>
              <a:t>frameworks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Streamlit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Flask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84785" marR="7620" algn="just">
              <a:lnSpc>
                <a:spcPct val="1439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predictions.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accessible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non-technical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demonstrating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based </a:t>
            </a:r>
            <a:r>
              <a:rPr sz="1200" spc="-10" dirty="0">
                <a:latin typeface="Times New Roman"/>
                <a:cs typeface="Times New Roman"/>
              </a:rPr>
              <a:t>decision-making.</a:t>
            </a:r>
            <a:endParaRPr sz="1200" dirty="0">
              <a:latin typeface="Times New Roman"/>
              <a:cs typeface="Times New Roman"/>
            </a:endParaRPr>
          </a:p>
          <a:p>
            <a:pPr marL="184785" marR="6350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deployment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easy-to-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predictive tool.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48500" y="9118600"/>
                </a:moveTo>
                <a:lnTo>
                  <a:pt x="152400" y="9118600"/>
                </a:lnTo>
                <a:lnTo>
                  <a:pt x="152400" y="9127731"/>
                </a:lnTo>
                <a:lnTo>
                  <a:pt x="7048500" y="9127731"/>
                </a:lnTo>
                <a:lnTo>
                  <a:pt x="7048500" y="9118600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C2FE8D1-D314-5193-CD40-7C896F86BDF7}"/>
              </a:ext>
            </a:extLst>
          </p:cNvPr>
          <p:cNvSpPr txBox="1"/>
          <p:nvPr/>
        </p:nvSpPr>
        <p:spPr>
          <a:xfrm>
            <a:off x="2326641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89370" y="7165085"/>
            <a:ext cx="4768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6.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82565" y="8391855"/>
            <a:ext cx="16802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latin typeface="Times New Roman"/>
                <a:cs typeface="Times New Roman"/>
              </a:rPr>
              <a:t>Result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8974734"/>
                </a:moveTo>
                <a:lnTo>
                  <a:pt x="133350" y="8974734"/>
                </a:lnTo>
                <a:lnTo>
                  <a:pt x="133350" y="8983866"/>
                </a:lnTo>
                <a:lnTo>
                  <a:pt x="7029450" y="8983866"/>
                </a:lnTo>
                <a:lnTo>
                  <a:pt x="7029450" y="8974734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49345F0F-5161-12DE-2742-BFE0FDA39EC1}"/>
              </a:ext>
            </a:extLst>
          </p:cNvPr>
          <p:cNvSpPr txBox="1"/>
          <p:nvPr/>
        </p:nvSpPr>
        <p:spPr>
          <a:xfrm>
            <a:off x="2160270" y="347352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77264" y="4119498"/>
            <a:ext cx="581533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Stock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Table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MSFT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OHLCV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</a:t>
            </a:r>
            <a:endParaRPr sz="1200">
              <a:latin typeface="Times New Roman"/>
              <a:cs typeface="Times New Roman"/>
            </a:endParaRPr>
          </a:p>
          <a:p>
            <a:pPr marR="203200" algn="ctr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records.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604" y="4982082"/>
            <a:ext cx="13589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latin typeface="Times New Roman"/>
                <a:cs typeface="Times New Roman"/>
              </a:rPr>
              <a:t>/1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8579357"/>
            <a:ext cx="6378575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521334">
              <a:lnSpc>
                <a:spcPts val="1380"/>
              </a:lnSpc>
              <a:spcBef>
                <a:spcPts val="195"/>
              </a:spcBef>
            </a:pPr>
            <a:r>
              <a:rPr sz="1000" dirty="0">
                <a:latin typeface="Times New Roman"/>
                <a:cs typeface="Times New Roman"/>
              </a:rPr>
              <a:t>/1</a:t>
            </a: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Original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Close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100-day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250-</a:t>
            </a:r>
            <a:r>
              <a:rPr sz="1200" b="1" dirty="0">
                <a:latin typeface="Times New Roman"/>
                <a:cs typeface="Times New Roman"/>
              </a:rPr>
              <a:t>day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Moving Average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8968410"/>
                </a:moveTo>
                <a:lnTo>
                  <a:pt x="133350" y="8968410"/>
                </a:lnTo>
                <a:lnTo>
                  <a:pt x="133350" y="8977541"/>
                </a:lnTo>
                <a:lnTo>
                  <a:pt x="7029450" y="8977541"/>
                </a:lnTo>
                <a:lnTo>
                  <a:pt x="7029450" y="8968410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D526D9C-A5BF-84EA-B622-1DFF49B79617}"/>
              </a:ext>
            </a:extLst>
          </p:cNvPr>
          <p:cNvSpPr txBox="1"/>
          <p:nvPr/>
        </p:nvSpPr>
        <p:spPr>
          <a:xfrm>
            <a:off x="2256141" y="381000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8508" y="4335907"/>
            <a:ext cx="568579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/1</a:t>
            </a: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comparison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Original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Price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</a:t>
            </a:r>
            <a:endParaRPr sz="1200">
              <a:latin typeface="Times New Roman"/>
              <a:cs typeface="Times New Roman"/>
            </a:endParaRPr>
          </a:p>
          <a:p>
            <a:pPr marL="24765">
              <a:lnSpc>
                <a:spcPts val="1435"/>
              </a:lnSpc>
            </a:pPr>
            <a:r>
              <a:rPr sz="1200" dirty="0">
                <a:latin typeface="Times New Roman"/>
                <a:cs typeface="Times New Roman"/>
              </a:rPr>
              <a:t>/1the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model's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short-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80"/>
              </a:spcBef>
            </a:pPr>
            <a:r>
              <a:rPr sz="1000" spc="-25" dirty="0">
                <a:latin typeface="Times New Roman"/>
                <a:cs typeface="Times New Roman"/>
              </a:rPr>
              <a:t>/1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8375192"/>
            <a:ext cx="5669280" cy="54991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4: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Original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Close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model,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/1showing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RMS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8935898"/>
                </a:moveTo>
                <a:lnTo>
                  <a:pt x="133350" y="8935898"/>
                </a:lnTo>
                <a:lnTo>
                  <a:pt x="133350" y="8945029"/>
                </a:lnTo>
                <a:lnTo>
                  <a:pt x="7029450" y="8945029"/>
                </a:lnTo>
                <a:lnTo>
                  <a:pt x="7029450" y="8935898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8A568BA-CEF0-A882-775A-49F4379569DC}"/>
              </a:ext>
            </a:extLst>
          </p:cNvPr>
          <p:cNvSpPr txBox="1"/>
          <p:nvPr/>
        </p:nvSpPr>
        <p:spPr>
          <a:xfrm>
            <a:off x="2157412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7.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84801" y="8111490"/>
            <a:ext cx="22199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latin typeface="Times New Roman"/>
                <a:cs typeface="Times New Roman"/>
              </a:rPr>
              <a:t>Analysis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943353"/>
                </a:moveTo>
                <a:lnTo>
                  <a:pt x="133985" y="8943353"/>
                </a:lnTo>
                <a:lnTo>
                  <a:pt x="133985" y="8952484"/>
                </a:lnTo>
                <a:lnTo>
                  <a:pt x="7030085" y="8952484"/>
                </a:lnTo>
                <a:lnTo>
                  <a:pt x="7030085" y="8943353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1109DED-0539-355F-0195-D790DA12E286}"/>
              </a:ext>
            </a:extLst>
          </p:cNvPr>
          <p:cNvSpPr txBox="1"/>
          <p:nvPr/>
        </p:nvSpPr>
        <p:spPr>
          <a:xfrm>
            <a:off x="2157412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438403"/>
            <a:ext cx="6656070" cy="711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n-US"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A.</a:t>
            </a:r>
            <a:r>
              <a:rPr sz="1400" b="1" spc="1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Technical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Development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Implementation</a:t>
            </a:r>
            <a:endParaRPr sz="14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109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Collection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Preprocessing:</a:t>
            </a:r>
            <a:endParaRPr sz="1200" dirty="0">
              <a:latin typeface="Times New Roman"/>
              <a:cs typeface="Times New Roman"/>
            </a:endParaRPr>
          </a:p>
          <a:p>
            <a:pPr marL="241300" marR="7620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Kaggle’s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competition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Missing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Age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Fare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Embarked</a:t>
            </a:r>
            <a:r>
              <a:rPr sz="1200" i="1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imputation.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Cabin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62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Feature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Engineering:</a:t>
            </a:r>
            <a:endParaRPr sz="1200" dirty="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power:</a:t>
            </a:r>
            <a:endParaRPr sz="1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625"/>
              </a:spcBef>
              <a:buSzPct val="83333"/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Times New Roman"/>
                <a:cs typeface="Times New Roman"/>
              </a:rPr>
              <a:t>Title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names)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distinguish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social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Master).</a:t>
            </a:r>
            <a:endParaRPr sz="1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640"/>
              </a:spcBef>
              <a:buSzPct val="83333"/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Times New Roman"/>
                <a:cs typeface="Times New Roman"/>
              </a:rPr>
              <a:t>FamilySize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siblings/spouses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parents/children.</a:t>
            </a:r>
            <a:endParaRPr sz="1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620"/>
              </a:spcBef>
              <a:buSzPct val="83333"/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Times New Roman"/>
                <a:cs typeface="Times New Roman"/>
              </a:rPr>
              <a:t>IsAlone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chances.</a:t>
            </a:r>
            <a:endParaRPr sz="1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640"/>
              </a:spcBef>
              <a:buSzPct val="83333"/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Times New Roman"/>
                <a:cs typeface="Times New Roman"/>
              </a:rPr>
              <a:t>FarePerPerson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ticket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members.</a:t>
            </a:r>
            <a:endParaRPr sz="1200" dirty="0">
              <a:latin typeface="Times New Roman"/>
              <a:cs typeface="Times New Roman"/>
            </a:endParaRPr>
          </a:p>
          <a:p>
            <a:pPr marL="698500" marR="889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models.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Development:</a:t>
            </a:r>
            <a:endParaRPr sz="1200" dirty="0">
              <a:latin typeface="Times New Roman"/>
              <a:cs typeface="Times New Roman"/>
            </a:endParaRPr>
          </a:p>
          <a:p>
            <a:pPr marL="241300" marR="508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 Regression, Random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 implemented. </a:t>
            </a:r>
            <a:r>
              <a:rPr sz="1200" spc="-10" dirty="0">
                <a:latin typeface="Times New Roman"/>
                <a:cs typeface="Times New Roman"/>
              </a:rPr>
              <a:t>Logistic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established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baseline,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ensemble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generalization.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445"/>
              </a:spcBef>
            </a:pPr>
            <a:r>
              <a:rPr sz="1200" spc="-10" dirty="0">
                <a:latin typeface="Times New Roman"/>
                <a:cs typeface="Times New Roman"/>
              </a:rPr>
              <a:t>Cross-</a:t>
            </a:r>
            <a:r>
              <a:rPr sz="1200" dirty="0">
                <a:latin typeface="Times New Roman"/>
                <a:cs typeface="Times New Roman"/>
              </a:rPr>
              <a:t>validation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robustness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minimized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overfitting.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Evaluation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Metrics: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Accuracy,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Precision,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Recall,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F1-</a:t>
            </a:r>
            <a:r>
              <a:rPr sz="1200" dirty="0">
                <a:latin typeface="Times New Roman"/>
                <a:cs typeface="Times New Roman"/>
              </a:rPr>
              <a:t>score,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ROC-</a:t>
            </a:r>
            <a:r>
              <a:rPr sz="1200" dirty="0">
                <a:latin typeface="Times New Roman"/>
                <a:cs typeface="Times New Roman"/>
              </a:rPr>
              <a:t>AUC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all</a:t>
            </a:r>
            <a:endParaRPr sz="1200" dirty="0">
              <a:latin typeface="Times New Roman"/>
              <a:cs typeface="Times New Roman"/>
            </a:endParaRPr>
          </a:p>
          <a:p>
            <a:pPr marL="241300" marR="5080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models,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approximately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86%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ROC-</a:t>
            </a:r>
            <a:r>
              <a:rPr sz="1200" spc="-25" dirty="0">
                <a:latin typeface="Times New Roman"/>
                <a:cs typeface="Times New Roman"/>
              </a:rPr>
              <a:t>AUC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0.89.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Visualization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Interpretation: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comparison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</a:t>
            </a:r>
            <a:endParaRPr sz="1200" dirty="0">
              <a:latin typeface="Times New Roman"/>
              <a:cs typeface="Times New Roman"/>
            </a:endParaRPr>
          </a:p>
          <a:p>
            <a:pPr marL="241300" marR="6350">
              <a:lnSpc>
                <a:spcPct val="1435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importance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clarity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strongly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influenced predictions.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48500" y="9073680"/>
                </a:moveTo>
                <a:lnTo>
                  <a:pt x="152400" y="9073680"/>
                </a:lnTo>
                <a:lnTo>
                  <a:pt x="152400" y="9082811"/>
                </a:lnTo>
                <a:lnTo>
                  <a:pt x="7048500" y="9082811"/>
                </a:lnTo>
                <a:lnTo>
                  <a:pt x="7048500" y="9073680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50D4FE7-CC43-5F93-F1BE-2DF2B07CA066}"/>
              </a:ext>
            </a:extLst>
          </p:cNvPr>
          <p:cNvSpPr txBox="1"/>
          <p:nvPr/>
        </p:nvSpPr>
        <p:spPr>
          <a:xfrm>
            <a:off x="2157412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438403"/>
            <a:ext cx="6656070" cy="669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n-US"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B.</a:t>
            </a:r>
            <a:r>
              <a:rPr sz="1400" b="1" spc="204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Deployment,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User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Accessibility,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Project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Insights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Deployment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Possibilities:</a:t>
            </a:r>
            <a:endParaRPr sz="1200" dirty="0">
              <a:latin typeface="Times New Roman"/>
              <a:cs typeface="Times New Roman"/>
            </a:endParaRPr>
          </a:p>
          <a:p>
            <a:pPr marL="241300" marR="508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Streamlit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Flask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passenger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(age,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etc.)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instantly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predictions.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accessible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expertise.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Accessibility: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interpretable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understandable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</a:t>
            </a:r>
            <a:r>
              <a:rPr sz="1200" spc="-10" dirty="0">
                <a:latin typeface="Times New Roman"/>
                <a:cs typeface="Times New Roman"/>
              </a:rPr>
              <a:t>technical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audiences.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model’s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researchers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retrain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</a:t>
            </a:r>
            <a:endParaRPr sz="12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easily.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Challenges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Encountered:</a:t>
            </a:r>
            <a:endParaRPr sz="1200" dirty="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25"/>
              </a:spcBef>
              <a:buAutoNum type="alphaLcParenR"/>
              <a:tabLst>
                <a:tab pos="1155065" algn="l"/>
              </a:tabLst>
            </a:pP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columns.</a:t>
            </a:r>
            <a:endParaRPr sz="1200" dirty="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35"/>
              </a:spcBef>
              <a:buAutoNum type="alphaLcParenR"/>
              <a:tabLst>
                <a:tab pos="1155065" algn="l"/>
              </a:tabLst>
            </a:pPr>
            <a:r>
              <a:rPr sz="1200" dirty="0">
                <a:latin typeface="Times New Roman"/>
                <a:cs typeface="Times New Roman"/>
              </a:rPr>
              <a:t>Balancing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avoiding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overfitting.</a:t>
            </a:r>
            <a:endParaRPr sz="1200" dirty="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25"/>
              </a:spcBef>
              <a:buAutoNum type="alphaLcParenR"/>
              <a:tabLst>
                <a:tab pos="1155065" algn="l"/>
              </a:tabLst>
            </a:pPr>
            <a:r>
              <a:rPr sz="1200" dirty="0">
                <a:latin typeface="Times New Roman"/>
                <a:cs typeface="Times New Roman"/>
              </a:rPr>
              <a:t>Managing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imbalance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non-survivors.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Skills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Utilized:</a:t>
            </a:r>
            <a:endParaRPr sz="1200" dirty="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25"/>
              </a:spcBef>
              <a:buFont typeface="Times New Roman"/>
              <a:buAutoNum type="alphaLcParenR"/>
              <a:tabLst>
                <a:tab pos="1155065" algn="l"/>
              </a:tabLst>
            </a:pPr>
            <a:r>
              <a:rPr sz="1200" b="1" dirty="0">
                <a:latin typeface="Times New Roman"/>
                <a:cs typeface="Times New Roman"/>
              </a:rPr>
              <a:t>Programming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Language: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</a:t>
            </a:r>
            <a:endParaRPr sz="1200" dirty="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40"/>
              </a:spcBef>
              <a:buFont typeface="Times New Roman"/>
              <a:buAutoNum type="alphaLcParenR"/>
              <a:tabLst>
                <a:tab pos="1155065" algn="l"/>
              </a:tabLst>
            </a:pPr>
            <a:r>
              <a:rPr sz="1200" b="1" dirty="0">
                <a:latin typeface="Times New Roman"/>
                <a:cs typeface="Times New Roman"/>
              </a:rPr>
              <a:t>Libraries: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Scikit-</a:t>
            </a:r>
            <a:r>
              <a:rPr sz="1200" dirty="0">
                <a:latin typeface="Times New Roman"/>
                <a:cs typeface="Times New Roman"/>
              </a:rPr>
              <a:t>learn,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Seaborn</a:t>
            </a:r>
            <a:endParaRPr sz="1200" dirty="0">
              <a:latin typeface="Times New Roman"/>
              <a:cs typeface="Times New Roman"/>
            </a:endParaRPr>
          </a:p>
          <a:p>
            <a:pPr marL="1155700" marR="6350" lvl="1" indent="-228600">
              <a:lnSpc>
                <a:spcPts val="2080"/>
              </a:lnSpc>
              <a:spcBef>
                <a:spcPts val="160"/>
              </a:spcBef>
              <a:buFont typeface="Times New Roman"/>
              <a:buAutoNum type="alphaLcParenR"/>
              <a:tabLst>
                <a:tab pos="1155700" algn="l"/>
              </a:tabLst>
            </a:pPr>
            <a:r>
              <a:rPr sz="1200" b="1" dirty="0">
                <a:latin typeface="Times New Roman"/>
                <a:cs typeface="Times New Roman"/>
              </a:rPr>
              <a:t>Concepts</a:t>
            </a:r>
            <a:r>
              <a:rPr sz="1200" b="1" spc="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Applied:</a:t>
            </a:r>
            <a:r>
              <a:rPr sz="1200" b="1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evaluation </a:t>
            </a:r>
            <a:r>
              <a:rPr sz="1200" dirty="0">
                <a:latin typeface="Times New Roman"/>
                <a:cs typeface="Times New Roman"/>
              </a:rPr>
              <a:t>metrics,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techniques.</a:t>
            </a:r>
            <a:endParaRPr sz="1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4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Insights:</a:t>
            </a:r>
            <a:endParaRPr sz="1200" dirty="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35"/>
              </a:spcBef>
              <a:buAutoNum type="alphaLcParenR"/>
              <a:tabLst>
                <a:tab pos="1155065" algn="l"/>
              </a:tabLst>
            </a:pPr>
            <a:r>
              <a:rPr sz="1200" dirty="0">
                <a:latin typeface="Times New Roman"/>
                <a:cs typeface="Times New Roman"/>
              </a:rPr>
              <a:t>Gender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rates.</a:t>
            </a:r>
            <a:endParaRPr sz="1200" dirty="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25"/>
              </a:spcBef>
              <a:buAutoNum type="alphaLcParenR"/>
              <a:tabLst>
                <a:tab pos="1155065" algn="l"/>
              </a:tabLst>
            </a:pPr>
            <a:r>
              <a:rPr sz="1200" dirty="0">
                <a:latin typeface="Times New Roman"/>
                <a:cs typeface="Times New Roman"/>
              </a:rPr>
              <a:t>Children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female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men.</a:t>
            </a:r>
            <a:endParaRPr sz="1200" dirty="0">
              <a:latin typeface="Times New Roman"/>
              <a:cs typeface="Times New Roman"/>
            </a:endParaRPr>
          </a:p>
          <a:p>
            <a:pPr marL="1155700" marR="5715" lvl="1" indent="-228600">
              <a:lnSpc>
                <a:spcPts val="2080"/>
              </a:lnSpc>
              <a:spcBef>
                <a:spcPts val="80"/>
              </a:spcBef>
              <a:buAutoNum type="alphaLcParenR"/>
              <a:tabLst>
                <a:tab pos="11557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proved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involving </a:t>
            </a:r>
            <a:r>
              <a:rPr sz="1200" dirty="0">
                <a:latin typeface="Times New Roman"/>
                <a:cs typeface="Times New Roman"/>
              </a:rPr>
              <a:t>mixed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29450" y="9059761"/>
                </a:moveTo>
                <a:lnTo>
                  <a:pt x="133350" y="9059761"/>
                </a:lnTo>
                <a:lnTo>
                  <a:pt x="133350" y="9068892"/>
                </a:lnTo>
                <a:lnTo>
                  <a:pt x="7029450" y="9068892"/>
                </a:lnTo>
                <a:lnTo>
                  <a:pt x="7029450" y="9059761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BF40B2C-13AA-9DE1-A077-162953A28BAA}"/>
              </a:ext>
            </a:extLst>
          </p:cNvPr>
          <p:cNvSpPr txBox="1"/>
          <p:nvPr/>
        </p:nvSpPr>
        <p:spPr>
          <a:xfrm>
            <a:off x="2272347" y="347352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6082" y="438403"/>
            <a:ext cx="23818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Stock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Market Price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GRU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065022"/>
            <a:ext cx="6656705" cy="359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C.</a:t>
            </a:r>
            <a:r>
              <a:rPr sz="1400" b="1" spc="10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Overall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 marR="8255" indent="-229235">
              <a:lnSpc>
                <a:spcPct val="143300"/>
              </a:lnSpc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 demonstrated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generate </a:t>
            </a:r>
            <a:r>
              <a:rPr sz="1200" dirty="0">
                <a:latin typeface="Times New Roman"/>
                <a:cs typeface="Times New Roman"/>
              </a:rPr>
              <a:t>meaningful,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insights.</a:t>
            </a:r>
            <a:endParaRPr sz="1200">
              <a:latin typeface="Times New Roman"/>
              <a:cs typeface="Times New Roman"/>
            </a:endParaRPr>
          </a:p>
          <a:p>
            <a:pPr marL="241300" marR="6985" indent="-229235">
              <a:lnSpc>
                <a:spcPct val="1433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high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accuracy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interpretability,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reliable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purposes.</a:t>
            </a:r>
            <a:endParaRPr sz="1200">
              <a:latin typeface="Times New Roman"/>
              <a:cs typeface="Times New Roman"/>
            </a:endParaRPr>
          </a:p>
          <a:p>
            <a:pPr marL="241300" marR="6350" indent="-229235">
              <a:lnSpc>
                <a:spcPct val="143300"/>
              </a:lnSpc>
              <a:spcBef>
                <a:spcPts val="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A complete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automated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pipeline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efficiency.</a:t>
            </a:r>
            <a:endParaRPr sz="1200">
              <a:latin typeface="Times New Roman"/>
              <a:cs typeface="Times New Roman"/>
            </a:endParaRPr>
          </a:p>
          <a:p>
            <a:pPr marL="241300" marR="6985" indent="-229235">
              <a:lnSpc>
                <a:spcPct val="143300"/>
              </a:lnSpc>
              <a:spcBef>
                <a:spcPts val="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ensemble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models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like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XGBoost</a:t>
            </a:r>
            <a:r>
              <a:rPr sz="1200" b="1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 generalization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algorithms.</a:t>
            </a:r>
            <a:endParaRPr sz="12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433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bridged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theoretical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knowledge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practical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implementation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hands-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end-to-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43300"/>
              </a:lnSpc>
              <a:spcBef>
                <a:spcPts val="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showcased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AI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machine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techniques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historical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datasets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6995160" y="9010205"/>
                </a:moveTo>
                <a:lnTo>
                  <a:pt x="99060" y="9010205"/>
                </a:lnTo>
                <a:lnTo>
                  <a:pt x="99060" y="9019337"/>
                </a:lnTo>
                <a:lnTo>
                  <a:pt x="6995160" y="9019337"/>
                </a:lnTo>
                <a:lnTo>
                  <a:pt x="6995160" y="9010205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76140" y="7003542"/>
            <a:ext cx="2932430" cy="196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latin typeface="Times New Roman"/>
                <a:cs typeface="Times New Roman"/>
              </a:rPr>
              <a:t>8.</a:t>
            </a:r>
            <a:endParaRPr sz="4800">
              <a:latin typeface="Times New Roman"/>
              <a:cs typeface="Times New Roman"/>
            </a:endParaRPr>
          </a:p>
          <a:p>
            <a:pPr marR="6985" algn="r">
              <a:lnSpc>
                <a:spcPct val="100000"/>
              </a:lnSpc>
              <a:spcBef>
                <a:spcPts val="3719"/>
              </a:spcBef>
            </a:pPr>
            <a:r>
              <a:rPr sz="4800" b="1" spc="-10" dirty="0">
                <a:latin typeface="Times New Roman"/>
                <a:cs typeface="Times New Roman"/>
              </a:rPr>
              <a:t>Conclusion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9112453"/>
                </a:moveTo>
                <a:lnTo>
                  <a:pt x="133985" y="9112453"/>
                </a:lnTo>
                <a:lnTo>
                  <a:pt x="133985" y="9121584"/>
                </a:lnTo>
                <a:lnTo>
                  <a:pt x="7030085" y="9121584"/>
                </a:lnTo>
                <a:lnTo>
                  <a:pt x="7030085" y="9112453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846B4E0-4465-6C7D-AB8B-BCEEEAD4D246}"/>
              </a:ext>
            </a:extLst>
          </p:cNvPr>
          <p:cNvSpPr txBox="1"/>
          <p:nvPr/>
        </p:nvSpPr>
        <p:spPr>
          <a:xfrm>
            <a:off x="2447352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3100" y="1110741"/>
            <a:ext cx="6428740" cy="2656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1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“Titanic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Survival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using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Learning”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 </a:t>
            </a:r>
            <a:r>
              <a:rPr sz="1200" dirty="0">
                <a:latin typeface="Times New Roman"/>
                <a:cs typeface="Times New Roman"/>
              </a:rPr>
              <a:t>use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supervised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 techniques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predictive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 </a:t>
            </a:r>
            <a:r>
              <a:rPr sz="1200" spc="-10" dirty="0">
                <a:latin typeface="Times New Roman"/>
                <a:cs typeface="Times New Roman"/>
              </a:rPr>
              <a:t>applying </a:t>
            </a:r>
            <a:r>
              <a:rPr sz="1200" dirty="0">
                <a:latin typeface="Times New Roman"/>
                <a:cs typeface="Times New Roman"/>
              </a:rPr>
              <a:t>systematic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showcasing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decision-making.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Logistic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Regression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Random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Forest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XGBoost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key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influencing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survival,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delivering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Engineered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like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family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fare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socio-</a:t>
            </a:r>
            <a:r>
              <a:rPr sz="1200" dirty="0">
                <a:latin typeface="Times New Roman"/>
                <a:cs typeface="Times New Roman"/>
              </a:rPr>
              <a:t>economic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demographic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interpretability. Overall,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highlights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uncover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hidden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end- </a:t>
            </a:r>
            <a:r>
              <a:rPr sz="1200" spc="-10" dirty="0">
                <a:latin typeface="Times New Roman"/>
                <a:cs typeface="Times New Roman"/>
              </a:rPr>
              <a:t>to-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48500" y="9024798"/>
                </a:moveTo>
                <a:lnTo>
                  <a:pt x="152400" y="9024798"/>
                </a:lnTo>
                <a:lnTo>
                  <a:pt x="152400" y="9033929"/>
                </a:lnTo>
                <a:lnTo>
                  <a:pt x="7048500" y="9033929"/>
                </a:lnTo>
                <a:lnTo>
                  <a:pt x="7048500" y="9024798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2738210-C2D0-1674-6676-ECE1680F0E8E}"/>
              </a:ext>
            </a:extLst>
          </p:cNvPr>
          <p:cNvSpPr txBox="1"/>
          <p:nvPr/>
        </p:nvSpPr>
        <p:spPr>
          <a:xfrm>
            <a:off x="2157412" y="339182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47769" y="7003542"/>
            <a:ext cx="2860675" cy="196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latin typeface="Times New Roman"/>
                <a:cs typeface="Times New Roman"/>
              </a:rPr>
              <a:t>9.</a:t>
            </a:r>
            <a:endParaRPr sz="48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3719"/>
              </a:spcBef>
            </a:pPr>
            <a:r>
              <a:rPr sz="4800" b="1" spc="-10" dirty="0">
                <a:latin typeface="Times New Roman"/>
                <a:cs typeface="Times New Roman"/>
              </a:rPr>
              <a:t>References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30085" y="8988019"/>
                </a:moveTo>
                <a:lnTo>
                  <a:pt x="133985" y="8988019"/>
                </a:lnTo>
                <a:lnTo>
                  <a:pt x="133985" y="8997150"/>
                </a:lnTo>
                <a:lnTo>
                  <a:pt x="7030085" y="8997150"/>
                </a:lnTo>
                <a:lnTo>
                  <a:pt x="7030085" y="8988019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C1C27EC-F46D-7F2E-4AE0-2D3C251EFCB0}"/>
              </a:ext>
            </a:extLst>
          </p:cNvPr>
          <p:cNvSpPr txBox="1"/>
          <p:nvPr/>
        </p:nvSpPr>
        <p:spPr>
          <a:xfrm>
            <a:off x="2518981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512" y="535975"/>
            <a:ext cx="6429375" cy="5839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6575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latin typeface="Times New Roman"/>
              <a:cs typeface="Times New Roman"/>
            </a:endParaRPr>
          </a:p>
          <a:p>
            <a:pPr marL="1806575">
              <a:lnSpc>
                <a:spcPct val="100000"/>
              </a:lnSpc>
              <a:spcBef>
                <a:spcPts val="100"/>
              </a:spcBef>
            </a:pPr>
            <a:endParaRPr lang="en-IN" sz="1100" dirty="0">
              <a:latin typeface="Times New Roman"/>
              <a:cs typeface="Times New Roman"/>
            </a:endParaRPr>
          </a:p>
          <a:p>
            <a:pPr marL="1806575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8890" indent="410845">
              <a:lnSpc>
                <a:spcPct val="143300"/>
              </a:lnSpc>
              <a:spcBef>
                <a:spcPts val="5"/>
              </a:spcBef>
              <a:buAutoNum type="arabicPlain"/>
              <a:tabLst>
                <a:tab pos="423545" algn="l"/>
                <a:tab pos="1135380" algn="l"/>
                <a:tab pos="1853564" algn="l"/>
                <a:tab pos="2620010" algn="l"/>
                <a:tab pos="3414395" algn="l"/>
                <a:tab pos="3937000" algn="l"/>
                <a:tab pos="4686935" algn="l"/>
                <a:tab pos="5434330" algn="l"/>
                <a:tab pos="6260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Kaggle,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Titanic: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Machine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Learning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20" dirty="0">
                <a:latin typeface="Times New Roman"/>
                <a:cs typeface="Times New Roman"/>
              </a:rPr>
              <a:t>from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Disaster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Dataset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at: </a:t>
            </a:r>
            <a:r>
              <a:rPr sz="1200" spc="-10" dirty="0">
                <a:latin typeface="Times New Roman"/>
                <a:cs typeface="Times New Roman"/>
              </a:rPr>
              <a:t>https:/</a:t>
            </a:r>
            <a:r>
              <a:rPr sz="1200" spc="-10" dirty="0">
                <a:latin typeface="Times New Roman"/>
                <a:cs typeface="Times New Roman"/>
                <a:hlinkClick r:id="rId2"/>
              </a:rPr>
              <a:t>/www.kaggle.com/c/titanic</a:t>
            </a:r>
            <a:endParaRPr sz="1200" dirty="0">
              <a:latin typeface="Times New Roman"/>
              <a:cs typeface="Times New Roman"/>
            </a:endParaRPr>
          </a:p>
          <a:p>
            <a:pPr marL="12700" marR="5080" indent="321310">
              <a:lnSpc>
                <a:spcPct val="143300"/>
              </a:lnSpc>
              <a:spcBef>
                <a:spcPts val="10"/>
              </a:spcBef>
              <a:buAutoNum type="arabicPlain"/>
              <a:tabLst>
                <a:tab pos="334010" algn="l"/>
                <a:tab pos="1190625" algn="l"/>
                <a:tab pos="2313940" algn="l"/>
                <a:tab pos="2990850" algn="l"/>
                <a:tab pos="3696335" algn="l"/>
                <a:tab pos="3959860" algn="l"/>
                <a:tab pos="4575810" algn="l"/>
                <a:tab pos="5312410" algn="l"/>
                <a:tab pos="5609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Scikit-learn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Documentation,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Machine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Learning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25" dirty="0">
                <a:latin typeface="Times New Roman"/>
                <a:cs typeface="Times New Roman"/>
              </a:rPr>
              <a:t>in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Python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at: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https://scikit- learn.org/stable/documentation.html</a:t>
            </a:r>
            <a:endParaRPr sz="1200" dirty="0">
              <a:latin typeface="Times New Roman"/>
              <a:cs typeface="Times New Roman"/>
            </a:endParaRPr>
          </a:p>
          <a:p>
            <a:pPr marL="12700" marR="7620" indent="321310">
              <a:lnSpc>
                <a:spcPct val="143300"/>
              </a:lnSpc>
              <a:spcBef>
                <a:spcPts val="15"/>
              </a:spcBef>
              <a:buAutoNum type="arabicPlain"/>
              <a:tabLst>
                <a:tab pos="334010" algn="l"/>
                <a:tab pos="1054735" algn="l"/>
                <a:tab pos="2176780" algn="l"/>
                <a:tab pos="2827655" algn="l"/>
                <a:tab pos="3522979" algn="l"/>
                <a:tab pos="4210050" algn="l"/>
                <a:tab pos="4970780" algn="l"/>
                <a:tab pos="5525770" algn="l"/>
                <a:tab pos="6261735" algn="l"/>
              </a:tabLst>
            </a:pPr>
            <a:r>
              <a:rPr sz="1200" spc="-10" dirty="0">
                <a:latin typeface="Times New Roman"/>
                <a:cs typeface="Times New Roman"/>
              </a:rPr>
              <a:t>XGBoost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Documentation,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Extreme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Gradient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Boosting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Algorithm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Guide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at: </a:t>
            </a:r>
            <a:r>
              <a:rPr sz="1200" spc="-10" dirty="0">
                <a:latin typeface="Times New Roman"/>
                <a:cs typeface="Times New Roman"/>
              </a:rPr>
              <a:t>https://xgboost.readthedocs.io/</a:t>
            </a:r>
            <a:endParaRPr sz="1200" dirty="0">
              <a:latin typeface="Times New Roman"/>
              <a:cs typeface="Times New Roman"/>
            </a:endParaRPr>
          </a:p>
          <a:p>
            <a:pPr marL="12700" marR="5715" indent="241300">
              <a:lnSpc>
                <a:spcPts val="2080"/>
              </a:lnSpc>
              <a:spcBef>
                <a:spcPts val="160"/>
              </a:spcBef>
              <a:buAutoNum type="arabicPlain"/>
              <a:tabLst>
                <a:tab pos="254000" algn="l"/>
              </a:tabLst>
            </a:pPr>
            <a:r>
              <a:rPr sz="1200" dirty="0">
                <a:latin typeface="Times New Roman"/>
                <a:cs typeface="Times New Roman"/>
              </a:rPr>
              <a:t>Pedregosa,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F.,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“Scikit-</a:t>
            </a:r>
            <a:r>
              <a:rPr sz="1200" dirty="0">
                <a:latin typeface="Times New Roman"/>
                <a:cs typeface="Times New Roman"/>
              </a:rPr>
              <a:t>learn: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Python,”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Journal</a:t>
            </a:r>
            <a:r>
              <a:rPr sz="1200" i="1" spc="19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19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Machine</a:t>
            </a:r>
            <a:r>
              <a:rPr sz="1200" i="1" spc="18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Learning </a:t>
            </a:r>
            <a:r>
              <a:rPr sz="1200" i="1" dirty="0">
                <a:latin typeface="Times New Roman"/>
                <a:cs typeface="Times New Roman"/>
              </a:rPr>
              <a:t>Research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pp.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2825–2830,</a:t>
            </a:r>
            <a:r>
              <a:rPr sz="1200" spc="-10" dirty="0">
                <a:latin typeface="Times New Roman"/>
                <a:cs typeface="Times New Roman"/>
              </a:rPr>
              <a:t> 2011.</a:t>
            </a:r>
            <a:endParaRPr sz="1200" dirty="0">
              <a:latin typeface="Times New Roman"/>
              <a:cs typeface="Times New Roman"/>
            </a:endParaRPr>
          </a:p>
          <a:p>
            <a:pPr marL="314960" indent="-302260">
              <a:lnSpc>
                <a:spcPct val="100000"/>
              </a:lnSpc>
              <a:spcBef>
                <a:spcPts val="445"/>
              </a:spcBef>
              <a:buAutoNum type="arabicPlain"/>
              <a:tabLst>
                <a:tab pos="314960" algn="l"/>
                <a:tab pos="1362710" algn="l"/>
                <a:tab pos="1598930" algn="l"/>
              </a:tabLst>
            </a:pPr>
            <a:r>
              <a:rPr sz="1200" dirty="0">
                <a:latin typeface="Times New Roman"/>
                <a:cs typeface="Times New Roman"/>
              </a:rPr>
              <a:t>Waskom,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M.,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et</a:t>
            </a:r>
            <a:r>
              <a:rPr sz="1200" dirty="0">
                <a:latin typeface="Times New Roman"/>
                <a:cs typeface="Times New Roman"/>
              </a:rPr>
              <a:t>	al.,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Seaborn:</a:t>
            </a:r>
            <a:r>
              <a:rPr sz="1200" i="1" spc="18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Statistical</a:t>
            </a:r>
            <a:r>
              <a:rPr sz="1200" i="1" spc="18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18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Visualization</a:t>
            </a:r>
            <a:r>
              <a:rPr sz="1200" i="1" spc="18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18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Python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at: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https://seaborn.pydata.org</a:t>
            </a:r>
            <a:endParaRPr sz="1200" dirty="0">
              <a:latin typeface="Times New Roman"/>
              <a:cs typeface="Times New Roman"/>
            </a:endParaRPr>
          </a:p>
          <a:p>
            <a:pPr marL="12700" marR="6985" indent="213995">
              <a:lnSpc>
                <a:spcPts val="2080"/>
              </a:lnSpc>
              <a:spcBef>
                <a:spcPts val="160"/>
              </a:spcBef>
              <a:buAutoNum type="arabicPlain" startAt="6"/>
              <a:tabLst>
                <a:tab pos="226695" algn="l"/>
              </a:tabLst>
            </a:pPr>
            <a:r>
              <a:rPr sz="1200" dirty="0">
                <a:latin typeface="Times New Roman"/>
                <a:cs typeface="Times New Roman"/>
              </a:rPr>
              <a:t>McKinney,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W.,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Python,”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Proceedings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9th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Python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Science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Conference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2010.</a:t>
            </a:r>
            <a:endParaRPr sz="1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45"/>
              </a:spcBef>
              <a:buAutoNum type="arabicPlain" startAt="6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Chen,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T.,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Guestrin,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C.,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“XGBoost: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Scalable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Boosting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System,”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Proceedings</a:t>
            </a:r>
            <a:r>
              <a:rPr sz="1200" i="1" spc="8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8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6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22nd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i="1" dirty="0">
                <a:latin typeface="Times New Roman"/>
                <a:cs typeface="Times New Roman"/>
              </a:rPr>
              <a:t>ACM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SIGKDD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International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Conference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Knowledge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Discovery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Mining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2016.</a:t>
            </a:r>
            <a:endParaRPr sz="12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625"/>
              </a:spcBef>
              <a:buAutoNum type="arabicPlain" startAt="8"/>
              <a:tabLst>
                <a:tab pos="248285" algn="l"/>
              </a:tabLst>
            </a:pPr>
            <a:r>
              <a:rPr sz="1200" dirty="0">
                <a:latin typeface="Times New Roman"/>
                <a:cs typeface="Times New Roman"/>
              </a:rPr>
              <a:t>Géron,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A.,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Hands-</a:t>
            </a:r>
            <a:r>
              <a:rPr sz="1200" i="1" dirty="0">
                <a:latin typeface="Times New Roman"/>
                <a:cs typeface="Times New Roman"/>
              </a:rPr>
              <a:t>On</a:t>
            </a:r>
            <a:r>
              <a:rPr sz="1200" i="1" spc="16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Machine</a:t>
            </a:r>
            <a:r>
              <a:rPr sz="1200" i="1" spc="1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Learning</a:t>
            </a:r>
            <a:r>
              <a:rPr sz="1200" i="1" spc="1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with</a:t>
            </a:r>
            <a:r>
              <a:rPr sz="1200" i="1" spc="16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Scikit-</a:t>
            </a:r>
            <a:r>
              <a:rPr sz="1200" i="1" dirty="0">
                <a:latin typeface="Times New Roman"/>
                <a:cs typeface="Times New Roman"/>
              </a:rPr>
              <a:t>Learn,</a:t>
            </a:r>
            <a:r>
              <a:rPr sz="1200" i="1" spc="16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Keras,</a:t>
            </a:r>
            <a:r>
              <a:rPr sz="1200" i="1" spc="1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16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TensorFlow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2nd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Edition,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O’Reilly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2019.</a:t>
            </a:r>
            <a:endParaRPr sz="1200" dirty="0">
              <a:latin typeface="Times New Roman"/>
              <a:cs typeface="Times New Roman"/>
            </a:endParaRPr>
          </a:p>
          <a:p>
            <a:pPr marL="12700" marR="6985" indent="213995">
              <a:lnSpc>
                <a:spcPts val="2080"/>
              </a:lnSpc>
              <a:spcBef>
                <a:spcPts val="165"/>
              </a:spcBef>
              <a:buAutoNum type="arabicPlain" startAt="9"/>
              <a:tabLst>
                <a:tab pos="226695" algn="l"/>
              </a:tabLst>
            </a:pPr>
            <a:r>
              <a:rPr sz="1200" dirty="0">
                <a:latin typeface="Times New Roman"/>
                <a:cs typeface="Times New Roman"/>
              </a:rPr>
              <a:t>Hunter,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D.,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“Matplotlib: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Graphics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Environment,”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Computing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Science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&amp;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Engineering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Vol. </a:t>
            </a:r>
            <a:r>
              <a:rPr sz="1200" dirty="0">
                <a:latin typeface="Times New Roman"/>
                <a:cs typeface="Times New Roman"/>
              </a:rPr>
              <a:t>9, No.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3, pp. 90–95, </a:t>
            </a:r>
            <a:r>
              <a:rPr sz="1200" spc="-20" dirty="0">
                <a:latin typeface="Times New Roman"/>
                <a:cs typeface="Times New Roman"/>
              </a:rPr>
              <a:t>2007.</a:t>
            </a:r>
            <a:endParaRPr sz="1200" dirty="0">
              <a:latin typeface="Times New Roman"/>
              <a:cs typeface="Times New Roman"/>
            </a:endParaRPr>
          </a:p>
          <a:p>
            <a:pPr marL="359410" indent="-346710">
              <a:lnSpc>
                <a:spcPct val="100000"/>
              </a:lnSpc>
              <a:spcBef>
                <a:spcPts val="440"/>
              </a:spcBef>
              <a:buAutoNum type="arabicPlain" startAt="9"/>
              <a:tabLst>
                <a:tab pos="359410" algn="l"/>
              </a:tabLst>
            </a:pPr>
            <a:r>
              <a:rPr sz="1200" dirty="0">
                <a:latin typeface="Times New Roman"/>
                <a:cs typeface="Times New Roman"/>
              </a:rPr>
              <a:t>Titanic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Research,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“Exploring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Approaches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Survival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Prediction,”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International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Journal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Science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Analytics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2021.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048500" y="9025560"/>
                </a:moveTo>
                <a:lnTo>
                  <a:pt x="152400" y="9025560"/>
                </a:lnTo>
                <a:lnTo>
                  <a:pt x="152400" y="9034691"/>
                </a:lnTo>
                <a:lnTo>
                  <a:pt x="7048500" y="9034691"/>
                </a:lnTo>
                <a:lnTo>
                  <a:pt x="7048500" y="9025560"/>
                </a:lnTo>
                <a:close/>
              </a:path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Computer</a:t>
            </a:r>
            <a:r>
              <a:rPr spc="-50" dirty="0"/>
              <a:t> </a:t>
            </a:r>
            <a:r>
              <a:rPr spc="-10" dirty="0"/>
              <a:t>Engineering,</a:t>
            </a:r>
            <a:r>
              <a:rPr spc="-35" dirty="0"/>
              <a:t> </a:t>
            </a:r>
            <a:r>
              <a:rPr dirty="0"/>
              <a:t>PESMCOE,</a:t>
            </a:r>
            <a:r>
              <a:rPr spc="-30" dirty="0"/>
              <a:t> </a:t>
            </a:r>
            <a:r>
              <a:rPr spc="-20" dirty="0"/>
              <a:t>Pune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2EC7A43-7AE5-3B43-D372-075484852538}"/>
              </a:ext>
            </a:extLst>
          </p:cNvPr>
          <p:cNvSpPr txBox="1"/>
          <p:nvPr/>
        </p:nvSpPr>
        <p:spPr>
          <a:xfrm>
            <a:off x="2387903" y="353874"/>
            <a:ext cx="34575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imes New Roman"/>
                <a:cs typeface="Times New Roman"/>
              </a:rPr>
              <a:t>Titanic Survival Prediction using Machine Learning Pipeline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5412</Words>
  <Application>Microsoft Office PowerPoint</Application>
  <PresentationFormat>Custom</PresentationFormat>
  <Paragraphs>425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Table of Contents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</vt:lpstr>
      <vt:lpstr>PowerPoint Presentation</vt:lpstr>
      <vt:lpstr>PowerPoint Presentation</vt:lpstr>
      <vt:lpstr>7.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ai_final_31029[1]</dc:title>
  <dc:creator>HP</dc:creator>
  <cp:lastModifiedBy>VEDANT BHOR</cp:lastModifiedBy>
  <cp:revision>2</cp:revision>
  <dcterms:created xsi:type="dcterms:W3CDTF">2025-11-01T05:59:26Z</dcterms:created>
  <dcterms:modified xsi:type="dcterms:W3CDTF">2025-11-01T06:21:28Z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2025-11-01T00:00:00Z</vt:filetime>
  </property>
  <property fmtid="{D5CDD505-2E9C-101B-9397-08002B2CF9AE}" pid="5" name="Producer">
    <vt:lpwstr>Microsoft® Word 2021</vt:lpwstr>
  </property>
</Properties>
</file>