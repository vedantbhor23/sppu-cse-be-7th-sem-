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sldSz cx="7772400" cy="10058400"/>
  <p:notesSz cx="7772400" cy="100584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52" d="100"/>
          <a:sy n="52" d="100"/>
        </p:scale>
        <p:origin x="2506" y="58"/>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368675" cy="504825"/>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4402138" y="0"/>
            <a:ext cx="3368675" cy="504825"/>
          </a:xfrm>
          <a:prstGeom prst="rect">
            <a:avLst/>
          </a:prstGeom>
        </p:spPr>
        <p:txBody>
          <a:bodyPr vert="horz" lIns="91440" tIns="45720" rIns="91440" bIns="45720" rtlCol="0"/>
          <a:lstStyle>
            <a:lvl1pPr algn="r">
              <a:defRPr sz="1200"/>
            </a:lvl1pPr>
          </a:lstStyle>
          <a:p>
            <a:fld id="{A96A7F0B-D382-4EBD-A43D-B1B6B2CF187E}" type="datetimeFigureOut">
              <a:rPr lang="en-IN" smtClean="0"/>
              <a:t>31-10-2025</a:t>
            </a:fld>
            <a:endParaRPr lang="en-IN"/>
          </a:p>
        </p:txBody>
      </p:sp>
      <p:sp>
        <p:nvSpPr>
          <p:cNvPr id="4" name="Slide Image Placeholder 3"/>
          <p:cNvSpPr>
            <a:spLocks noGrp="1" noRot="1" noChangeAspect="1"/>
          </p:cNvSpPr>
          <p:nvPr>
            <p:ph type="sldImg" idx="2"/>
          </p:nvPr>
        </p:nvSpPr>
        <p:spPr>
          <a:xfrm>
            <a:off x="2574925" y="1257300"/>
            <a:ext cx="2622550" cy="3394075"/>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777875" y="4840288"/>
            <a:ext cx="6216650" cy="3960812"/>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9553575"/>
            <a:ext cx="3368675" cy="504825"/>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4402138" y="9553575"/>
            <a:ext cx="3368675" cy="504825"/>
          </a:xfrm>
          <a:prstGeom prst="rect">
            <a:avLst/>
          </a:prstGeom>
        </p:spPr>
        <p:txBody>
          <a:bodyPr vert="horz" lIns="91440" tIns="45720" rIns="91440" bIns="45720" rtlCol="0" anchor="b"/>
          <a:lstStyle>
            <a:lvl1pPr algn="r">
              <a:defRPr sz="1200"/>
            </a:lvl1pPr>
          </a:lstStyle>
          <a:p>
            <a:fld id="{1BD4476B-9E6E-4429-B940-C95400318FC3}" type="slidenum">
              <a:rPr lang="en-IN" smtClean="0"/>
              <a:t>‹#›</a:t>
            </a:fld>
            <a:endParaRPr lang="en-IN"/>
          </a:p>
        </p:txBody>
      </p:sp>
    </p:spTree>
    <p:extLst>
      <p:ext uri="{BB962C8B-B14F-4D97-AF65-F5344CB8AC3E}">
        <p14:creationId xmlns:p14="http://schemas.microsoft.com/office/powerpoint/2010/main" val="29221483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BD4476B-9E6E-4429-B940-C95400318FC3}" type="slidenum">
              <a:rPr lang="en-IN" smtClean="0"/>
              <a:t>10</a:t>
            </a:fld>
            <a:endParaRPr lang="en-IN"/>
          </a:p>
        </p:txBody>
      </p:sp>
    </p:spTree>
    <p:extLst>
      <p:ext uri="{BB962C8B-B14F-4D97-AF65-F5344CB8AC3E}">
        <p14:creationId xmlns:p14="http://schemas.microsoft.com/office/powerpoint/2010/main" val="356680084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582930" y="3118104"/>
            <a:ext cx="6606540" cy="2112264"/>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1165860" y="5632704"/>
            <a:ext cx="5440680" cy="25146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defRPr sz="1250" b="0" i="0">
                <a:solidFill>
                  <a:schemeClr val="tx1"/>
                </a:solidFill>
                <a:latin typeface="Times New Roman"/>
                <a:cs typeface="Times New Roman"/>
              </a:defRPr>
            </a:lvl1pPr>
          </a:lstStyle>
          <a:p>
            <a:pPr marL="12700">
              <a:lnSpc>
                <a:spcPts val="1460"/>
              </a:lnSpc>
            </a:pPr>
            <a:r>
              <a:rPr dirty="0"/>
              <a:t>DEPARTMENT</a:t>
            </a:r>
            <a:r>
              <a:rPr spc="-30" dirty="0"/>
              <a:t> </a:t>
            </a:r>
            <a:r>
              <a:rPr dirty="0"/>
              <a:t>OF</a:t>
            </a:r>
            <a:r>
              <a:rPr spc="-40" dirty="0"/>
              <a:t> </a:t>
            </a:r>
            <a:r>
              <a:rPr dirty="0"/>
              <a:t>COMPUTER</a:t>
            </a:r>
            <a:r>
              <a:rPr spc="-45" dirty="0"/>
              <a:t> </a:t>
            </a:r>
            <a:r>
              <a:rPr spc="-10" dirty="0"/>
              <a:t>ENGINEERING,</a:t>
            </a:r>
            <a:r>
              <a:rPr spc="-45" dirty="0"/>
              <a:t> </a:t>
            </a:r>
            <a:r>
              <a:rPr dirty="0"/>
              <a:t>PESMCOE,</a:t>
            </a:r>
            <a:r>
              <a:rPr spc="-40" dirty="0"/>
              <a:t> </a:t>
            </a:r>
            <a:r>
              <a:rPr spc="-10" dirty="0"/>
              <a:t>PUNE:05</a:t>
            </a: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10/31/2025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a:lvl1pPr>
          </a:lstStyle>
          <a:p>
            <a:endParaRPr/>
          </a:p>
        </p:txBody>
      </p:sp>
      <p:sp>
        <p:nvSpPr>
          <p:cNvPr id="3" name="Holder 3"/>
          <p:cNvSpPr>
            <a:spLocks noGrp="1"/>
          </p:cNvSpPr>
          <p:nvPr>
            <p:ph type="body" idx="1"/>
          </p:nvPr>
        </p:nvSpPr>
        <p:spPr/>
        <p:txBody>
          <a:bodyPr lIns="0" tIns="0" rIns="0" bIns="0"/>
          <a:lstStyle>
            <a:lvl1pPr>
              <a:defRPr/>
            </a:lvl1pPr>
          </a:lstStyle>
          <a:p>
            <a:endParaRPr/>
          </a:p>
        </p:txBody>
      </p:sp>
      <p:sp>
        <p:nvSpPr>
          <p:cNvPr id="4" name="Holder 4"/>
          <p:cNvSpPr>
            <a:spLocks noGrp="1"/>
          </p:cNvSpPr>
          <p:nvPr>
            <p:ph type="ftr" sz="quarter" idx="5"/>
          </p:nvPr>
        </p:nvSpPr>
        <p:spPr/>
        <p:txBody>
          <a:bodyPr lIns="0" tIns="0" rIns="0" bIns="0"/>
          <a:lstStyle>
            <a:lvl1pPr>
              <a:defRPr sz="1250" b="0" i="0">
                <a:solidFill>
                  <a:schemeClr val="tx1"/>
                </a:solidFill>
                <a:latin typeface="Times New Roman"/>
                <a:cs typeface="Times New Roman"/>
              </a:defRPr>
            </a:lvl1pPr>
          </a:lstStyle>
          <a:p>
            <a:pPr marL="12700">
              <a:lnSpc>
                <a:spcPts val="1460"/>
              </a:lnSpc>
            </a:pPr>
            <a:r>
              <a:rPr dirty="0"/>
              <a:t>DEPARTMENT</a:t>
            </a:r>
            <a:r>
              <a:rPr spc="-30" dirty="0"/>
              <a:t> </a:t>
            </a:r>
            <a:r>
              <a:rPr dirty="0"/>
              <a:t>OF</a:t>
            </a:r>
            <a:r>
              <a:rPr spc="-40" dirty="0"/>
              <a:t> </a:t>
            </a:r>
            <a:r>
              <a:rPr dirty="0"/>
              <a:t>COMPUTER</a:t>
            </a:r>
            <a:r>
              <a:rPr spc="-45" dirty="0"/>
              <a:t> </a:t>
            </a:r>
            <a:r>
              <a:rPr spc="-10" dirty="0"/>
              <a:t>ENGINEERING,</a:t>
            </a:r>
            <a:r>
              <a:rPr spc="-45" dirty="0"/>
              <a:t> </a:t>
            </a:r>
            <a:r>
              <a:rPr dirty="0"/>
              <a:t>PESMCOE,</a:t>
            </a:r>
            <a:r>
              <a:rPr spc="-40" dirty="0"/>
              <a:t> </a:t>
            </a:r>
            <a:r>
              <a:rPr spc="-10" dirty="0"/>
              <a:t>PUNE:05</a:t>
            </a: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10/31/2025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a:lvl1pPr>
          </a:lstStyle>
          <a:p>
            <a:endParaRPr/>
          </a:p>
        </p:txBody>
      </p:sp>
      <p:sp>
        <p:nvSpPr>
          <p:cNvPr id="3" name="Holder 3"/>
          <p:cNvSpPr>
            <a:spLocks noGrp="1"/>
          </p:cNvSpPr>
          <p:nvPr>
            <p:ph sz="half" idx="2"/>
          </p:nvPr>
        </p:nvSpPr>
        <p:spPr>
          <a:xfrm>
            <a:off x="388620" y="2313432"/>
            <a:ext cx="3380994" cy="6638544"/>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002786" y="2313432"/>
            <a:ext cx="3380994" cy="6638544"/>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1250" b="0" i="0">
                <a:solidFill>
                  <a:schemeClr val="tx1"/>
                </a:solidFill>
                <a:latin typeface="Times New Roman"/>
                <a:cs typeface="Times New Roman"/>
              </a:defRPr>
            </a:lvl1pPr>
          </a:lstStyle>
          <a:p>
            <a:pPr marL="12700">
              <a:lnSpc>
                <a:spcPts val="1460"/>
              </a:lnSpc>
            </a:pPr>
            <a:r>
              <a:rPr dirty="0"/>
              <a:t>DEPARTMENT</a:t>
            </a:r>
            <a:r>
              <a:rPr spc="-30" dirty="0"/>
              <a:t> </a:t>
            </a:r>
            <a:r>
              <a:rPr dirty="0"/>
              <a:t>OF</a:t>
            </a:r>
            <a:r>
              <a:rPr spc="-40" dirty="0"/>
              <a:t> </a:t>
            </a:r>
            <a:r>
              <a:rPr dirty="0"/>
              <a:t>COMPUTER</a:t>
            </a:r>
            <a:r>
              <a:rPr spc="-45" dirty="0"/>
              <a:t> </a:t>
            </a:r>
            <a:r>
              <a:rPr spc="-10" dirty="0"/>
              <a:t>ENGINEERING,</a:t>
            </a:r>
            <a:r>
              <a:rPr spc="-45" dirty="0"/>
              <a:t> </a:t>
            </a:r>
            <a:r>
              <a:rPr dirty="0"/>
              <a:t>PESMCOE,</a:t>
            </a:r>
            <a:r>
              <a:rPr spc="-40" dirty="0"/>
              <a:t> </a:t>
            </a:r>
            <a:r>
              <a:rPr spc="-10" dirty="0"/>
              <a:t>PUNE:05</a:t>
            </a: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10/31/2025</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a:lvl1pPr>
          </a:lstStyle>
          <a:p>
            <a:endParaRPr/>
          </a:p>
        </p:txBody>
      </p:sp>
      <p:sp>
        <p:nvSpPr>
          <p:cNvPr id="3" name="Holder 3"/>
          <p:cNvSpPr>
            <a:spLocks noGrp="1"/>
          </p:cNvSpPr>
          <p:nvPr>
            <p:ph type="ftr" sz="quarter" idx="5"/>
          </p:nvPr>
        </p:nvSpPr>
        <p:spPr/>
        <p:txBody>
          <a:bodyPr lIns="0" tIns="0" rIns="0" bIns="0"/>
          <a:lstStyle>
            <a:lvl1pPr>
              <a:defRPr sz="1250" b="0" i="0">
                <a:solidFill>
                  <a:schemeClr val="tx1"/>
                </a:solidFill>
                <a:latin typeface="Times New Roman"/>
                <a:cs typeface="Times New Roman"/>
              </a:defRPr>
            </a:lvl1pPr>
          </a:lstStyle>
          <a:p>
            <a:pPr marL="12700">
              <a:lnSpc>
                <a:spcPts val="1460"/>
              </a:lnSpc>
            </a:pPr>
            <a:r>
              <a:rPr dirty="0"/>
              <a:t>DEPARTMENT</a:t>
            </a:r>
            <a:r>
              <a:rPr spc="-30" dirty="0"/>
              <a:t> </a:t>
            </a:r>
            <a:r>
              <a:rPr dirty="0"/>
              <a:t>OF</a:t>
            </a:r>
            <a:r>
              <a:rPr spc="-40" dirty="0"/>
              <a:t> </a:t>
            </a:r>
            <a:r>
              <a:rPr dirty="0"/>
              <a:t>COMPUTER</a:t>
            </a:r>
            <a:r>
              <a:rPr spc="-45" dirty="0"/>
              <a:t> </a:t>
            </a:r>
            <a:r>
              <a:rPr spc="-10" dirty="0"/>
              <a:t>ENGINEERING,</a:t>
            </a:r>
            <a:r>
              <a:rPr spc="-45" dirty="0"/>
              <a:t> </a:t>
            </a:r>
            <a:r>
              <a:rPr dirty="0"/>
              <a:t>PESMCOE,</a:t>
            </a:r>
            <a:r>
              <a:rPr spc="-40" dirty="0"/>
              <a:t> </a:t>
            </a:r>
            <a:r>
              <a:rPr spc="-10" dirty="0"/>
              <a:t>PUNE:05</a:t>
            </a: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10/31/2025</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defRPr sz="1250" b="0" i="0">
                <a:solidFill>
                  <a:schemeClr val="tx1"/>
                </a:solidFill>
                <a:latin typeface="Times New Roman"/>
                <a:cs typeface="Times New Roman"/>
              </a:defRPr>
            </a:lvl1pPr>
          </a:lstStyle>
          <a:p>
            <a:pPr marL="12700">
              <a:lnSpc>
                <a:spcPts val="1460"/>
              </a:lnSpc>
            </a:pPr>
            <a:r>
              <a:rPr dirty="0"/>
              <a:t>DEPARTMENT</a:t>
            </a:r>
            <a:r>
              <a:rPr spc="-30" dirty="0"/>
              <a:t> </a:t>
            </a:r>
            <a:r>
              <a:rPr dirty="0"/>
              <a:t>OF</a:t>
            </a:r>
            <a:r>
              <a:rPr spc="-40" dirty="0"/>
              <a:t> </a:t>
            </a:r>
            <a:r>
              <a:rPr dirty="0"/>
              <a:t>COMPUTER</a:t>
            </a:r>
            <a:r>
              <a:rPr spc="-45" dirty="0"/>
              <a:t> </a:t>
            </a:r>
            <a:r>
              <a:rPr spc="-10" dirty="0"/>
              <a:t>ENGINEERING,</a:t>
            </a:r>
            <a:r>
              <a:rPr spc="-45" dirty="0"/>
              <a:t> </a:t>
            </a:r>
            <a:r>
              <a:rPr dirty="0"/>
              <a:t>PESMCOE,</a:t>
            </a:r>
            <a:r>
              <a:rPr spc="-40" dirty="0"/>
              <a:t> </a:t>
            </a:r>
            <a:r>
              <a:rPr spc="-10" dirty="0"/>
              <a:t>PUNE:05</a:t>
            </a: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10/31/2025</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896112" y="652272"/>
            <a:ext cx="5980430" cy="9525"/>
          </a:xfrm>
          <a:custGeom>
            <a:avLst/>
            <a:gdLst/>
            <a:ahLst/>
            <a:cxnLst/>
            <a:rect l="l" t="t" r="r" b="b"/>
            <a:pathLst>
              <a:path w="5980430" h="9525">
                <a:moveTo>
                  <a:pt x="5980175" y="9143"/>
                </a:moveTo>
                <a:lnTo>
                  <a:pt x="0" y="9143"/>
                </a:lnTo>
                <a:lnTo>
                  <a:pt x="0" y="0"/>
                </a:lnTo>
                <a:lnTo>
                  <a:pt x="5980175" y="0"/>
                </a:lnTo>
                <a:lnTo>
                  <a:pt x="5980175" y="9143"/>
                </a:lnTo>
                <a:close/>
              </a:path>
            </a:pathLst>
          </a:custGeom>
          <a:solidFill>
            <a:srgbClr val="000000"/>
          </a:solidFill>
        </p:spPr>
        <p:txBody>
          <a:bodyPr wrap="square" lIns="0" tIns="0" rIns="0" bIns="0" rtlCol="0"/>
          <a:lstStyle/>
          <a:p>
            <a:endParaRPr/>
          </a:p>
        </p:txBody>
      </p:sp>
      <p:sp>
        <p:nvSpPr>
          <p:cNvPr id="17" name="bg object 17"/>
          <p:cNvSpPr/>
          <p:nvPr/>
        </p:nvSpPr>
        <p:spPr>
          <a:xfrm>
            <a:off x="896112" y="9409176"/>
            <a:ext cx="5980430" cy="9525"/>
          </a:xfrm>
          <a:custGeom>
            <a:avLst/>
            <a:gdLst/>
            <a:ahLst/>
            <a:cxnLst/>
            <a:rect l="l" t="t" r="r" b="b"/>
            <a:pathLst>
              <a:path w="5980430" h="9525">
                <a:moveTo>
                  <a:pt x="5980175" y="9143"/>
                </a:moveTo>
                <a:lnTo>
                  <a:pt x="0" y="9143"/>
                </a:lnTo>
                <a:lnTo>
                  <a:pt x="0" y="0"/>
                </a:lnTo>
                <a:lnTo>
                  <a:pt x="5980175" y="0"/>
                </a:lnTo>
                <a:lnTo>
                  <a:pt x="5980175" y="9143"/>
                </a:lnTo>
                <a:close/>
              </a:path>
            </a:pathLst>
          </a:custGeom>
          <a:solidFill>
            <a:srgbClr val="000000"/>
          </a:solidFill>
        </p:spPr>
        <p:txBody>
          <a:bodyPr wrap="square" lIns="0" tIns="0" rIns="0" bIns="0" rtlCol="0"/>
          <a:lstStyle/>
          <a:p>
            <a:endParaRPr/>
          </a:p>
        </p:txBody>
      </p:sp>
      <p:sp>
        <p:nvSpPr>
          <p:cNvPr id="18" name="bg object 18"/>
          <p:cNvSpPr/>
          <p:nvPr/>
        </p:nvSpPr>
        <p:spPr>
          <a:xfrm>
            <a:off x="0" y="365760"/>
            <a:ext cx="914400" cy="182880"/>
          </a:xfrm>
          <a:custGeom>
            <a:avLst/>
            <a:gdLst/>
            <a:ahLst/>
            <a:cxnLst/>
            <a:rect l="l" t="t" r="r" b="b"/>
            <a:pathLst>
              <a:path w="914400" h="182879">
                <a:moveTo>
                  <a:pt x="914400" y="182879"/>
                </a:moveTo>
                <a:lnTo>
                  <a:pt x="0" y="182879"/>
                </a:lnTo>
                <a:lnTo>
                  <a:pt x="0" y="0"/>
                </a:lnTo>
                <a:lnTo>
                  <a:pt x="914400" y="0"/>
                </a:lnTo>
                <a:lnTo>
                  <a:pt x="914400" y="182879"/>
                </a:lnTo>
                <a:close/>
              </a:path>
            </a:pathLst>
          </a:custGeom>
          <a:solidFill>
            <a:srgbClr val="A8D18E"/>
          </a:solidFill>
        </p:spPr>
        <p:txBody>
          <a:bodyPr wrap="square" lIns="0" tIns="0" rIns="0" bIns="0" rtlCol="0"/>
          <a:lstStyle/>
          <a:p>
            <a:endParaRPr/>
          </a:p>
        </p:txBody>
      </p:sp>
      <p:sp>
        <p:nvSpPr>
          <p:cNvPr id="2" name="Holder 2"/>
          <p:cNvSpPr>
            <a:spLocks noGrp="1"/>
          </p:cNvSpPr>
          <p:nvPr>
            <p:ph type="title"/>
          </p:nvPr>
        </p:nvSpPr>
        <p:spPr>
          <a:xfrm>
            <a:off x="388620" y="402336"/>
            <a:ext cx="6995160" cy="1609344"/>
          </a:xfrm>
          <a:prstGeom prst="rect">
            <a:avLst/>
          </a:prstGeom>
        </p:spPr>
        <p:txBody>
          <a:bodyPr wrap="square" lIns="0" tIns="0" rIns="0" bIns="0">
            <a:spAutoFit/>
          </a:bodyPr>
          <a:lstStyle>
            <a:lvl1pPr>
              <a:defRPr/>
            </a:lvl1pPr>
          </a:lstStyle>
          <a:p>
            <a:endParaRPr/>
          </a:p>
        </p:txBody>
      </p:sp>
      <p:sp>
        <p:nvSpPr>
          <p:cNvPr id="3" name="Holder 3"/>
          <p:cNvSpPr>
            <a:spLocks noGrp="1"/>
          </p:cNvSpPr>
          <p:nvPr>
            <p:ph type="body" idx="1"/>
          </p:nvPr>
        </p:nvSpPr>
        <p:spPr>
          <a:xfrm>
            <a:off x="388620" y="2313432"/>
            <a:ext cx="6995160" cy="6638544"/>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1454912" y="9412477"/>
            <a:ext cx="4857750" cy="200659"/>
          </a:xfrm>
          <a:prstGeom prst="rect">
            <a:avLst/>
          </a:prstGeom>
        </p:spPr>
        <p:txBody>
          <a:bodyPr wrap="square" lIns="0" tIns="0" rIns="0" bIns="0">
            <a:spAutoFit/>
          </a:bodyPr>
          <a:lstStyle>
            <a:lvl1pPr>
              <a:defRPr sz="1250" b="0" i="0">
                <a:solidFill>
                  <a:schemeClr val="tx1"/>
                </a:solidFill>
                <a:latin typeface="Times New Roman"/>
                <a:cs typeface="Times New Roman"/>
              </a:defRPr>
            </a:lvl1pPr>
          </a:lstStyle>
          <a:p>
            <a:pPr marL="12700">
              <a:lnSpc>
                <a:spcPts val="1460"/>
              </a:lnSpc>
            </a:pPr>
            <a:r>
              <a:rPr dirty="0"/>
              <a:t>DEPARTMENT</a:t>
            </a:r>
            <a:r>
              <a:rPr spc="-30" dirty="0"/>
              <a:t> </a:t>
            </a:r>
            <a:r>
              <a:rPr dirty="0"/>
              <a:t>OF</a:t>
            </a:r>
            <a:r>
              <a:rPr spc="-40" dirty="0"/>
              <a:t> </a:t>
            </a:r>
            <a:r>
              <a:rPr dirty="0"/>
              <a:t>COMPUTER</a:t>
            </a:r>
            <a:r>
              <a:rPr spc="-45" dirty="0"/>
              <a:t> </a:t>
            </a:r>
            <a:r>
              <a:rPr spc="-10" dirty="0"/>
              <a:t>ENGINEERING,</a:t>
            </a:r>
            <a:r>
              <a:rPr spc="-45" dirty="0"/>
              <a:t> </a:t>
            </a:r>
            <a:r>
              <a:rPr dirty="0"/>
              <a:t>PESMCOE,</a:t>
            </a:r>
            <a:r>
              <a:rPr spc="-40" dirty="0"/>
              <a:t> </a:t>
            </a:r>
            <a:r>
              <a:rPr spc="-10" dirty="0"/>
              <a:t>PUNE:05</a:t>
            </a:r>
          </a:p>
        </p:txBody>
      </p:sp>
      <p:sp>
        <p:nvSpPr>
          <p:cNvPr id="5" name="Holder 5"/>
          <p:cNvSpPr>
            <a:spLocks noGrp="1"/>
          </p:cNvSpPr>
          <p:nvPr>
            <p:ph type="dt" sz="half" idx="6"/>
          </p:nvPr>
        </p:nvSpPr>
        <p:spPr>
          <a:xfrm>
            <a:off x="388620" y="9354312"/>
            <a:ext cx="1787652" cy="50292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10/31/2025</a:t>
            </a:fld>
            <a:endParaRPr lang="en-US"/>
          </a:p>
        </p:txBody>
      </p:sp>
      <p:sp>
        <p:nvSpPr>
          <p:cNvPr id="6" name="Holder 6"/>
          <p:cNvSpPr>
            <a:spLocks noGrp="1"/>
          </p:cNvSpPr>
          <p:nvPr>
            <p:ph type="sldNum" sz="quarter" idx="7"/>
          </p:nvPr>
        </p:nvSpPr>
        <p:spPr>
          <a:xfrm>
            <a:off x="5596128" y="9354312"/>
            <a:ext cx="1787652" cy="50292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438912" y="9409176"/>
            <a:ext cx="6894830" cy="9525"/>
          </a:xfrm>
          <a:custGeom>
            <a:avLst/>
            <a:gdLst/>
            <a:ahLst/>
            <a:cxnLst/>
            <a:rect l="l" t="t" r="r" b="b"/>
            <a:pathLst>
              <a:path w="6894830" h="9525">
                <a:moveTo>
                  <a:pt x="6894575" y="9143"/>
                </a:moveTo>
                <a:lnTo>
                  <a:pt x="0" y="9143"/>
                </a:lnTo>
                <a:lnTo>
                  <a:pt x="0" y="0"/>
                </a:lnTo>
                <a:lnTo>
                  <a:pt x="6894575" y="0"/>
                </a:lnTo>
                <a:lnTo>
                  <a:pt x="6894575" y="9143"/>
                </a:lnTo>
                <a:close/>
              </a:path>
            </a:pathLst>
          </a:custGeom>
          <a:solidFill>
            <a:srgbClr val="000000"/>
          </a:solidFill>
        </p:spPr>
        <p:txBody>
          <a:bodyPr wrap="square" lIns="0" tIns="0" rIns="0" bIns="0" rtlCol="0"/>
          <a:lstStyle/>
          <a:p>
            <a:endParaRPr/>
          </a:p>
        </p:txBody>
      </p:sp>
      <p:sp>
        <p:nvSpPr>
          <p:cNvPr id="3" name="object 3"/>
          <p:cNvSpPr txBox="1"/>
          <p:nvPr/>
        </p:nvSpPr>
        <p:spPr>
          <a:xfrm>
            <a:off x="828547" y="903561"/>
            <a:ext cx="6110605" cy="3955698"/>
          </a:xfrm>
          <a:prstGeom prst="rect">
            <a:avLst/>
          </a:prstGeom>
        </p:spPr>
        <p:txBody>
          <a:bodyPr vert="horz" wrap="square" lIns="0" tIns="12700" rIns="0" bIns="0" rtlCol="0">
            <a:spAutoFit/>
          </a:bodyPr>
          <a:lstStyle/>
          <a:p>
            <a:pPr marL="3175" algn="ctr">
              <a:lnSpc>
                <a:spcPct val="100000"/>
              </a:lnSpc>
              <a:spcBef>
                <a:spcPts val="100"/>
              </a:spcBef>
            </a:pPr>
            <a:r>
              <a:rPr sz="1400" dirty="0">
                <a:latin typeface="Times New Roman"/>
                <a:cs typeface="Times New Roman"/>
              </a:rPr>
              <a:t>A</a:t>
            </a:r>
            <a:r>
              <a:rPr sz="1400" spc="-30" dirty="0">
                <a:latin typeface="Times New Roman"/>
                <a:cs typeface="Times New Roman"/>
              </a:rPr>
              <a:t> </a:t>
            </a:r>
            <a:r>
              <a:rPr sz="1400" dirty="0">
                <a:latin typeface="Times New Roman"/>
                <a:cs typeface="Times New Roman"/>
              </a:rPr>
              <a:t>MINI</a:t>
            </a:r>
            <a:r>
              <a:rPr sz="1400" spc="-40" dirty="0">
                <a:latin typeface="Times New Roman"/>
                <a:cs typeface="Times New Roman"/>
              </a:rPr>
              <a:t> </a:t>
            </a:r>
            <a:r>
              <a:rPr sz="1400" dirty="0">
                <a:latin typeface="Times New Roman"/>
                <a:cs typeface="Times New Roman"/>
              </a:rPr>
              <a:t>PROJECT</a:t>
            </a:r>
            <a:r>
              <a:rPr sz="1400" spc="-25" dirty="0">
                <a:latin typeface="Times New Roman"/>
                <a:cs typeface="Times New Roman"/>
              </a:rPr>
              <a:t> </a:t>
            </a:r>
            <a:r>
              <a:rPr sz="1400" dirty="0">
                <a:latin typeface="Times New Roman"/>
                <a:cs typeface="Times New Roman"/>
              </a:rPr>
              <a:t>REPORT</a:t>
            </a:r>
            <a:r>
              <a:rPr sz="1400" spc="-45" dirty="0">
                <a:latin typeface="Times New Roman"/>
                <a:cs typeface="Times New Roman"/>
              </a:rPr>
              <a:t> </a:t>
            </a:r>
            <a:r>
              <a:rPr sz="1400" spc="-25" dirty="0">
                <a:latin typeface="Times New Roman"/>
                <a:cs typeface="Times New Roman"/>
              </a:rPr>
              <a:t>ON</a:t>
            </a:r>
            <a:endParaRPr sz="1400" dirty="0">
              <a:latin typeface="Times New Roman"/>
              <a:cs typeface="Times New Roman"/>
            </a:endParaRPr>
          </a:p>
          <a:p>
            <a:pPr>
              <a:lnSpc>
                <a:spcPct val="100000"/>
              </a:lnSpc>
              <a:spcBef>
                <a:spcPts val="675"/>
              </a:spcBef>
            </a:pPr>
            <a:endParaRPr sz="1600" b="1" dirty="0">
              <a:latin typeface="Times New Roman"/>
              <a:cs typeface="Times New Roman"/>
            </a:endParaRPr>
          </a:p>
          <a:p>
            <a:pPr marL="12700" marR="5080" algn="ctr">
              <a:lnSpc>
                <a:spcPct val="110600"/>
              </a:lnSpc>
            </a:pPr>
            <a:r>
              <a:rPr lang="en-US" sz="1600" b="1" dirty="0"/>
              <a:t>"Performance Analysis of Single-Threaded and Multithreaded Merge Sort”</a:t>
            </a:r>
          </a:p>
          <a:p>
            <a:pPr marL="12700" marR="5080" algn="ctr">
              <a:lnSpc>
                <a:spcPct val="110600"/>
              </a:lnSpc>
            </a:pPr>
            <a:endParaRPr lang="en-US" sz="1400" dirty="0">
              <a:latin typeface="Times New Roman"/>
              <a:cs typeface="Times New Roman"/>
            </a:endParaRPr>
          </a:p>
          <a:p>
            <a:pPr marL="12700" marR="5080" algn="ctr">
              <a:lnSpc>
                <a:spcPct val="110600"/>
              </a:lnSpc>
            </a:pPr>
            <a:r>
              <a:rPr sz="1400" dirty="0">
                <a:latin typeface="Times New Roman"/>
                <a:cs typeface="Times New Roman"/>
              </a:rPr>
              <a:t>SUBMITTED</a:t>
            </a:r>
            <a:r>
              <a:rPr sz="1400" spc="-30" dirty="0">
                <a:latin typeface="Times New Roman"/>
                <a:cs typeface="Times New Roman"/>
              </a:rPr>
              <a:t> </a:t>
            </a:r>
            <a:r>
              <a:rPr sz="1400" dirty="0">
                <a:latin typeface="Times New Roman"/>
                <a:cs typeface="Times New Roman"/>
              </a:rPr>
              <a:t>TO</a:t>
            </a:r>
            <a:r>
              <a:rPr sz="1400" spc="-15" dirty="0">
                <a:latin typeface="Times New Roman"/>
                <a:cs typeface="Times New Roman"/>
              </a:rPr>
              <a:t> </a:t>
            </a:r>
            <a:r>
              <a:rPr sz="1400" dirty="0">
                <a:latin typeface="Times New Roman"/>
                <a:cs typeface="Times New Roman"/>
              </a:rPr>
              <a:t>THE</a:t>
            </a:r>
            <a:r>
              <a:rPr sz="1400" spc="-10" dirty="0">
                <a:latin typeface="Times New Roman"/>
                <a:cs typeface="Times New Roman"/>
              </a:rPr>
              <a:t> SAVITRIBAI</a:t>
            </a:r>
            <a:r>
              <a:rPr sz="1400" spc="-40" dirty="0">
                <a:latin typeface="Times New Roman"/>
                <a:cs typeface="Times New Roman"/>
              </a:rPr>
              <a:t> </a:t>
            </a:r>
            <a:r>
              <a:rPr sz="1400" dirty="0">
                <a:latin typeface="Times New Roman"/>
                <a:cs typeface="Times New Roman"/>
              </a:rPr>
              <a:t>PHULE</a:t>
            </a:r>
            <a:r>
              <a:rPr sz="1400" spc="-15" dirty="0">
                <a:latin typeface="Times New Roman"/>
                <a:cs typeface="Times New Roman"/>
              </a:rPr>
              <a:t> </a:t>
            </a:r>
            <a:r>
              <a:rPr sz="1400" dirty="0">
                <a:latin typeface="Times New Roman"/>
                <a:cs typeface="Times New Roman"/>
              </a:rPr>
              <a:t>PUNE</a:t>
            </a:r>
            <a:r>
              <a:rPr sz="1400" spc="-35" dirty="0">
                <a:latin typeface="Times New Roman"/>
                <a:cs typeface="Times New Roman"/>
              </a:rPr>
              <a:t> </a:t>
            </a:r>
            <a:r>
              <a:rPr sz="1400" spc="-10" dirty="0">
                <a:latin typeface="Times New Roman"/>
                <a:cs typeface="Times New Roman"/>
              </a:rPr>
              <a:t>UNIVERSITY,</a:t>
            </a:r>
            <a:r>
              <a:rPr sz="1400" spc="500" dirty="0">
                <a:latin typeface="Times New Roman"/>
                <a:cs typeface="Times New Roman"/>
              </a:rPr>
              <a:t> </a:t>
            </a:r>
            <a:r>
              <a:rPr sz="1400" dirty="0">
                <a:latin typeface="Times New Roman"/>
                <a:cs typeface="Times New Roman"/>
              </a:rPr>
              <a:t>PUNE</a:t>
            </a:r>
            <a:r>
              <a:rPr sz="1400" spc="-25" dirty="0">
                <a:latin typeface="Times New Roman"/>
                <a:cs typeface="Times New Roman"/>
              </a:rPr>
              <a:t> </a:t>
            </a:r>
            <a:r>
              <a:rPr sz="1400" dirty="0">
                <a:latin typeface="Times New Roman"/>
                <a:cs typeface="Times New Roman"/>
              </a:rPr>
              <a:t>IN</a:t>
            </a:r>
            <a:r>
              <a:rPr sz="1400" spc="-35" dirty="0">
                <a:latin typeface="Times New Roman"/>
                <a:cs typeface="Times New Roman"/>
              </a:rPr>
              <a:t> </a:t>
            </a:r>
            <a:r>
              <a:rPr sz="1400" dirty="0">
                <a:latin typeface="Times New Roman"/>
                <a:cs typeface="Times New Roman"/>
              </a:rPr>
              <a:t>THE</a:t>
            </a:r>
            <a:r>
              <a:rPr sz="1400" spc="-20" dirty="0">
                <a:latin typeface="Times New Roman"/>
                <a:cs typeface="Times New Roman"/>
              </a:rPr>
              <a:t> </a:t>
            </a:r>
            <a:r>
              <a:rPr sz="1400" dirty="0">
                <a:latin typeface="Times New Roman"/>
                <a:cs typeface="Times New Roman"/>
              </a:rPr>
              <a:t>PARTIAL</a:t>
            </a:r>
            <a:r>
              <a:rPr sz="1400" spc="-15" dirty="0">
                <a:latin typeface="Times New Roman"/>
                <a:cs typeface="Times New Roman"/>
              </a:rPr>
              <a:t> </a:t>
            </a:r>
            <a:r>
              <a:rPr sz="1400" dirty="0">
                <a:latin typeface="Times New Roman"/>
                <a:cs typeface="Times New Roman"/>
              </a:rPr>
              <a:t>FULFILLMENT</a:t>
            </a:r>
            <a:r>
              <a:rPr sz="1400" spc="-20" dirty="0">
                <a:latin typeface="Times New Roman"/>
                <a:cs typeface="Times New Roman"/>
              </a:rPr>
              <a:t> </a:t>
            </a:r>
            <a:r>
              <a:rPr sz="1400" dirty="0">
                <a:latin typeface="Times New Roman"/>
                <a:cs typeface="Times New Roman"/>
              </a:rPr>
              <a:t>OF</a:t>
            </a:r>
            <a:r>
              <a:rPr sz="1400" spc="-30" dirty="0">
                <a:latin typeface="Times New Roman"/>
                <a:cs typeface="Times New Roman"/>
              </a:rPr>
              <a:t> </a:t>
            </a:r>
            <a:r>
              <a:rPr sz="1400" dirty="0">
                <a:latin typeface="Times New Roman"/>
                <a:cs typeface="Times New Roman"/>
              </a:rPr>
              <a:t>THE</a:t>
            </a:r>
            <a:r>
              <a:rPr sz="1400" spc="-20" dirty="0">
                <a:latin typeface="Times New Roman"/>
                <a:cs typeface="Times New Roman"/>
              </a:rPr>
              <a:t> </a:t>
            </a:r>
            <a:r>
              <a:rPr sz="1400" spc="-10" dirty="0">
                <a:latin typeface="Times New Roman"/>
                <a:cs typeface="Times New Roman"/>
              </a:rPr>
              <a:t>REQUIREMENTS</a:t>
            </a:r>
            <a:r>
              <a:rPr sz="1400" spc="-20" dirty="0">
                <a:latin typeface="Times New Roman"/>
                <a:cs typeface="Times New Roman"/>
              </a:rPr>
              <a:t> </a:t>
            </a:r>
            <a:r>
              <a:rPr sz="1400" dirty="0">
                <a:latin typeface="Times New Roman"/>
                <a:cs typeface="Times New Roman"/>
              </a:rPr>
              <a:t>FOR</a:t>
            </a:r>
            <a:r>
              <a:rPr sz="1400" spc="-35" dirty="0">
                <a:latin typeface="Times New Roman"/>
                <a:cs typeface="Times New Roman"/>
              </a:rPr>
              <a:t> </a:t>
            </a:r>
            <a:r>
              <a:rPr sz="1400" spc="-25" dirty="0">
                <a:latin typeface="Times New Roman"/>
                <a:cs typeface="Times New Roman"/>
              </a:rPr>
              <a:t>THE</a:t>
            </a:r>
            <a:endParaRPr sz="1400" dirty="0">
              <a:latin typeface="Times New Roman"/>
              <a:cs typeface="Times New Roman"/>
            </a:endParaRPr>
          </a:p>
          <a:p>
            <a:pPr marL="2018030" marR="2005964" algn="ctr">
              <a:lnSpc>
                <a:spcPct val="110000"/>
              </a:lnSpc>
              <a:spcBef>
                <a:spcPts val="10"/>
              </a:spcBef>
            </a:pPr>
            <a:r>
              <a:rPr sz="1400" dirty="0">
                <a:latin typeface="Times New Roman"/>
                <a:cs typeface="Times New Roman"/>
              </a:rPr>
              <a:t>AWARD</a:t>
            </a:r>
            <a:r>
              <a:rPr sz="1400" spc="-30" dirty="0">
                <a:latin typeface="Times New Roman"/>
                <a:cs typeface="Times New Roman"/>
              </a:rPr>
              <a:t> </a:t>
            </a:r>
            <a:r>
              <a:rPr sz="1400" dirty="0">
                <a:latin typeface="Times New Roman"/>
                <a:cs typeface="Times New Roman"/>
              </a:rPr>
              <a:t>OF</a:t>
            </a:r>
            <a:r>
              <a:rPr sz="1400" spc="-40" dirty="0">
                <a:latin typeface="Times New Roman"/>
                <a:cs typeface="Times New Roman"/>
              </a:rPr>
              <a:t> </a:t>
            </a:r>
            <a:r>
              <a:rPr sz="1400" dirty="0">
                <a:latin typeface="Times New Roman"/>
                <a:cs typeface="Times New Roman"/>
              </a:rPr>
              <a:t>THE</a:t>
            </a:r>
            <a:r>
              <a:rPr sz="1400" spc="-40" dirty="0">
                <a:latin typeface="Times New Roman"/>
                <a:cs typeface="Times New Roman"/>
              </a:rPr>
              <a:t> </a:t>
            </a:r>
            <a:r>
              <a:rPr sz="1400" spc="-10" dirty="0">
                <a:latin typeface="Times New Roman"/>
                <a:cs typeface="Times New Roman"/>
              </a:rPr>
              <a:t>DEGREE </a:t>
            </a:r>
            <a:r>
              <a:rPr sz="1400" spc="-25" dirty="0">
                <a:latin typeface="Times New Roman"/>
                <a:cs typeface="Times New Roman"/>
              </a:rPr>
              <a:t>OF</a:t>
            </a:r>
            <a:endParaRPr sz="1400" dirty="0">
              <a:latin typeface="Times New Roman"/>
              <a:cs typeface="Times New Roman"/>
            </a:endParaRPr>
          </a:p>
          <a:p>
            <a:pPr marL="1550035" marR="1541780" algn="ctr">
              <a:lnSpc>
                <a:spcPts val="2120"/>
              </a:lnSpc>
              <a:spcBef>
                <a:spcPts val="50"/>
              </a:spcBef>
            </a:pPr>
            <a:r>
              <a:rPr sz="1600" b="1" dirty="0">
                <a:latin typeface="Times New Roman"/>
                <a:cs typeface="Times New Roman"/>
              </a:rPr>
              <a:t>BACHELOR</a:t>
            </a:r>
            <a:r>
              <a:rPr sz="1600" b="1" spc="-15" dirty="0">
                <a:latin typeface="Times New Roman"/>
                <a:cs typeface="Times New Roman"/>
              </a:rPr>
              <a:t> </a:t>
            </a:r>
            <a:r>
              <a:rPr sz="1600" b="1" dirty="0">
                <a:latin typeface="Times New Roman"/>
                <a:cs typeface="Times New Roman"/>
              </a:rPr>
              <a:t>OF</a:t>
            </a:r>
            <a:r>
              <a:rPr sz="1600" b="1" spc="-15" dirty="0">
                <a:latin typeface="Times New Roman"/>
                <a:cs typeface="Times New Roman"/>
              </a:rPr>
              <a:t> </a:t>
            </a:r>
            <a:r>
              <a:rPr sz="1600" b="1" spc="-10" dirty="0">
                <a:latin typeface="Times New Roman"/>
                <a:cs typeface="Times New Roman"/>
              </a:rPr>
              <a:t>ENGINEERING </a:t>
            </a:r>
            <a:r>
              <a:rPr sz="1600" b="1" dirty="0">
                <a:latin typeface="Times New Roman"/>
                <a:cs typeface="Times New Roman"/>
              </a:rPr>
              <a:t>(COMPUTER</a:t>
            </a:r>
            <a:r>
              <a:rPr sz="1600" b="1" spc="-30" dirty="0">
                <a:latin typeface="Times New Roman"/>
                <a:cs typeface="Times New Roman"/>
              </a:rPr>
              <a:t> </a:t>
            </a:r>
            <a:r>
              <a:rPr sz="1600" b="1" spc="-10" dirty="0">
                <a:latin typeface="Times New Roman"/>
                <a:cs typeface="Times New Roman"/>
              </a:rPr>
              <a:t>ENGINEERING)</a:t>
            </a:r>
            <a:endParaRPr sz="1600" dirty="0">
              <a:latin typeface="Times New Roman"/>
              <a:cs typeface="Times New Roman"/>
            </a:endParaRPr>
          </a:p>
          <a:p>
            <a:pPr>
              <a:lnSpc>
                <a:spcPct val="100000"/>
              </a:lnSpc>
            </a:pPr>
            <a:endParaRPr sz="1600" dirty="0">
              <a:latin typeface="Times New Roman"/>
              <a:cs typeface="Times New Roman"/>
            </a:endParaRPr>
          </a:p>
          <a:p>
            <a:pPr>
              <a:lnSpc>
                <a:spcPct val="100000"/>
              </a:lnSpc>
              <a:spcBef>
                <a:spcPts val="655"/>
              </a:spcBef>
            </a:pPr>
            <a:endParaRPr sz="1600" dirty="0">
              <a:latin typeface="Times New Roman"/>
              <a:cs typeface="Times New Roman"/>
            </a:endParaRPr>
          </a:p>
          <a:p>
            <a:pPr marL="3175" algn="ctr">
              <a:lnSpc>
                <a:spcPct val="100000"/>
              </a:lnSpc>
              <a:spcBef>
                <a:spcPts val="5"/>
              </a:spcBef>
            </a:pPr>
            <a:r>
              <a:rPr sz="1400" dirty="0">
                <a:latin typeface="Times New Roman"/>
                <a:cs typeface="Times New Roman"/>
              </a:rPr>
              <a:t>UNDER</a:t>
            </a:r>
            <a:r>
              <a:rPr sz="1400" spc="-55" dirty="0">
                <a:latin typeface="Times New Roman"/>
                <a:cs typeface="Times New Roman"/>
              </a:rPr>
              <a:t> </a:t>
            </a:r>
            <a:r>
              <a:rPr sz="1400" dirty="0">
                <a:latin typeface="Times New Roman"/>
                <a:cs typeface="Times New Roman"/>
              </a:rPr>
              <a:t>THE</a:t>
            </a:r>
            <a:r>
              <a:rPr sz="1400" spc="-50" dirty="0">
                <a:latin typeface="Times New Roman"/>
                <a:cs typeface="Times New Roman"/>
              </a:rPr>
              <a:t> </a:t>
            </a:r>
            <a:r>
              <a:rPr sz="1400" dirty="0">
                <a:latin typeface="Times New Roman"/>
                <a:cs typeface="Times New Roman"/>
              </a:rPr>
              <a:t>GUIDANCE</a:t>
            </a:r>
            <a:r>
              <a:rPr sz="1400" spc="-50" dirty="0">
                <a:latin typeface="Times New Roman"/>
                <a:cs typeface="Times New Roman"/>
              </a:rPr>
              <a:t> </a:t>
            </a:r>
            <a:r>
              <a:rPr sz="1400" spc="-25" dirty="0">
                <a:latin typeface="Times New Roman"/>
                <a:cs typeface="Times New Roman"/>
              </a:rPr>
              <a:t>OF</a:t>
            </a:r>
            <a:endParaRPr sz="1400" dirty="0">
              <a:latin typeface="Times New Roman"/>
              <a:cs typeface="Times New Roman"/>
            </a:endParaRPr>
          </a:p>
          <a:p>
            <a:pPr marL="10795" algn="ctr">
              <a:lnSpc>
                <a:spcPct val="100000"/>
              </a:lnSpc>
              <a:spcBef>
                <a:spcPts val="430"/>
              </a:spcBef>
            </a:pPr>
            <a:r>
              <a:rPr sz="1400" dirty="0">
                <a:latin typeface="Times New Roman"/>
                <a:cs typeface="Times New Roman"/>
              </a:rPr>
              <a:t>Dr.</a:t>
            </a:r>
            <a:r>
              <a:rPr sz="1400" spc="-20" dirty="0">
                <a:latin typeface="Times New Roman"/>
                <a:cs typeface="Times New Roman"/>
              </a:rPr>
              <a:t> </a:t>
            </a:r>
            <a:r>
              <a:rPr sz="1400" dirty="0">
                <a:latin typeface="Times New Roman"/>
                <a:cs typeface="Times New Roman"/>
              </a:rPr>
              <a:t>B.</a:t>
            </a:r>
            <a:r>
              <a:rPr sz="1400" spc="-5" dirty="0">
                <a:latin typeface="Times New Roman"/>
                <a:cs typeface="Times New Roman"/>
              </a:rPr>
              <a:t> </a:t>
            </a:r>
            <a:r>
              <a:rPr sz="1400" dirty="0">
                <a:latin typeface="Times New Roman"/>
                <a:cs typeface="Times New Roman"/>
              </a:rPr>
              <a:t>D.</a:t>
            </a:r>
            <a:r>
              <a:rPr sz="1400" spc="-15" dirty="0">
                <a:latin typeface="Times New Roman"/>
                <a:cs typeface="Times New Roman"/>
              </a:rPr>
              <a:t> </a:t>
            </a:r>
            <a:r>
              <a:rPr sz="1400" spc="-10" dirty="0">
                <a:latin typeface="Times New Roman"/>
                <a:cs typeface="Times New Roman"/>
              </a:rPr>
              <a:t>Phulpagar</a:t>
            </a:r>
            <a:endParaRPr sz="1400" dirty="0">
              <a:latin typeface="Times New Roman"/>
              <a:cs typeface="Times New Roman"/>
            </a:endParaRPr>
          </a:p>
        </p:txBody>
      </p:sp>
      <p:sp>
        <p:nvSpPr>
          <p:cNvPr id="4" name="object 4"/>
          <p:cNvSpPr txBox="1"/>
          <p:nvPr/>
        </p:nvSpPr>
        <p:spPr>
          <a:xfrm>
            <a:off x="2081275" y="7743477"/>
            <a:ext cx="3606800" cy="1200785"/>
          </a:xfrm>
          <a:prstGeom prst="rect">
            <a:avLst/>
          </a:prstGeom>
        </p:spPr>
        <p:txBody>
          <a:bodyPr vert="horz" wrap="square" lIns="0" tIns="33655" rIns="0" bIns="0" rtlCol="0">
            <a:spAutoFit/>
          </a:bodyPr>
          <a:lstStyle/>
          <a:p>
            <a:pPr marL="695325">
              <a:lnSpc>
                <a:spcPct val="100000"/>
              </a:lnSpc>
              <a:spcBef>
                <a:spcPts val="265"/>
              </a:spcBef>
            </a:pPr>
            <a:r>
              <a:rPr sz="1400" dirty="0">
                <a:latin typeface="Times New Roman"/>
                <a:cs typeface="Times New Roman"/>
              </a:rPr>
              <a:t>COMPUTER</a:t>
            </a:r>
            <a:r>
              <a:rPr sz="1400" spc="-65" dirty="0">
                <a:latin typeface="Times New Roman"/>
                <a:cs typeface="Times New Roman"/>
              </a:rPr>
              <a:t> </a:t>
            </a:r>
            <a:r>
              <a:rPr sz="1400" spc="-10" dirty="0">
                <a:latin typeface="Times New Roman"/>
                <a:cs typeface="Times New Roman"/>
              </a:rPr>
              <a:t>ENGINEERING</a:t>
            </a:r>
            <a:endParaRPr sz="1400">
              <a:latin typeface="Times New Roman"/>
              <a:cs typeface="Times New Roman"/>
            </a:endParaRPr>
          </a:p>
          <a:p>
            <a:pPr marL="1193800" marR="5080" indent="-1181100">
              <a:lnSpc>
                <a:spcPts val="1860"/>
              </a:lnSpc>
              <a:spcBef>
                <a:spcPts val="80"/>
              </a:spcBef>
            </a:pPr>
            <a:r>
              <a:rPr sz="1400" dirty="0">
                <a:latin typeface="Times New Roman"/>
                <a:cs typeface="Times New Roman"/>
              </a:rPr>
              <a:t>P.E.S</a:t>
            </a:r>
            <a:r>
              <a:rPr sz="1400" spc="-35" dirty="0">
                <a:latin typeface="Times New Roman"/>
                <a:cs typeface="Times New Roman"/>
              </a:rPr>
              <a:t> </a:t>
            </a:r>
            <a:r>
              <a:rPr sz="1400" dirty="0">
                <a:latin typeface="Times New Roman"/>
                <a:cs typeface="Times New Roman"/>
              </a:rPr>
              <a:t>MODERN</a:t>
            </a:r>
            <a:r>
              <a:rPr sz="1400" spc="-35" dirty="0">
                <a:latin typeface="Times New Roman"/>
                <a:cs typeface="Times New Roman"/>
              </a:rPr>
              <a:t> </a:t>
            </a:r>
            <a:r>
              <a:rPr sz="1400" dirty="0">
                <a:latin typeface="Times New Roman"/>
                <a:cs typeface="Times New Roman"/>
              </a:rPr>
              <a:t>COLLEGE</a:t>
            </a:r>
            <a:r>
              <a:rPr sz="1400" spc="-30" dirty="0">
                <a:latin typeface="Times New Roman"/>
                <a:cs typeface="Times New Roman"/>
              </a:rPr>
              <a:t> </a:t>
            </a:r>
            <a:r>
              <a:rPr sz="1400" dirty="0">
                <a:latin typeface="Times New Roman"/>
                <a:cs typeface="Times New Roman"/>
              </a:rPr>
              <a:t>OF</a:t>
            </a:r>
            <a:r>
              <a:rPr sz="1400" spc="-55" dirty="0">
                <a:latin typeface="Times New Roman"/>
                <a:cs typeface="Times New Roman"/>
              </a:rPr>
              <a:t> </a:t>
            </a:r>
            <a:r>
              <a:rPr sz="1400" spc="-10" dirty="0">
                <a:latin typeface="Times New Roman"/>
                <a:cs typeface="Times New Roman"/>
              </a:rPr>
              <a:t>ENGINEERING </a:t>
            </a:r>
            <a:r>
              <a:rPr sz="1400" dirty="0">
                <a:latin typeface="Times New Roman"/>
                <a:cs typeface="Times New Roman"/>
              </a:rPr>
              <a:t>PUNE</a:t>
            </a:r>
            <a:r>
              <a:rPr sz="1400" spc="-20" dirty="0">
                <a:latin typeface="Times New Roman"/>
                <a:cs typeface="Times New Roman"/>
              </a:rPr>
              <a:t> </a:t>
            </a:r>
            <a:r>
              <a:rPr sz="1400" dirty="0">
                <a:latin typeface="Times New Roman"/>
                <a:cs typeface="Times New Roman"/>
              </a:rPr>
              <a:t>–</a:t>
            </a:r>
            <a:r>
              <a:rPr sz="1400" spc="-10" dirty="0">
                <a:latin typeface="Times New Roman"/>
                <a:cs typeface="Times New Roman"/>
              </a:rPr>
              <a:t> 411005.</a:t>
            </a:r>
            <a:endParaRPr sz="1400">
              <a:latin typeface="Times New Roman"/>
              <a:cs typeface="Times New Roman"/>
            </a:endParaRPr>
          </a:p>
          <a:p>
            <a:pPr marL="181610">
              <a:lnSpc>
                <a:spcPct val="100000"/>
              </a:lnSpc>
              <a:spcBef>
                <a:spcPts val="75"/>
              </a:spcBef>
            </a:pPr>
            <a:r>
              <a:rPr sz="1400" dirty="0">
                <a:latin typeface="Times New Roman"/>
                <a:cs typeface="Times New Roman"/>
              </a:rPr>
              <a:t>SAVITRIBAI</a:t>
            </a:r>
            <a:r>
              <a:rPr sz="1400" spc="-50" dirty="0">
                <a:latin typeface="Times New Roman"/>
                <a:cs typeface="Times New Roman"/>
              </a:rPr>
              <a:t> </a:t>
            </a:r>
            <a:r>
              <a:rPr sz="1400" dirty="0">
                <a:latin typeface="Times New Roman"/>
                <a:cs typeface="Times New Roman"/>
              </a:rPr>
              <a:t>PHULE</a:t>
            </a:r>
            <a:r>
              <a:rPr sz="1400" spc="-35" dirty="0">
                <a:latin typeface="Times New Roman"/>
                <a:cs typeface="Times New Roman"/>
              </a:rPr>
              <a:t> </a:t>
            </a:r>
            <a:r>
              <a:rPr sz="1400" dirty="0">
                <a:latin typeface="Times New Roman"/>
                <a:cs typeface="Times New Roman"/>
              </a:rPr>
              <a:t>PUNE</a:t>
            </a:r>
            <a:r>
              <a:rPr sz="1400" spc="-45" dirty="0">
                <a:latin typeface="Times New Roman"/>
                <a:cs typeface="Times New Roman"/>
              </a:rPr>
              <a:t> </a:t>
            </a:r>
            <a:r>
              <a:rPr sz="1400" spc="-10" dirty="0">
                <a:latin typeface="Times New Roman"/>
                <a:cs typeface="Times New Roman"/>
              </a:rPr>
              <a:t>UNIVERSITY</a:t>
            </a:r>
            <a:endParaRPr sz="1400">
              <a:latin typeface="Times New Roman"/>
              <a:cs typeface="Times New Roman"/>
            </a:endParaRPr>
          </a:p>
          <a:p>
            <a:pPr marL="1905" algn="ctr">
              <a:lnSpc>
                <a:spcPct val="100000"/>
              </a:lnSpc>
              <a:spcBef>
                <a:spcPts val="170"/>
              </a:spcBef>
            </a:pPr>
            <a:r>
              <a:rPr sz="1400" spc="-10" dirty="0">
                <a:latin typeface="Times New Roman"/>
                <a:cs typeface="Times New Roman"/>
              </a:rPr>
              <a:t>[2025-</a:t>
            </a:r>
            <a:r>
              <a:rPr sz="1400" spc="-25" dirty="0">
                <a:latin typeface="Times New Roman"/>
                <a:cs typeface="Times New Roman"/>
              </a:rPr>
              <a:t>26]</a:t>
            </a:r>
            <a:endParaRPr sz="1400">
              <a:latin typeface="Times New Roman"/>
              <a:cs typeface="Times New Roman"/>
            </a:endParaRPr>
          </a:p>
        </p:txBody>
      </p:sp>
      <p:pic>
        <p:nvPicPr>
          <p:cNvPr id="5" name="object 5"/>
          <p:cNvPicPr/>
          <p:nvPr/>
        </p:nvPicPr>
        <p:blipFill>
          <a:blip r:embed="rId2" cstate="print"/>
          <a:stretch>
            <a:fillRect/>
          </a:stretch>
        </p:blipFill>
        <p:spPr>
          <a:xfrm>
            <a:off x="2895600" y="5007864"/>
            <a:ext cx="1978151" cy="2446019"/>
          </a:xfrm>
          <a:prstGeom prst="rect">
            <a:avLst/>
          </a:prstGeom>
        </p:spPr>
      </p:pic>
      <p:sp>
        <p:nvSpPr>
          <p:cNvPr id="6" name="object 6"/>
          <p:cNvSpPr/>
          <p:nvPr/>
        </p:nvSpPr>
        <p:spPr>
          <a:xfrm>
            <a:off x="304800" y="304799"/>
            <a:ext cx="7162800" cy="9448800"/>
          </a:xfrm>
          <a:custGeom>
            <a:avLst/>
            <a:gdLst/>
            <a:ahLst/>
            <a:cxnLst/>
            <a:rect l="l" t="t" r="r" b="b"/>
            <a:pathLst>
              <a:path w="7162800" h="9448800">
                <a:moveTo>
                  <a:pt x="7162800" y="12"/>
                </a:moveTo>
                <a:lnTo>
                  <a:pt x="7156704" y="12"/>
                </a:lnTo>
                <a:lnTo>
                  <a:pt x="7156704" y="6096"/>
                </a:lnTo>
                <a:lnTo>
                  <a:pt x="7156691" y="9442704"/>
                </a:lnTo>
                <a:lnTo>
                  <a:pt x="6083" y="9442704"/>
                </a:lnTo>
                <a:lnTo>
                  <a:pt x="6083" y="6096"/>
                </a:lnTo>
                <a:lnTo>
                  <a:pt x="7156691" y="6096"/>
                </a:lnTo>
                <a:lnTo>
                  <a:pt x="7156691" y="0"/>
                </a:lnTo>
                <a:lnTo>
                  <a:pt x="0" y="0"/>
                </a:lnTo>
                <a:lnTo>
                  <a:pt x="0" y="6096"/>
                </a:lnTo>
                <a:lnTo>
                  <a:pt x="0" y="9442704"/>
                </a:lnTo>
                <a:lnTo>
                  <a:pt x="0" y="9448800"/>
                </a:lnTo>
                <a:lnTo>
                  <a:pt x="7156691" y="9448800"/>
                </a:lnTo>
                <a:lnTo>
                  <a:pt x="7162800" y="9448800"/>
                </a:lnTo>
                <a:lnTo>
                  <a:pt x="7162800" y="9442704"/>
                </a:lnTo>
                <a:lnTo>
                  <a:pt x="7162800" y="6096"/>
                </a:lnTo>
                <a:lnTo>
                  <a:pt x="7162800" y="12"/>
                </a:lnTo>
                <a:close/>
              </a:path>
            </a:pathLst>
          </a:custGeom>
          <a:solidFill>
            <a:srgbClr val="000000"/>
          </a:solidFill>
        </p:spPr>
        <p:txBody>
          <a:bodyPr wrap="square" lIns="0" tIns="0" rIns="0" bIns="0" rtlCol="0"/>
          <a:lstStyle/>
          <a:p>
            <a:endParaRPr/>
          </a:p>
        </p:txBody>
      </p:sp>
      <p:sp>
        <p:nvSpPr>
          <p:cNvPr id="7" name="object 7"/>
          <p:cNvSpPr txBox="1"/>
          <p:nvPr/>
        </p:nvSpPr>
        <p:spPr>
          <a:xfrm>
            <a:off x="1941067" y="9412477"/>
            <a:ext cx="3882390" cy="200660"/>
          </a:xfrm>
          <a:prstGeom prst="rect">
            <a:avLst/>
          </a:prstGeom>
        </p:spPr>
        <p:txBody>
          <a:bodyPr vert="horz" wrap="square" lIns="0" tIns="0" rIns="0" bIns="0" rtlCol="0">
            <a:spAutoFit/>
          </a:bodyPr>
          <a:lstStyle/>
          <a:p>
            <a:pPr marL="12700">
              <a:lnSpc>
                <a:spcPts val="1460"/>
              </a:lnSpc>
            </a:pPr>
            <a:r>
              <a:rPr sz="1250" dirty="0">
                <a:latin typeface="Times New Roman"/>
                <a:cs typeface="Times New Roman"/>
              </a:rPr>
              <a:t>Department</a:t>
            </a:r>
            <a:r>
              <a:rPr sz="1250" spc="-40" dirty="0">
                <a:latin typeface="Times New Roman"/>
                <a:cs typeface="Times New Roman"/>
              </a:rPr>
              <a:t> </a:t>
            </a:r>
            <a:r>
              <a:rPr sz="1250" dirty="0">
                <a:latin typeface="Times New Roman"/>
                <a:cs typeface="Times New Roman"/>
              </a:rPr>
              <a:t>of</a:t>
            </a:r>
            <a:r>
              <a:rPr sz="1250" spc="-30" dirty="0">
                <a:latin typeface="Times New Roman"/>
                <a:cs typeface="Times New Roman"/>
              </a:rPr>
              <a:t> </a:t>
            </a:r>
            <a:r>
              <a:rPr sz="1250" dirty="0">
                <a:latin typeface="Times New Roman"/>
                <a:cs typeface="Times New Roman"/>
              </a:rPr>
              <a:t>Computer</a:t>
            </a:r>
            <a:r>
              <a:rPr sz="1250" spc="-40" dirty="0">
                <a:latin typeface="Times New Roman"/>
                <a:cs typeface="Times New Roman"/>
              </a:rPr>
              <a:t> </a:t>
            </a:r>
            <a:r>
              <a:rPr sz="1250" dirty="0">
                <a:latin typeface="Times New Roman"/>
                <a:cs typeface="Times New Roman"/>
              </a:rPr>
              <a:t>Engineering,</a:t>
            </a:r>
            <a:r>
              <a:rPr sz="1250" spc="-40" dirty="0">
                <a:latin typeface="Times New Roman"/>
                <a:cs typeface="Times New Roman"/>
              </a:rPr>
              <a:t> </a:t>
            </a:r>
            <a:r>
              <a:rPr sz="1250" dirty="0">
                <a:latin typeface="Times New Roman"/>
                <a:cs typeface="Times New Roman"/>
              </a:rPr>
              <a:t>PESMCOE,</a:t>
            </a:r>
            <a:r>
              <a:rPr sz="1250" spc="-40" dirty="0">
                <a:latin typeface="Times New Roman"/>
                <a:cs typeface="Times New Roman"/>
              </a:rPr>
              <a:t> </a:t>
            </a:r>
            <a:r>
              <a:rPr sz="1250" dirty="0">
                <a:latin typeface="Times New Roman"/>
                <a:cs typeface="Times New Roman"/>
              </a:rPr>
              <a:t>Pune:</a:t>
            </a:r>
            <a:r>
              <a:rPr sz="1250" spc="-45" dirty="0">
                <a:latin typeface="Times New Roman"/>
                <a:cs typeface="Times New Roman"/>
              </a:rPr>
              <a:t> </a:t>
            </a:r>
            <a:r>
              <a:rPr sz="1250" spc="-25" dirty="0">
                <a:latin typeface="Times New Roman"/>
                <a:cs typeface="Times New Roman"/>
              </a:rPr>
              <a:t>05</a:t>
            </a:r>
            <a:endParaRPr sz="1250">
              <a:latin typeface="Times New Roman"/>
              <a:cs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438912" y="9409176"/>
            <a:ext cx="6894830" cy="9525"/>
          </a:xfrm>
          <a:custGeom>
            <a:avLst/>
            <a:gdLst/>
            <a:ahLst/>
            <a:cxnLst/>
            <a:rect l="l" t="t" r="r" b="b"/>
            <a:pathLst>
              <a:path w="6894830" h="9525">
                <a:moveTo>
                  <a:pt x="6894575" y="9143"/>
                </a:moveTo>
                <a:lnTo>
                  <a:pt x="0" y="9143"/>
                </a:lnTo>
                <a:lnTo>
                  <a:pt x="0" y="0"/>
                </a:lnTo>
                <a:lnTo>
                  <a:pt x="6894575" y="0"/>
                </a:lnTo>
                <a:lnTo>
                  <a:pt x="6894575" y="9143"/>
                </a:lnTo>
                <a:close/>
              </a:path>
            </a:pathLst>
          </a:custGeom>
          <a:solidFill>
            <a:srgbClr val="000000"/>
          </a:solidFill>
        </p:spPr>
        <p:txBody>
          <a:bodyPr wrap="square" lIns="0" tIns="0" rIns="0" bIns="0" rtlCol="0"/>
          <a:lstStyle/>
          <a:p>
            <a:endParaRPr/>
          </a:p>
        </p:txBody>
      </p:sp>
      <p:sp>
        <p:nvSpPr>
          <p:cNvPr id="3" name="object 3"/>
          <p:cNvSpPr txBox="1"/>
          <p:nvPr/>
        </p:nvSpPr>
        <p:spPr>
          <a:xfrm>
            <a:off x="804163" y="2805513"/>
            <a:ext cx="6164580" cy="2422266"/>
          </a:xfrm>
          <a:prstGeom prst="rect">
            <a:avLst/>
          </a:prstGeom>
        </p:spPr>
        <p:txBody>
          <a:bodyPr vert="horz" wrap="square" lIns="0" tIns="5715" rIns="0" bIns="0" rtlCol="0">
            <a:spAutoFit/>
          </a:bodyPr>
          <a:lstStyle/>
          <a:p>
            <a:pPr marL="1888489" marR="1884045" indent="1905" algn="ctr">
              <a:lnSpc>
                <a:spcPct val="103200"/>
              </a:lnSpc>
              <a:spcBef>
                <a:spcPts val="45"/>
              </a:spcBef>
            </a:pPr>
            <a:r>
              <a:rPr sz="1400" dirty="0">
                <a:latin typeface="Times New Roman"/>
                <a:cs typeface="Times New Roman"/>
              </a:rPr>
              <a:t>Progressive</a:t>
            </a:r>
            <a:r>
              <a:rPr sz="1400" spc="-40" dirty="0">
                <a:latin typeface="Times New Roman"/>
                <a:cs typeface="Times New Roman"/>
              </a:rPr>
              <a:t> </a:t>
            </a:r>
            <a:r>
              <a:rPr sz="1400" dirty="0">
                <a:latin typeface="Times New Roman"/>
                <a:cs typeface="Times New Roman"/>
              </a:rPr>
              <a:t>Education</a:t>
            </a:r>
            <a:r>
              <a:rPr sz="1400" spc="-45" dirty="0">
                <a:latin typeface="Times New Roman"/>
                <a:cs typeface="Times New Roman"/>
              </a:rPr>
              <a:t> </a:t>
            </a:r>
            <a:r>
              <a:rPr sz="1400" spc="-10" dirty="0">
                <a:latin typeface="Times New Roman"/>
                <a:cs typeface="Times New Roman"/>
              </a:rPr>
              <a:t>Society’s </a:t>
            </a:r>
            <a:r>
              <a:rPr sz="1400" b="1" dirty="0">
                <a:latin typeface="Times New Roman"/>
                <a:cs typeface="Times New Roman"/>
              </a:rPr>
              <a:t>Modern</a:t>
            </a:r>
            <a:r>
              <a:rPr sz="1400" b="1" spc="-30" dirty="0">
                <a:latin typeface="Times New Roman"/>
                <a:cs typeface="Times New Roman"/>
              </a:rPr>
              <a:t> </a:t>
            </a:r>
            <a:r>
              <a:rPr sz="1400" b="1" dirty="0">
                <a:latin typeface="Times New Roman"/>
                <a:cs typeface="Times New Roman"/>
              </a:rPr>
              <a:t>College</a:t>
            </a:r>
            <a:r>
              <a:rPr sz="1400" b="1" spc="-30" dirty="0">
                <a:latin typeface="Times New Roman"/>
                <a:cs typeface="Times New Roman"/>
              </a:rPr>
              <a:t> </a:t>
            </a:r>
            <a:r>
              <a:rPr sz="1400" b="1" dirty="0">
                <a:latin typeface="Times New Roman"/>
                <a:cs typeface="Times New Roman"/>
              </a:rPr>
              <a:t>of</a:t>
            </a:r>
            <a:r>
              <a:rPr sz="1400" b="1" spc="-30" dirty="0">
                <a:latin typeface="Times New Roman"/>
                <a:cs typeface="Times New Roman"/>
              </a:rPr>
              <a:t> </a:t>
            </a:r>
            <a:r>
              <a:rPr sz="1400" b="1" spc="-10" dirty="0">
                <a:latin typeface="Times New Roman"/>
                <a:cs typeface="Times New Roman"/>
              </a:rPr>
              <a:t>Engineering </a:t>
            </a:r>
            <a:r>
              <a:rPr sz="1400" dirty="0">
                <a:latin typeface="Times New Roman"/>
                <a:cs typeface="Times New Roman"/>
              </a:rPr>
              <a:t>Shivajinagar,</a:t>
            </a:r>
            <a:r>
              <a:rPr sz="1400" spc="-30" dirty="0">
                <a:latin typeface="Times New Roman"/>
                <a:cs typeface="Times New Roman"/>
              </a:rPr>
              <a:t> </a:t>
            </a:r>
            <a:r>
              <a:rPr sz="1400" dirty="0">
                <a:latin typeface="Times New Roman"/>
                <a:cs typeface="Times New Roman"/>
              </a:rPr>
              <a:t>Pune</a:t>
            </a:r>
            <a:r>
              <a:rPr sz="1400" spc="-15" dirty="0">
                <a:latin typeface="Times New Roman"/>
                <a:cs typeface="Times New Roman"/>
              </a:rPr>
              <a:t> </a:t>
            </a:r>
            <a:r>
              <a:rPr sz="1400" dirty="0">
                <a:latin typeface="Times New Roman"/>
                <a:cs typeface="Times New Roman"/>
              </a:rPr>
              <a:t>:</a:t>
            </a:r>
            <a:r>
              <a:rPr sz="1400" spc="-25" dirty="0">
                <a:latin typeface="Times New Roman"/>
                <a:cs typeface="Times New Roman"/>
              </a:rPr>
              <a:t> </a:t>
            </a:r>
            <a:r>
              <a:rPr sz="1400" spc="-10" dirty="0">
                <a:latin typeface="Times New Roman"/>
                <a:cs typeface="Times New Roman"/>
              </a:rPr>
              <a:t>411005</a:t>
            </a:r>
            <a:r>
              <a:rPr sz="1200" spc="-10" dirty="0">
                <a:latin typeface="Times New Roman"/>
                <a:cs typeface="Times New Roman"/>
              </a:rPr>
              <a:t>.</a:t>
            </a:r>
            <a:endParaRPr sz="1200" dirty="0">
              <a:latin typeface="Times New Roman"/>
              <a:cs typeface="Times New Roman"/>
            </a:endParaRPr>
          </a:p>
          <a:p>
            <a:pPr algn="ctr">
              <a:lnSpc>
                <a:spcPct val="100000"/>
              </a:lnSpc>
              <a:spcBef>
                <a:spcPts val="1555"/>
              </a:spcBef>
            </a:pPr>
            <a:r>
              <a:rPr sz="1200" b="1" u="sng" spc="-10" dirty="0">
                <a:uFill>
                  <a:solidFill>
                    <a:srgbClr val="000000"/>
                  </a:solidFill>
                </a:uFill>
                <a:latin typeface="Times New Roman"/>
                <a:cs typeface="Times New Roman"/>
              </a:rPr>
              <a:t>CERTIFICATE</a:t>
            </a:r>
            <a:endParaRPr sz="1200" dirty="0">
              <a:latin typeface="Times New Roman"/>
              <a:cs typeface="Times New Roman"/>
            </a:endParaRPr>
          </a:p>
          <a:p>
            <a:pPr>
              <a:lnSpc>
                <a:spcPct val="100000"/>
              </a:lnSpc>
              <a:spcBef>
                <a:spcPts val="915"/>
              </a:spcBef>
            </a:pPr>
            <a:endParaRPr sz="1200" dirty="0">
              <a:latin typeface="Times New Roman"/>
              <a:cs typeface="Times New Roman"/>
            </a:endParaRPr>
          </a:p>
          <a:p>
            <a:pPr marL="12700" marR="5080" algn="just">
              <a:lnSpc>
                <a:spcPct val="103299"/>
              </a:lnSpc>
            </a:pPr>
            <a:r>
              <a:rPr sz="1200" dirty="0">
                <a:latin typeface="Times New Roman"/>
                <a:cs typeface="Times New Roman"/>
              </a:rPr>
              <a:t>This</a:t>
            </a:r>
            <a:r>
              <a:rPr sz="1200" spc="-5" dirty="0">
                <a:latin typeface="Times New Roman"/>
                <a:cs typeface="Times New Roman"/>
              </a:rPr>
              <a:t> </a:t>
            </a:r>
            <a:r>
              <a:rPr sz="1200" dirty="0">
                <a:latin typeface="Times New Roman"/>
                <a:cs typeface="Times New Roman"/>
              </a:rPr>
              <a:t>is</a:t>
            </a:r>
            <a:r>
              <a:rPr sz="1200" spc="10" dirty="0">
                <a:latin typeface="Times New Roman"/>
                <a:cs typeface="Times New Roman"/>
              </a:rPr>
              <a:t> </a:t>
            </a:r>
            <a:r>
              <a:rPr sz="1200" dirty="0">
                <a:latin typeface="Times New Roman"/>
                <a:cs typeface="Times New Roman"/>
              </a:rPr>
              <a:t>to certify that the following students</a:t>
            </a:r>
            <a:r>
              <a:rPr sz="1200" spc="10" dirty="0">
                <a:latin typeface="Times New Roman"/>
                <a:cs typeface="Times New Roman"/>
              </a:rPr>
              <a:t> </a:t>
            </a:r>
            <a:r>
              <a:rPr sz="1200" dirty="0">
                <a:latin typeface="Times New Roman"/>
                <a:cs typeface="Times New Roman"/>
              </a:rPr>
              <a:t>of</a:t>
            </a:r>
            <a:r>
              <a:rPr sz="1200" spc="-15" dirty="0">
                <a:latin typeface="Times New Roman"/>
                <a:cs typeface="Times New Roman"/>
              </a:rPr>
              <a:t> </a:t>
            </a:r>
            <a:r>
              <a:rPr sz="1200" dirty="0">
                <a:latin typeface="Times New Roman"/>
                <a:cs typeface="Times New Roman"/>
              </a:rPr>
              <a:t>Computer Engineering of PES’s, Modern</a:t>
            </a:r>
            <a:r>
              <a:rPr sz="1200" spc="10" dirty="0">
                <a:latin typeface="Times New Roman"/>
                <a:cs typeface="Times New Roman"/>
              </a:rPr>
              <a:t> </a:t>
            </a:r>
            <a:r>
              <a:rPr sz="1200" dirty="0">
                <a:latin typeface="Times New Roman"/>
                <a:cs typeface="Times New Roman"/>
              </a:rPr>
              <a:t>College </a:t>
            </a:r>
            <a:r>
              <a:rPr sz="1200" spc="-25" dirty="0">
                <a:latin typeface="Times New Roman"/>
                <a:cs typeface="Times New Roman"/>
              </a:rPr>
              <a:t>of </a:t>
            </a:r>
            <a:r>
              <a:rPr sz="1200" dirty="0">
                <a:latin typeface="Times New Roman"/>
                <a:cs typeface="Times New Roman"/>
              </a:rPr>
              <a:t>Engineering</a:t>
            </a:r>
            <a:r>
              <a:rPr sz="1200" spc="450" dirty="0">
                <a:latin typeface="Times New Roman"/>
                <a:cs typeface="Times New Roman"/>
              </a:rPr>
              <a:t> </a:t>
            </a:r>
            <a:r>
              <a:rPr sz="1200" dirty="0">
                <a:latin typeface="Times New Roman"/>
                <a:cs typeface="Times New Roman"/>
              </a:rPr>
              <a:t>have</a:t>
            </a:r>
            <a:r>
              <a:rPr sz="1200" spc="445" dirty="0">
                <a:latin typeface="Times New Roman"/>
                <a:cs typeface="Times New Roman"/>
              </a:rPr>
              <a:t> </a:t>
            </a:r>
            <a:r>
              <a:rPr sz="1200" dirty="0">
                <a:latin typeface="Times New Roman"/>
                <a:cs typeface="Times New Roman"/>
              </a:rPr>
              <a:t>successfully</a:t>
            </a:r>
            <a:r>
              <a:rPr sz="1200" spc="455" dirty="0">
                <a:latin typeface="Times New Roman"/>
                <a:cs typeface="Times New Roman"/>
              </a:rPr>
              <a:t> </a:t>
            </a:r>
            <a:r>
              <a:rPr sz="1200" dirty="0">
                <a:latin typeface="Times New Roman"/>
                <a:cs typeface="Times New Roman"/>
              </a:rPr>
              <a:t>completed</a:t>
            </a:r>
            <a:r>
              <a:rPr sz="1200" spc="455" dirty="0">
                <a:latin typeface="Times New Roman"/>
                <a:cs typeface="Times New Roman"/>
              </a:rPr>
              <a:t> </a:t>
            </a:r>
            <a:r>
              <a:rPr sz="1200" dirty="0">
                <a:latin typeface="Times New Roman"/>
                <a:cs typeface="Times New Roman"/>
              </a:rPr>
              <a:t>their</a:t>
            </a:r>
            <a:r>
              <a:rPr sz="1200" spc="455" dirty="0">
                <a:latin typeface="Times New Roman"/>
                <a:cs typeface="Times New Roman"/>
              </a:rPr>
              <a:t> </a:t>
            </a:r>
            <a:r>
              <a:rPr sz="1200" dirty="0">
                <a:latin typeface="Times New Roman"/>
                <a:cs typeface="Times New Roman"/>
              </a:rPr>
              <a:t>mini</a:t>
            </a:r>
            <a:r>
              <a:rPr sz="1200" spc="455" dirty="0">
                <a:latin typeface="Times New Roman"/>
                <a:cs typeface="Times New Roman"/>
              </a:rPr>
              <a:t> </a:t>
            </a:r>
            <a:r>
              <a:rPr sz="1200" dirty="0">
                <a:latin typeface="Times New Roman"/>
                <a:cs typeface="Times New Roman"/>
              </a:rPr>
              <a:t>project</a:t>
            </a:r>
            <a:r>
              <a:rPr sz="1200" spc="445" dirty="0">
                <a:latin typeface="Times New Roman"/>
                <a:cs typeface="Times New Roman"/>
              </a:rPr>
              <a:t> </a:t>
            </a:r>
            <a:r>
              <a:rPr sz="1200" dirty="0">
                <a:latin typeface="Times New Roman"/>
                <a:cs typeface="Times New Roman"/>
              </a:rPr>
              <a:t>and</a:t>
            </a:r>
            <a:r>
              <a:rPr sz="1200" spc="450" dirty="0">
                <a:latin typeface="Times New Roman"/>
                <a:cs typeface="Times New Roman"/>
              </a:rPr>
              <a:t> </a:t>
            </a:r>
            <a:r>
              <a:rPr sz="1200" dirty="0">
                <a:latin typeface="Times New Roman"/>
                <a:cs typeface="Times New Roman"/>
              </a:rPr>
              <a:t>design</a:t>
            </a:r>
            <a:r>
              <a:rPr sz="1200" spc="455" dirty="0">
                <a:latin typeface="Times New Roman"/>
                <a:cs typeface="Times New Roman"/>
              </a:rPr>
              <a:t> </a:t>
            </a:r>
            <a:r>
              <a:rPr sz="1200" dirty="0">
                <a:latin typeface="Times New Roman"/>
                <a:cs typeface="Times New Roman"/>
              </a:rPr>
              <a:t>of</a:t>
            </a:r>
            <a:r>
              <a:rPr sz="1200" spc="455" dirty="0">
                <a:latin typeface="Times New Roman"/>
                <a:cs typeface="Times New Roman"/>
              </a:rPr>
              <a:t> </a:t>
            </a:r>
            <a:r>
              <a:rPr sz="1200" dirty="0">
                <a:latin typeface="Times New Roman"/>
                <a:cs typeface="Times New Roman"/>
              </a:rPr>
              <a:t>project</a:t>
            </a:r>
            <a:r>
              <a:rPr sz="1200" spc="465" dirty="0">
                <a:latin typeface="Times New Roman"/>
                <a:cs typeface="Times New Roman"/>
              </a:rPr>
              <a:t> </a:t>
            </a:r>
            <a:r>
              <a:rPr sz="1200" spc="-10" dirty="0">
                <a:latin typeface="Times New Roman"/>
                <a:cs typeface="Times New Roman"/>
              </a:rPr>
              <a:t>entitled “</a:t>
            </a:r>
            <a:r>
              <a:rPr lang="en-US" sz="1200" b="1" dirty="0">
                <a:latin typeface="Times New Roman" panose="02020603050405020304" pitchFamily="18" charset="0"/>
                <a:cs typeface="Times New Roman" panose="02020603050405020304" pitchFamily="18" charset="0"/>
              </a:rPr>
              <a:t>Performance Analysis of Single-Threaded and Multithreaded Merge Sort”</a:t>
            </a:r>
            <a:r>
              <a:rPr sz="1200" spc="-10" dirty="0">
                <a:latin typeface="Times New Roman"/>
                <a:cs typeface="Times New Roman"/>
              </a:rPr>
              <a:t>”</a:t>
            </a:r>
            <a:r>
              <a:rPr sz="1200" spc="-35" dirty="0">
                <a:latin typeface="Times New Roman"/>
                <a:cs typeface="Times New Roman"/>
              </a:rPr>
              <a:t> </a:t>
            </a:r>
            <a:r>
              <a:rPr sz="1200" spc="-10" dirty="0">
                <a:latin typeface="Times New Roman"/>
                <a:cs typeface="Times New Roman"/>
              </a:rPr>
              <a:t>under</a:t>
            </a:r>
            <a:r>
              <a:rPr sz="1200" spc="-55" dirty="0">
                <a:latin typeface="Times New Roman"/>
                <a:cs typeface="Times New Roman"/>
              </a:rPr>
              <a:t> </a:t>
            </a:r>
            <a:r>
              <a:rPr sz="1200" spc="-25" dirty="0">
                <a:latin typeface="Times New Roman"/>
                <a:cs typeface="Times New Roman"/>
              </a:rPr>
              <a:t>the </a:t>
            </a:r>
            <a:r>
              <a:rPr sz="1200" spc="-10" dirty="0">
                <a:latin typeface="Times New Roman"/>
                <a:cs typeface="Times New Roman"/>
              </a:rPr>
              <a:t>guidance</a:t>
            </a:r>
            <a:r>
              <a:rPr sz="1200" spc="-35" dirty="0">
                <a:latin typeface="Times New Roman"/>
                <a:cs typeface="Times New Roman"/>
              </a:rPr>
              <a:t> </a:t>
            </a:r>
            <a:r>
              <a:rPr sz="1200" dirty="0">
                <a:latin typeface="Times New Roman"/>
                <a:cs typeface="Times New Roman"/>
              </a:rPr>
              <a:t>of</a:t>
            </a:r>
            <a:r>
              <a:rPr sz="1200" spc="-20" dirty="0">
                <a:latin typeface="Times New Roman"/>
                <a:cs typeface="Times New Roman"/>
              </a:rPr>
              <a:t> </a:t>
            </a:r>
            <a:r>
              <a:rPr sz="1200" dirty="0">
                <a:latin typeface="Times New Roman"/>
                <a:cs typeface="Times New Roman"/>
              </a:rPr>
              <a:t>the</a:t>
            </a:r>
            <a:r>
              <a:rPr sz="1200" spc="-10" dirty="0">
                <a:latin typeface="Times New Roman"/>
                <a:cs typeface="Times New Roman"/>
              </a:rPr>
              <a:t> </a:t>
            </a:r>
            <a:r>
              <a:rPr sz="1200" dirty="0">
                <a:latin typeface="Times New Roman"/>
                <a:cs typeface="Times New Roman"/>
              </a:rPr>
              <a:t>course</a:t>
            </a:r>
            <a:r>
              <a:rPr sz="1200" spc="-20" dirty="0">
                <a:latin typeface="Times New Roman"/>
                <a:cs typeface="Times New Roman"/>
              </a:rPr>
              <a:t> </a:t>
            </a:r>
            <a:r>
              <a:rPr sz="1200" spc="-10" dirty="0">
                <a:latin typeface="Times New Roman"/>
                <a:cs typeface="Times New Roman"/>
              </a:rPr>
              <a:t>instructor.</a:t>
            </a:r>
            <a:endParaRPr sz="1200" dirty="0">
              <a:latin typeface="Times New Roman"/>
              <a:cs typeface="Times New Roman"/>
            </a:endParaRPr>
          </a:p>
          <a:p>
            <a:pPr marL="12700" algn="just">
              <a:lnSpc>
                <a:spcPct val="100000"/>
              </a:lnSpc>
              <a:spcBef>
                <a:spcPts val="850"/>
              </a:spcBef>
            </a:pPr>
            <a:r>
              <a:rPr sz="1200" dirty="0">
                <a:latin typeface="Times New Roman"/>
                <a:cs typeface="Times New Roman"/>
              </a:rPr>
              <a:t>The</a:t>
            </a:r>
            <a:r>
              <a:rPr sz="1200" spc="-40" dirty="0">
                <a:latin typeface="Times New Roman"/>
                <a:cs typeface="Times New Roman"/>
              </a:rPr>
              <a:t> </a:t>
            </a:r>
            <a:r>
              <a:rPr sz="1200" dirty="0">
                <a:latin typeface="Times New Roman"/>
                <a:cs typeface="Times New Roman"/>
              </a:rPr>
              <a:t>Group</a:t>
            </a:r>
            <a:r>
              <a:rPr sz="1200" spc="-35" dirty="0">
                <a:latin typeface="Times New Roman"/>
                <a:cs typeface="Times New Roman"/>
              </a:rPr>
              <a:t> </a:t>
            </a:r>
            <a:r>
              <a:rPr sz="1200" dirty="0">
                <a:latin typeface="Times New Roman"/>
                <a:cs typeface="Times New Roman"/>
              </a:rPr>
              <a:t>Members</a:t>
            </a:r>
            <a:r>
              <a:rPr sz="1200" spc="-40" dirty="0">
                <a:latin typeface="Times New Roman"/>
                <a:cs typeface="Times New Roman"/>
              </a:rPr>
              <a:t> </a:t>
            </a:r>
            <a:r>
              <a:rPr sz="1200" spc="-20" dirty="0">
                <a:latin typeface="Times New Roman"/>
                <a:cs typeface="Times New Roman"/>
              </a:rPr>
              <a:t>are:</a:t>
            </a:r>
            <a:endParaRPr sz="1200" dirty="0">
              <a:latin typeface="Times New Roman"/>
              <a:cs typeface="Times New Roman"/>
            </a:endParaRPr>
          </a:p>
        </p:txBody>
      </p:sp>
      <p:graphicFrame>
        <p:nvGraphicFramePr>
          <p:cNvPr id="4" name="object 4"/>
          <p:cNvGraphicFramePr>
            <a:graphicFrameLocks noGrp="1"/>
          </p:cNvGraphicFramePr>
          <p:nvPr>
            <p:extLst>
              <p:ext uri="{D42A27DB-BD31-4B8C-83A1-F6EECF244321}">
                <p14:modId xmlns:p14="http://schemas.microsoft.com/office/powerpoint/2010/main" val="3293984958"/>
              </p:ext>
            </p:extLst>
          </p:nvPr>
        </p:nvGraphicFramePr>
        <p:xfrm>
          <a:off x="1101852" y="5309615"/>
          <a:ext cx="5537200" cy="1167765"/>
        </p:xfrm>
        <a:graphic>
          <a:graphicData uri="http://schemas.openxmlformats.org/drawingml/2006/table">
            <a:tbl>
              <a:tblPr firstRow="1" bandRow="1">
                <a:tableStyleId>{2D5ABB26-0587-4C30-8999-92F81FD0307C}</a:tableStyleId>
              </a:tblPr>
              <a:tblGrid>
                <a:gridCol w="2769235">
                  <a:extLst>
                    <a:ext uri="{9D8B030D-6E8A-4147-A177-3AD203B41FA5}">
                      <a16:colId xmlns:a16="http://schemas.microsoft.com/office/drawing/2014/main" val="20000"/>
                    </a:ext>
                  </a:extLst>
                </a:gridCol>
                <a:gridCol w="2767965">
                  <a:extLst>
                    <a:ext uri="{9D8B030D-6E8A-4147-A177-3AD203B41FA5}">
                      <a16:colId xmlns:a16="http://schemas.microsoft.com/office/drawing/2014/main" val="20001"/>
                    </a:ext>
                  </a:extLst>
                </a:gridCol>
              </a:tblGrid>
              <a:tr h="233045">
                <a:tc>
                  <a:txBody>
                    <a:bodyPr/>
                    <a:lstStyle/>
                    <a:p>
                      <a:pPr algn="ctr">
                        <a:lnSpc>
                          <a:spcPts val="1380"/>
                        </a:lnSpc>
                      </a:pPr>
                      <a:r>
                        <a:rPr sz="1200" b="1" dirty="0">
                          <a:latin typeface="Times New Roman"/>
                          <a:cs typeface="Times New Roman"/>
                        </a:rPr>
                        <a:t>Roll</a:t>
                      </a:r>
                      <a:r>
                        <a:rPr sz="1200" b="1" spc="-25" dirty="0">
                          <a:latin typeface="Times New Roman"/>
                          <a:cs typeface="Times New Roman"/>
                        </a:rPr>
                        <a:t> </a:t>
                      </a:r>
                      <a:r>
                        <a:rPr sz="1200" b="1" spc="-10" dirty="0">
                          <a:latin typeface="Times New Roman"/>
                          <a:cs typeface="Times New Roman"/>
                        </a:rPr>
                        <a:t>Number</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ts val="1380"/>
                        </a:lnSpc>
                      </a:pPr>
                      <a:r>
                        <a:rPr sz="1200" b="1" spc="-20" dirty="0">
                          <a:latin typeface="Times New Roman"/>
                          <a:cs typeface="Times New Roman"/>
                        </a:rPr>
                        <a:t>Name</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0"/>
                  </a:ext>
                </a:extLst>
              </a:tr>
              <a:tr h="233045">
                <a:tc>
                  <a:txBody>
                    <a:bodyPr/>
                    <a:lstStyle/>
                    <a:p>
                      <a:pPr algn="ctr">
                        <a:lnSpc>
                          <a:spcPts val="1380"/>
                        </a:lnSpc>
                      </a:pPr>
                      <a:r>
                        <a:rPr sz="1200" spc="-10" dirty="0">
                          <a:latin typeface="Times New Roman"/>
                          <a:cs typeface="Times New Roman"/>
                        </a:rPr>
                        <a:t>412</a:t>
                      </a:r>
                      <a:r>
                        <a:rPr lang="en-US" sz="1200" spc="-10" dirty="0">
                          <a:latin typeface="Times New Roman"/>
                          <a:cs typeface="Times New Roman"/>
                        </a:rPr>
                        <a:t>07</a:t>
                      </a:r>
                      <a:endParaRPr sz="1200" dirty="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ts val="1380"/>
                        </a:lnSpc>
                      </a:pPr>
                      <a:r>
                        <a:rPr lang="en-US" sz="1200" dirty="0">
                          <a:latin typeface="Times New Roman"/>
                          <a:cs typeface="Times New Roman"/>
                        </a:rPr>
                        <a:t>Vedant </a:t>
                      </a:r>
                      <a:r>
                        <a:rPr lang="en-US" sz="1200" dirty="0" err="1">
                          <a:latin typeface="Times New Roman"/>
                          <a:cs typeface="Times New Roman"/>
                        </a:rPr>
                        <a:t>Bhor</a:t>
                      </a:r>
                      <a:endParaRPr sz="1200" dirty="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1"/>
                  </a:ext>
                </a:extLst>
              </a:tr>
              <a:tr h="234315">
                <a:tc>
                  <a:txBody>
                    <a:bodyPr/>
                    <a:lstStyle/>
                    <a:p>
                      <a:pPr algn="ctr">
                        <a:lnSpc>
                          <a:spcPts val="1380"/>
                        </a:lnSpc>
                      </a:pPr>
                      <a:r>
                        <a:rPr sz="1200" spc="-10" dirty="0">
                          <a:latin typeface="Times New Roman"/>
                          <a:cs typeface="Times New Roman"/>
                        </a:rPr>
                        <a:t>412</a:t>
                      </a:r>
                      <a:endParaRPr sz="1200" dirty="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ts val="1380"/>
                        </a:lnSpc>
                      </a:pPr>
                      <a:r>
                        <a:rPr lang="en-US" sz="1200" dirty="0">
                          <a:latin typeface="Times New Roman"/>
                          <a:cs typeface="Times New Roman"/>
                        </a:rPr>
                        <a:t>Rajnandini Kanade</a:t>
                      </a:r>
                      <a:endParaRPr sz="1200" dirty="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2"/>
                  </a:ext>
                </a:extLst>
              </a:tr>
              <a:tr h="233045">
                <a:tc>
                  <a:txBody>
                    <a:bodyPr/>
                    <a:lstStyle/>
                    <a:p>
                      <a:pPr algn="ctr">
                        <a:lnSpc>
                          <a:spcPts val="1380"/>
                        </a:lnSpc>
                      </a:pPr>
                      <a:r>
                        <a:rPr sz="1200" spc="-10" dirty="0">
                          <a:latin typeface="Times New Roman"/>
                          <a:cs typeface="Times New Roman"/>
                        </a:rPr>
                        <a:t>412</a:t>
                      </a:r>
                      <a:endParaRPr sz="1200" dirty="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ts val="1380"/>
                        </a:lnSpc>
                      </a:pPr>
                      <a:r>
                        <a:rPr lang="en-US" sz="1200" dirty="0">
                          <a:latin typeface="Times New Roman"/>
                          <a:cs typeface="Times New Roman"/>
                        </a:rPr>
                        <a:t>Ketaki </a:t>
                      </a:r>
                      <a:r>
                        <a:rPr lang="en-US" sz="1200" dirty="0" err="1">
                          <a:latin typeface="Times New Roman"/>
                          <a:cs typeface="Times New Roman"/>
                        </a:rPr>
                        <a:t>Mahamuni</a:t>
                      </a:r>
                      <a:endParaRPr sz="1200" dirty="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3"/>
                  </a:ext>
                </a:extLst>
              </a:tr>
              <a:tr h="234315">
                <a:tc>
                  <a:txBody>
                    <a:bodyPr/>
                    <a:lstStyle/>
                    <a:p>
                      <a:pPr algn="ctr">
                        <a:lnSpc>
                          <a:spcPts val="1380"/>
                        </a:lnSpc>
                      </a:pPr>
                      <a:r>
                        <a:rPr sz="1200" spc="-10" dirty="0">
                          <a:latin typeface="Times New Roman"/>
                          <a:cs typeface="Times New Roman"/>
                        </a:rPr>
                        <a:t>412</a:t>
                      </a:r>
                      <a:r>
                        <a:rPr lang="en-US" sz="1200" spc="-10" dirty="0">
                          <a:latin typeface="Times New Roman"/>
                          <a:cs typeface="Times New Roman"/>
                        </a:rPr>
                        <a:t>10</a:t>
                      </a:r>
                      <a:endParaRPr sz="1200" dirty="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ts val="1380"/>
                        </a:lnSpc>
                      </a:pPr>
                      <a:r>
                        <a:rPr lang="en-US" sz="1200" dirty="0">
                          <a:latin typeface="Times New Roman"/>
                          <a:cs typeface="Times New Roman"/>
                        </a:rPr>
                        <a:t>Siddesh Choudhari</a:t>
                      </a:r>
                      <a:endParaRPr sz="1200" dirty="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4"/>
                  </a:ext>
                </a:extLst>
              </a:tr>
            </a:tbl>
          </a:graphicData>
        </a:graphic>
      </p:graphicFrame>
      <p:sp>
        <p:nvSpPr>
          <p:cNvPr id="5" name="object 5"/>
          <p:cNvSpPr txBox="1"/>
          <p:nvPr/>
        </p:nvSpPr>
        <p:spPr>
          <a:xfrm>
            <a:off x="804163" y="6751101"/>
            <a:ext cx="6155690" cy="688340"/>
          </a:xfrm>
          <a:prstGeom prst="rect">
            <a:avLst/>
          </a:prstGeom>
        </p:spPr>
        <p:txBody>
          <a:bodyPr vert="horz" wrap="square" lIns="0" tIns="6350" rIns="0" bIns="0" rtlCol="0">
            <a:spAutoFit/>
          </a:bodyPr>
          <a:lstStyle/>
          <a:p>
            <a:pPr marL="12700" marR="5080">
              <a:lnSpc>
                <a:spcPct val="103299"/>
              </a:lnSpc>
              <a:spcBef>
                <a:spcPts val="50"/>
              </a:spcBef>
            </a:pPr>
            <a:r>
              <a:rPr sz="1200" dirty="0">
                <a:latin typeface="Times New Roman"/>
                <a:cs typeface="Times New Roman"/>
              </a:rPr>
              <a:t>This</a:t>
            </a:r>
            <a:r>
              <a:rPr sz="1200" spc="70" dirty="0">
                <a:latin typeface="Times New Roman"/>
                <a:cs typeface="Times New Roman"/>
              </a:rPr>
              <a:t> </a:t>
            </a:r>
            <a:r>
              <a:rPr sz="1200" dirty="0">
                <a:latin typeface="Times New Roman"/>
                <a:cs typeface="Times New Roman"/>
              </a:rPr>
              <a:t>is</a:t>
            </a:r>
            <a:r>
              <a:rPr sz="1200" spc="85" dirty="0">
                <a:latin typeface="Times New Roman"/>
                <a:cs typeface="Times New Roman"/>
              </a:rPr>
              <a:t> </a:t>
            </a:r>
            <a:r>
              <a:rPr sz="1200" dirty="0">
                <a:latin typeface="Times New Roman"/>
                <a:cs typeface="Times New Roman"/>
              </a:rPr>
              <a:t>in</a:t>
            </a:r>
            <a:r>
              <a:rPr sz="1200" spc="70" dirty="0">
                <a:latin typeface="Times New Roman"/>
                <a:cs typeface="Times New Roman"/>
              </a:rPr>
              <a:t> </a:t>
            </a:r>
            <a:r>
              <a:rPr sz="1200" dirty="0">
                <a:latin typeface="Times New Roman"/>
                <a:cs typeface="Times New Roman"/>
              </a:rPr>
              <a:t>partial</a:t>
            </a:r>
            <a:r>
              <a:rPr sz="1200" spc="70" dirty="0">
                <a:latin typeface="Times New Roman"/>
                <a:cs typeface="Times New Roman"/>
              </a:rPr>
              <a:t> </a:t>
            </a:r>
            <a:r>
              <a:rPr sz="1200" dirty="0">
                <a:latin typeface="Times New Roman"/>
                <a:cs typeface="Times New Roman"/>
              </a:rPr>
              <a:t>fulfillment</a:t>
            </a:r>
            <a:r>
              <a:rPr sz="1200" spc="75" dirty="0">
                <a:latin typeface="Times New Roman"/>
                <a:cs typeface="Times New Roman"/>
              </a:rPr>
              <a:t> </a:t>
            </a:r>
            <a:r>
              <a:rPr sz="1200" dirty="0">
                <a:latin typeface="Times New Roman"/>
                <a:cs typeface="Times New Roman"/>
              </a:rPr>
              <a:t>of</a:t>
            </a:r>
            <a:r>
              <a:rPr sz="1200" spc="70" dirty="0">
                <a:latin typeface="Times New Roman"/>
                <a:cs typeface="Times New Roman"/>
              </a:rPr>
              <a:t> </a:t>
            </a:r>
            <a:r>
              <a:rPr sz="1200" dirty="0">
                <a:latin typeface="Times New Roman"/>
                <a:cs typeface="Times New Roman"/>
              </a:rPr>
              <a:t>the</a:t>
            </a:r>
            <a:r>
              <a:rPr sz="1200" spc="70" dirty="0">
                <a:latin typeface="Times New Roman"/>
                <a:cs typeface="Times New Roman"/>
              </a:rPr>
              <a:t> </a:t>
            </a:r>
            <a:r>
              <a:rPr sz="1200" dirty="0">
                <a:latin typeface="Times New Roman"/>
                <a:cs typeface="Times New Roman"/>
              </a:rPr>
              <a:t>award</a:t>
            </a:r>
            <a:r>
              <a:rPr sz="1200" spc="80" dirty="0">
                <a:latin typeface="Times New Roman"/>
                <a:cs typeface="Times New Roman"/>
              </a:rPr>
              <a:t> </a:t>
            </a:r>
            <a:r>
              <a:rPr sz="1200" dirty="0">
                <a:latin typeface="Times New Roman"/>
                <a:cs typeface="Times New Roman"/>
              </a:rPr>
              <a:t>of</a:t>
            </a:r>
            <a:r>
              <a:rPr sz="1200" spc="65" dirty="0">
                <a:latin typeface="Times New Roman"/>
                <a:cs typeface="Times New Roman"/>
              </a:rPr>
              <a:t> </a:t>
            </a:r>
            <a:r>
              <a:rPr sz="1200" dirty="0">
                <a:latin typeface="Times New Roman"/>
                <a:cs typeface="Times New Roman"/>
              </a:rPr>
              <a:t>the</a:t>
            </a:r>
            <a:r>
              <a:rPr sz="1200" spc="70" dirty="0">
                <a:latin typeface="Times New Roman"/>
                <a:cs typeface="Times New Roman"/>
              </a:rPr>
              <a:t> </a:t>
            </a:r>
            <a:r>
              <a:rPr sz="1200" dirty="0">
                <a:latin typeface="Times New Roman"/>
                <a:cs typeface="Times New Roman"/>
              </a:rPr>
              <a:t>degree</a:t>
            </a:r>
            <a:r>
              <a:rPr sz="1200" spc="70" dirty="0">
                <a:latin typeface="Times New Roman"/>
                <a:cs typeface="Times New Roman"/>
              </a:rPr>
              <a:t> </a:t>
            </a:r>
            <a:r>
              <a:rPr sz="1200" dirty="0">
                <a:latin typeface="Times New Roman"/>
                <a:cs typeface="Times New Roman"/>
              </a:rPr>
              <a:t>Computer</a:t>
            </a:r>
            <a:r>
              <a:rPr sz="1200" spc="65" dirty="0">
                <a:latin typeface="Times New Roman"/>
                <a:cs typeface="Times New Roman"/>
              </a:rPr>
              <a:t> </a:t>
            </a:r>
            <a:r>
              <a:rPr sz="1200" dirty="0">
                <a:latin typeface="Times New Roman"/>
                <a:cs typeface="Times New Roman"/>
              </a:rPr>
              <a:t>Engineering</a:t>
            </a:r>
            <a:r>
              <a:rPr sz="1200" spc="70" dirty="0">
                <a:latin typeface="Times New Roman"/>
                <a:cs typeface="Times New Roman"/>
              </a:rPr>
              <a:t> </a:t>
            </a:r>
            <a:r>
              <a:rPr sz="1200" dirty="0">
                <a:latin typeface="Times New Roman"/>
                <a:cs typeface="Times New Roman"/>
              </a:rPr>
              <a:t>of</a:t>
            </a:r>
            <a:r>
              <a:rPr sz="1200" spc="60" dirty="0">
                <a:latin typeface="Times New Roman"/>
                <a:cs typeface="Times New Roman"/>
              </a:rPr>
              <a:t> </a:t>
            </a:r>
            <a:r>
              <a:rPr sz="1200" dirty="0">
                <a:latin typeface="Times New Roman"/>
                <a:cs typeface="Times New Roman"/>
              </a:rPr>
              <a:t>Savitribai</a:t>
            </a:r>
            <a:r>
              <a:rPr sz="1200" spc="75" dirty="0">
                <a:latin typeface="Times New Roman"/>
                <a:cs typeface="Times New Roman"/>
              </a:rPr>
              <a:t> </a:t>
            </a:r>
            <a:r>
              <a:rPr sz="1200" spc="-10" dirty="0">
                <a:latin typeface="Times New Roman"/>
                <a:cs typeface="Times New Roman"/>
              </a:rPr>
              <a:t>Phule </a:t>
            </a:r>
            <a:r>
              <a:rPr sz="1200" dirty="0">
                <a:latin typeface="Times New Roman"/>
                <a:cs typeface="Times New Roman"/>
              </a:rPr>
              <a:t>Pune</a:t>
            </a:r>
            <a:r>
              <a:rPr sz="1200" spc="-30" dirty="0">
                <a:latin typeface="Times New Roman"/>
                <a:cs typeface="Times New Roman"/>
              </a:rPr>
              <a:t> </a:t>
            </a:r>
            <a:r>
              <a:rPr sz="1200" spc="-10" dirty="0">
                <a:latin typeface="Times New Roman"/>
                <a:cs typeface="Times New Roman"/>
              </a:rPr>
              <a:t>University.</a:t>
            </a:r>
            <a:endParaRPr sz="1200">
              <a:latin typeface="Times New Roman"/>
              <a:cs typeface="Times New Roman"/>
            </a:endParaRPr>
          </a:p>
          <a:p>
            <a:pPr marL="12700">
              <a:lnSpc>
                <a:spcPct val="100000"/>
              </a:lnSpc>
              <a:spcBef>
                <a:spcPts val="850"/>
              </a:spcBef>
            </a:pPr>
            <a:r>
              <a:rPr sz="1200" b="1" spc="-10" dirty="0">
                <a:latin typeface="Times New Roman"/>
                <a:cs typeface="Times New Roman"/>
              </a:rPr>
              <a:t>Date:</a:t>
            </a:r>
            <a:endParaRPr sz="1200">
              <a:latin typeface="Times New Roman"/>
              <a:cs typeface="Times New Roman"/>
            </a:endParaRPr>
          </a:p>
        </p:txBody>
      </p:sp>
      <p:sp>
        <p:nvSpPr>
          <p:cNvPr id="6" name="object 6"/>
          <p:cNvSpPr txBox="1"/>
          <p:nvPr/>
        </p:nvSpPr>
        <p:spPr>
          <a:xfrm>
            <a:off x="1375447" y="8002304"/>
            <a:ext cx="1329690" cy="397510"/>
          </a:xfrm>
          <a:prstGeom prst="rect">
            <a:avLst/>
          </a:prstGeom>
        </p:spPr>
        <p:txBody>
          <a:bodyPr vert="horz" wrap="square" lIns="0" tIns="12065" rIns="0" bIns="0" rtlCol="0">
            <a:spAutoFit/>
          </a:bodyPr>
          <a:lstStyle/>
          <a:p>
            <a:pPr algn="ctr">
              <a:lnSpc>
                <a:spcPct val="100000"/>
              </a:lnSpc>
              <a:spcBef>
                <a:spcPts val="95"/>
              </a:spcBef>
            </a:pPr>
            <a:r>
              <a:rPr sz="1200" b="1" dirty="0">
                <a:latin typeface="Times New Roman"/>
                <a:cs typeface="Times New Roman"/>
              </a:rPr>
              <a:t>Dr.</a:t>
            </a:r>
            <a:r>
              <a:rPr sz="1200" b="1" spc="-20" dirty="0">
                <a:latin typeface="Times New Roman"/>
                <a:cs typeface="Times New Roman"/>
              </a:rPr>
              <a:t> </a:t>
            </a:r>
            <a:r>
              <a:rPr sz="1200" b="1" dirty="0">
                <a:latin typeface="Times New Roman"/>
                <a:cs typeface="Times New Roman"/>
              </a:rPr>
              <a:t>B.</a:t>
            </a:r>
            <a:r>
              <a:rPr sz="1200" b="1" spc="-10" dirty="0">
                <a:latin typeface="Times New Roman"/>
                <a:cs typeface="Times New Roman"/>
              </a:rPr>
              <a:t> </a:t>
            </a:r>
            <a:r>
              <a:rPr sz="1200" b="1" dirty="0">
                <a:latin typeface="Times New Roman"/>
                <a:cs typeface="Times New Roman"/>
              </a:rPr>
              <a:t>R.</a:t>
            </a:r>
            <a:r>
              <a:rPr sz="1200" b="1" spc="-20" dirty="0">
                <a:latin typeface="Times New Roman"/>
                <a:cs typeface="Times New Roman"/>
              </a:rPr>
              <a:t> </a:t>
            </a:r>
            <a:r>
              <a:rPr sz="1200" b="1" spc="-10" dirty="0">
                <a:latin typeface="Times New Roman"/>
                <a:cs typeface="Times New Roman"/>
              </a:rPr>
              <a:t>Phulpagar</a:t>
            </a:r>
            <a:endParaRPr sz="1200">
              <a:latin typeface="Times New Roman"/>
              <a:cs typeface="Times New Roman"/>
            </a:endParaRPr>
          </a:p>
          <a:p>
            <a:pPr marR="43180" algn="ctr">
              <a:lnSpc>
                <a:spcPct val="100000"/>
              </a:lnSpc>
              <a:spcBef>
                <a:spcPts val="50"/>
              </a:spcBef>
            </a:pPr>
            <a:r>
              <a:rPr sz="1200" spc="-10" dirty="0">
                <a:latin typeface="Times New Roman"/>
                <a:cs typeface="Times New Roman"/>
              </a:rPr>
              <a:t>Guide</a:t>
            </a:r>
            <a:endParaRPr sz="1200">
              <a:latin typeface="Times New Roman"/>
              <a:cs typeface="Times New Roman"/>
            </a:endParaRPr>
          </a:p>
        </p:txBody>
      </p:sp>
      <p:sp>
        <p:nvSpPr>
          <p:cNvPr id="7" name="object 7"/>
          <p:cNvSpPr txBox="1"/>
          <p:nvPr/>
        </p:nvSpPr>
        <p:spPr>
          <a:xfrm>
            <a:off x="4635194" y="8002304"/>
            <a:ext cx="2330450" cy="586105"/>
          </a:xfrm>
          <a:prstGeom prst="rect">
            <a:avLst/>
          </a:prstGeom>
        </p:spPr>
        <p:txBody>
          <a:bodyPr vert="horz" wrap="square" lIns="0" tIns="12065" rIns="0" bIns="0" rtlCol="0">
            <a:spAutoFit/>
          </a:bodyPr>
          <a:lstStyle/>
          <a:p>
            <a:pPr marR="46990" algn="ctr">
              <a:lnSpc>
                <a:spcPct val="100000"/>
              </a:lnSpc>
              <a:spcBef>
                <a:spcPts val="95"/>
              </a:spcBef>
            </a:pPr>
            <a:r>
              <a:rPr sz="1200" b="1" dirty="0">
                <a:latin typeface="Times New Roman"/>
                <a:cs typeface="Times New Roman"/>
              </a:rPr>
              <a:t>Prof.</a:t>
            </a:r>
            <a:r>
              <a:rPr sz="1200" b="1" spc="-35" dirty="0">
                <a:latin typeface="Times New Roman"/>
                <a:cs typeface="Times New Roman"/>
              </a:rPr>
              <a:t> </a:t>
            </a:r>
            <a:r>
              <a:rPr sz="1200" b="1" dirty="0">
                <a:latin typeface="Times New Roman"/>
                <a:cs typeface="Times New Roman"/>
              </a:rPr>
              <a:t>Dr.</a:t>
            </a:r>
            <a:r>
              <a:rPr sz="1200" b="1" spc="-5" dirty="0">
                <a:latin typeface="Times New Roman"/>
                <a:cs typeface="Times New Roman"/>
              </a:rPr>
              <a:t> </a:t>
            </a:r>
            <a:r>
              <a:rPr sz="1200" b="1" dirty="0">
                <a:latin typeface="Times New Roman"/>
                <a:cs typeface="Times New Roman"/>
              </a:rPr>
              <a:t>Mrs.</a:t>
            </a:r>
            <a:r>
              <a:rPr sz="1200" b="1" spc="-20" dirty="0">
                <a:latin typeface="Times New Roman"/>
                <a:cs typeface="Times New Roman"/>
              </a:rPr>
              <a:t> </a:t>
            </a:r>
            <a:r>
              <a:rPr sz="1200" b="1" dirty="0">
                <a:latin typeface="Times New Roman"/>
                <a:cs typeface="Times New Roman"/>
              </a:rPr>
              <a:t>S.</a:t>
            </a:r>
            <a:r>
              <a:rPr sz="1200" b="1" spc="-20" dirty="0">
                <a:latin typeface="Times New Roman"/>
                <a:cs typeface="Times New Roman"/>
              </a:rPr>
              <a:t> </a:t>
            </a:r>
            <a:r>
              <a:rPr sz="1200" b="1" dirty="0">
                <a:latin typeface="Times New Roman"/>
                <a:cs typeface="Times New Roman"/>
              </a:rPr>
              <a:t>A.</a:t>
            </a:r>
            <a:r>
              <a:rPr sz="1200" b="1" spc="-25" dirty="0">
                <a:latin typeface="Times New Roman"/>
                <a:cs typeface="Times New Roman"/>
              </a:rPr>
              <a:t> </a:t>
            </a:r>
            <a:r>
              <a:rPr sz="1200" b="1" spc="-20" dirty="0">
                <a:latin typeface="Times New Roman"/>
                <a:cs typeface="Times New Roman"/>
              </a:rPr>
              <a:t>Itkar</a:t>
            </a:r>
            <a:endParaRPr sz="1200">
              <a:latin typeface="Times New Roman"/>
              <a:cs typeface="Times New Roman"/>
            </a:endParaRPr>
          </a:p>
          <a:p>
            <a:pPr marL="635" algn="ctr">
              <a:lnSpc>
                <a:spcPct val="100000"/>
              </a:lnSpc>
              <a:spcBef>
                <a:spcPts val="50"/>
              </a:spcBef>
            </a:pPr>
            <a:r>
              <a:rPr sz="1200" spc="-10" dirty="0">
                <a:latin typeface="Times New Roman"/>
                <a:cs typeface="Times New Roman"/>
              </a:rPr>
              <a:t>H.O.D</a:t>
            </a:r>
            <a:endParaRPr sz="1200">
              <a:latin typeface="Times New Roman"/>
              <a:cs typeface="Times New Roman"/>
            </a:endParaRPr>
          </a:p>
          <a:p>
            <a:pPr algn="ctr">
              <a:lnSpc>
                <a:spcPct val="100000"/>
              </a:lnSpc>
              <a:spcBef>
                <a:spcPts val="45"/>
              </a:spcBef>
            </a:pPr>
            <a:r>
              <a:rPr sz="1200" spc="-10" dirty="0">
                <a:latin typeface="Times New Roman"/>
                <a:cs typeface="Times New Roman"/>
              </a:rPr>
              <a:t>Department</a:t>
            </a:r>
            <a:r>
              <a:rPr sz="1200" spc="-30" dirty="0">
                <a:latin typeface="Times New Roman"/>
                <a:cs typeface="Times New Roman"/>
              </a:rPr>
              <a:t> </a:t>
            </a:r>
            <a:r>
              <a:rPr sz="1200" dirty="0">
                <a:latin typeface="Times New Roman"/>
                <a:cs typeface="Times New Roman"/>
              </a:rPr>
              <a:t>of</a:t>
            </a:r>
            <a:r>
              <a:rPr sz="1200" spc="-55" dirty="0">
                <a:latin typeface="Times New Roman"/>
                <a:cs typeface="Times New Roman"/>
              </a:rPr>
              <a:t> </a:t>
            </a:r>
            <a:r>
              <a:rPr sz="1200" dirty="0">
                <a:latin typeface="Times New Roman"/>
                <a:cs typeface="Times New Roman"/>
              </a:rPr>
              <a:t>Computer</a:t>
            </a:r>
            <a:r>
              <a:rPr sz="1200" spc="-35" dirty="0">
                <a:latin typeface="Times New Roman"/>
                <a:cs typeface="Times New Roman"/>
              </a:rPr>
              <a:t> </a:t>
            </a:r>
            <a:r>
              <a:rPr sz="1200" spc="-10" dirty="0">
                <a:latin typeface="Times New Roman"/>
                <a:cs typeface="Times New Roman"/>
              </a:rPr>
              <a:t>Engineering</a:t>
            </a:r>
            <a:endParaRPr sz="1200">
              <a:latin typeface="Times New Roman"/>
              <a:cs typeface="Times New Roman"/>
            </a:endParaRPr>
          </a:p>
        </p:txBody>
      </p:sp>
      <p:pic>
        <p:nvPicPr>
          <p:cNvPr id="8" name="object 8"/>
          <p:cNvPicPr/>
          <p:nvPr/>
        </p:nvPicPr>
        <p:blipFill>
          <a:blip r:embed="rId2" cstate="print"/>
          <a:stretch>
            <a:fillRect/>
          </a:stretch>
        </p:blipFill>
        <p:spPr>
          <a:xfrm>
            <a:off x="3232403" y="691896"/>
            <a:ext cx="1418844" cy="1837943"/>
          </a:xfrm>
          <a:prstGeom prst="rect">
            <a:avLst/>
          </a:prstGeom>
        </p:spPr>
      </p:pic>
      <p:sp>
        <p:nvSpPr>
          <p:cNvPr id="9" name="object 9"/>
          <p:cNvSpPr/>
          <p:nvPr/>
        </p:nvSpPr>
        <p:spPr>
          <a:xfrm>
            <a:off x="304800" y="304799"/>
            <a:ext cx="7162800" cy="9448800"/>
          </a:xfrm>
          <a:custGeom>
            <a:avLst/>
            <a:gdLst/>
            <a:ahLst/>
            <a:cxnLst/>
            <a:rect l="l" t="t" r="r" b="b"/>
            <a:pathLst>
              <a:path w="7162800" h="9448800">
                <a:moveTo>
                  <a:pt x="7162800" y="12"/>
                </a:moveTo>
                <a:lnTo>
                  <a:pt x="7156704" y="12"/>
                </a:lnTo>
                <a:lnTo>
                  <a:pt x="7156704" y="6096"/>
                </a:lnTo>
                <a:lnTo>
                  <a:pt x="7156691" y="9442704"/>
                </a:lnTo>
                <a:lnTo>
                  <a:pt x="6083" y="9442704"/>
                </a:lnTo>
                <a:lnTo>
                  <a:pt x="6083" y="6096"/>
                </a:lnTo>
                <a:lnTo>
                  <a:pt x="7156691" y="6096"/>
                </a:lnTo>
                <a:lnTo>
                  <a:pt x="7156691" y="0"/>
                </a:lnTo>
                <a:lnTo>
                  <a:pt x="0" y="0"/>
                </a:lnTo>
                <a:lnTo>
                  <a:pt x="0" y="6096"/>
                </a:lnTo>
                <a:lnTo>
                  <a:pt x="0" y="9442704"/>
                </a:lnTo>
                <a:lnTo>
                  <a:pt x="0" y="9448800"/>
                </a:lnTo>
                <a:lnTo>
                  <a:pt x="7156691" y="9448800"/>
                </a:lnTo>
                <a:lnTo>
                  <a:pt x="7162800" y="9448800"/>
                </a:lnTo>
                <a:lnTo>
                  <a:pt x="7162800" y="9442704"/>
                </a:lnTo>
                <a:lnTo>
                  <a:pt x="7162800" y="6096"/>
                </a:lnTo>
                <a:lnTo>
                  <a:pt x="7162800" y="12"/>
                </a:lnTo>
                <a:close/>
              </a:path>
            </a:pathLst>
          </a:custGeom>
          <a:solidFill>
            <a:srgbClr val="000000"/>
          </a:solidFill>
        </p:spPr>
        <p:txBody>
          <a:bodyPr wrap="square" lIns="0" tIns="0" rIns="0" bIns="0" rtlCol="0"/>
          <a:lstStyle/>
          <a:p>
            <a:endParaRPr/>
          </a:p>
        </p:txBody>
      </p:sp>
      <p:sp>
        <p:nvSpPr>
          <p:cNvPr id="10" name="object 10"/>
          <p:cNvSpPr txBox="1"/>
          <p:nvPr/>
        </p:nvSpPr>
        <p:spPr>
          <a:xfrm>
            <a:off x="1941067" y="9412477"/>
            <a:ext cx="3882390" cy="200660"/>
          </a:xfrm>
          <a:prstGeom prst="rect">
            <a:avLst/>
          </a:prstGeom>
        </p:spPr>
        <p:txBody>
          <a:bodyPr vert="horz" wrap="square" lIns="0" tIns="0" rIns="0" bIns="0" rtlCol="0">
            <a:spAutoFit/>
          </a:bodyPr>
          <a:lstStyle/>
          <a:p>
            <a:pPr marL="12700">
              <a:lnSpc>
                <a:spcPts val="1460"/>
              </a:lnSpc>
            </a:pPr>
            <a:r>
              <a:rPr sz="1250" dirty="0">
                <a:latin typeface="Times New Roman"/>
                <a:cs typeface="Times New Roman"/>
              </a:rPr>
              <a:t>Department</a:t>
            </a:r>
            <a:r>
              <a:rPr sz="1250" spc="-40" dirty="0">
                <a:latin typeface="Times New Roman"/>
                <a:cs typeface="Times New Roman"/>
              </a:rPr>
              <a:t> </a:t>
            </a:r>
            <a:r>
              <a:rPr sz="1250" dirty="0">
                <a:latin typeface="Times New Roman"/>
                <a:cs typeface="Times New Roman"/>
              </a:rPr>
              <a:t>of</a:t>
            </a:r>
            <a:r>
              <a:rPr sz="1250" spc="-30" dirty="0">
                <a:latin typeface="Times New Roman"/>
                <a:cs typeface="Times New Roman"/>
              </a:rPr>
              <a:t> </a:t>
            </a:r>
            <a:r>
              <a:rPr sz="1250" dirty="0">
                <a:latin typeface="Times New Roman"/>
                <a:cs typeface="Times New Roman"/>
              </a:rPr>
              <a:t>Computer</a:t>
            </a:r>
            <a:r>
              <a:rPr sz="1250" spc="-40" dirty="0">
                <a:latin typeface="Times New Roman"/>
                <a:cs typeface="Times New Roman"/>
              </a:rPr>
              <a:t> </a:t>
            </a:r>
            <a:r>
              <a:rPr sz="1250" dirty="0">
                <a:latin typeface="Times New Roman"/>
                <a:cs typeface="Times New Roman"/>
              </a:rPr>
              <a:t>Engineering,</a:t>
            </a:r>
            <a:r>
              <a:rPr sz="1250" spc="-40" dirty="0">
                <a:latin typeface="Times New Roman"/>
                <a:cs typeface="Times New Roman"/>
              </a:rPr>
              <a:t> </a:t>
            </a:r>
            <a:r>
              <a:rPr sz="1250" dirty="0">
                <a:latin typeface="Times New Roman"/>
                <a:cs typeface="Times New Roman"/>
              </a:rPr>
              <a:t>PESMCOE,</a:t>
            </a:r>
            <a:r>
              <a:rPr sz="1250" spc="-40" dirty="0">
                <a:latin typeface="Times New Roman"/>
                <a:cs typeface="Times New Roman"/>
              </a:rPr>
              <a:t> </a:t>
            </a:r>
            <a:r>
              <a:rPr sz="1250" dirty="0">
                <a:latin typeface="Times New Roman"/>
                <a:cs typeface="Times New Roman"/>
              </a:rPr>
              <a:t>Pune:</a:t>
            </a:r>
            <a:r>
              <a:rPr sz="1250" spc="-45" dirty="0">
                <a:latin typeface="Times New Roman"/>
                <a:cs typeface="Times New Roman"/>
              </a:rPr>
              <a:t> </a:t>
            </a:r>
            <a:r>
              <a:rPr sz="1250" spc="-25" dirty="0">
                <a:latin typeface="Times New Roman"/>
                <a:cs typeface="Times New Roman"/>
              </a:rPr>
              <a:t>05</a:t>
            </a:r>
            <a:endParaRPr sz="1250">
              <a:latin typeface="Times New Roman"/>
              <a:cs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766063" y="342692"/>
            <a:ext cx="69850" cy="215265"/>
          </a:xfrm>
          <a:prstGeom prst="rect">
            <a:avLst/>
          </a:prstGeom>
        </p:spPr>
        <p:txBody>
          <a:bodyPr vert="horz" wrap="square" lIns="0" tIns="12065" rIns="0" bIns="0" rtlCol="0">
            <a:spAutoFit/>
          </a:bodyPr>
          <a:lstStyle/>
          <a:p>
            <a:pPr marL="12700">
              <a:lnSpc>
                <a:spcPct val="100000"/>
              </a:lnSpc>
              <a:spcBef>
                <a:spcPts val="95"/>
              </a:spcBef>
            </a:pPr>
            <a:r>
              <a:rPr sz="1250" b="1" spc="-50" dirty="0">
                <a:solidFill>
                  <a:srgbClr val="FFFFFF"/>
                </a:solidFill>
                <a:latin typeface="Times New Roman"/>
                <a:cs typeface="Times New Roman"/>
              </a:rPr>
              <a:t>i</a:t>
            </a:r>
            <a:endParaRPr sz="1250">
              <a:latin typeface="Times New Roman"/>
              <a:cs typeface="Times New Roman"/>
            </a:endParaRPr>
          </a:p>
        </p:txBody>
      </p:sp>
      <p:sp>
        <p:nvSpPr>
          <p:cNvPr id="3" name="object 3"/>
          <p:cNvSpPr txBox="1"/>
          <p:nvPr/>
        </p:nvSpPr>
        <p:spPr>
          <a:xfrm>
            <a:off x="1773427" y="363967"/>
            <a:ext cx="4224655" cy="166071"/>
          </a:xfrm>
          <a:prstGeom prst="rect">
            <a:avLst/>
          </a:prstGeom>
        </p:spPr>
        <p:txBody>
          <a:bodyPr vert="horz" wrap="square" lIns="0" tIns="12065" rIns="0" bIns="0" rtlCol="0">
            <a:spAutoFit/>
          </a:bodyPr>
          <a:lstStyle/>
          <a:p>
            <a:pPr marL="12700">
              <a:lnSpc>
                <a:spcPct val="100000"/>
              </a:lnSpc>
              <a:spcBef>
                <a:spcPts val="95"/>
              </a:spcBef>
            </a:pPr>
            <a:r>
              <a:rPr lang="en-US" sz="1000" dirty="0">
                <a:latin typeface="Times New Roman"/>
                <a:cs typeface="Times New Roman"/>
              </a:rPr>
              <a:t>Performance Analysis of Single-Threaded and Multithreaded Merge Sort</a:t>
            </a:r>
            <a:endParaRPr sz="1000" dirty="0">
              <a:latin typeface="Times New Roman"/>
              <a:cs typeface="Times New Roman"/>
            </a:endParaRPr>
          </a:p>
        </p:txBody>
      </p:sp>
      <p:sp>
        <p:nvSpPr>
          <p:cNvPr id="4" name="object 4"/>
          <p:cNvSpPr txBox="1"/>
          <p:nvPr/>
        </p:nvSpPr>
        <p:spPr>
          <a:xfrm>
            <a:off x="2671064" y="1929453"/>
            <a:ext cx="2427605" cy="390525"/>
          </a:xfrm>
          <a:prstGeom prst="rect">
            <a:avLst/>
          </a:prstGeom>
        </p:spPr>
        <p:txBody>
          <a:bodyPr vert="horz" wrap="square" lIns="0" tIns="12065" rIns="0" bIns="0" rtlCol="0">
            <a:spAutoFit/>
          </a:bodyPr>
          <a:lstStyle/>
          <a:p>
            <a:pPr marL="12700">
              <a:lnSpc>
                <a:spcPct val="100000"/>
              </a:lnSpc>
              <a:spcBef>
                <a:spcPts val="95"/>
              </a:spcBef>
            </a:pPr>
            <a:r>
              <a:rPr sz="2400" b="1" spc="-10" dirty="0">
                <a:latin typeface="Times New Roman"/>
                <a:cs typeface="Times New Roman"/>
              </a:rPr>
              <a:t>Acknowledgement</a:t>
            </a:r>
            <a:endParaRPr sz="2400">
              <a:latin typeface="Times New Roman"/>
              <a:cs typeface="Times New Roman"/>
            </a:endParaRPr>
          </a:p>
        </p:txBody>
      </p:sp>
      <p:sp>
        <p:nvSpPr>
          <p:cNvPr id="5" name="object 5"/>
          <p:cNvSpPr txBox="1"/>
          <p:nvPr/>
        </p:nvSpPr>
        <p:spPr>
          <a:xfrm>
            <a:off x="901700" y="2717072"/>
            <a:ext cx="6261100" cy="3533018"/>
          </a:xfrm>
          <a:prstGeom prst="rect">
            <a:avLst/>
          </a:prstGeom>
        </p:spPr>
        <p:txBody>
          <a:bodyPr vert="horz" wrap="square" lIns="0" tIns="24130" rIns="0" bIns="0" rtlCol="0">
            <a:spAutoFit/>
          </a:bodyPr>
          <a:lstStyle/>
          <a:p>
            <a:pPr algn="just"/>
            <a:r>
              <a:rPr lang="en-US" sz="1200" dirty="0">
                <a:latin typeface="Times New Roman" panose="02020603050405020304" pitchFamily="18" charset="0"/>
                <a:cs typeface="Times New Roman" panose="02020603050405020304" pitchFamily="18" charset="0"/>
              </a:rPr>
              <a:t>It gives us immense pleasure in presenting the seminar report on “</a:t>
            </a:r>
            <a:r>
              <a:rPr lang="en-US" sz="1200" b="1" dirty="0">
                <a:latin typeface="Times New Roman" panose="02020603050405020304" pitchFamily="18" charset="0"/>
                <a:cs typeface="Times New Roman" panose="02020603050405020304" pitchFamily="18" charset="0"/>
              </a:rPr>
              <a:t>Performance Analysis of Single-Threaded and Multithreaded Merge Sort</a:t>
            </a:r>
            <a:r>
              <a:rPr lang="en-US" sz="1200" dirty="0">
                <a:latin typeface="Times New Roman" panose="02020603050405020304" pitchFamily="18" charset="0"/>
                <a:cs typeface="Times New Roman" panose="02020603050405020304" pitchFamily="18" charset="0"/>
              </a:rPr>
              <a:t>.”</a:t>
            </a:r>
          </a:p>
          <a:p>
            <a:pPr algn="just"/>
            <a:br>
              <a:rPr lang="en-US" sz="1200" dirty="0">
                <a:latin typeface="Times New Roman" panose="02020603050405020304" pitchFamily="18" charset="0"/>
                <a:cs typeface="Times New Roman" panose="02020603050405020304" pitchFamily="18" charset="0"/>
              </a:rPr>
            </a:br>
            <a:r>
              <a:rPr lang="en-US" sz="1200" dirty="0">
                <a:latin typeface="Times New Roman" panose="02020603050405020304" pitchFamily="18" charset="0"/>
                <a:cs typeface="Times New Roman" panose="02020603050405020304" pitchFamily="18" charset="0"/>
              </a:rPr>
              <a:t>Firstly, we would like to express our deep sense of gratitude to our guide, </a:t>
            </a:r>
            <a:r>
              <a:rPr lang="en-US" sz="1200" b="1" dirty="0">
                <a:latin typeface="Times New Roman" panose="02020603050405020304" pitchFamily="18" charset="0"/>
                <a:cs typeface="Times New Roman" panose="02020603050405020304" pitchFamily="18" charset="0"/>
              </a:rPr>
              <a:t>Dr. B. R. </a:t>
            </a:r>
            <a:r>
              <a:rPr lang="en-US" sz="1200" b="1" dirty="0" err="1">
                <a:latin typeface="Times New Roman" panose="02020603050405020304" pitchFamily="18" charset="0"/>
                <a:cs typeface="Times New Roman" panose="02020603050405020304" pitchFamily="18" charset="0"/>
              </a:rPr>
              <a:t>Phulpagar</a:t>
            </a:r>
            <a:r>
              <a:rPr lang="en-US" sz="1200" dirty="0">
                <a:latin typeface="Times New Roman" panose="02020603050405020304" pitchFamily="18" charset="0"/>
                <a:cs typeface="Times New Roman" panose="02020603050405020304" pitchFamily="18" charset="0"/>
              </a:rPr>
              <a:t>, for his valuable guidance, encouragement, and continuous support throughout the completion of this project. His insightful feedback and motivation played a crucial role in making this work successful and comprehensive.</a:t>
            </a:r>
          </a:p>
          <a:p>
            <a:pPr algn="just"/>
            <a:br>
              <a:rPr lang="en-US" sz="1200" dirty="0">
                <a:latin typeface="Times New Roman" panose="02020603050405020304" pitchFamily="18" charset="0"/>
                <a:cs typeface="Times New Roman" panose="02020603050405020304" pitchFamily="18" charset="0"/>
              </a:rPr>
            </a:br>
            <a:r>
              <a:rPr lang="en-US" sz="1200" dirty="0">
                <a:latin typeface="Times New Roman" panose="02020603050405020304" pitchFamily="18" charset="0"/>
                <a:cs typeface="Times New Roman" panose="02020603050405020304" pitchFamily="18" charset="0"/>
              </a:rPr>
              <a:t>We would also like to extend our heartfelt thanks to </a:t>
            </a:r>
            <a:r>
              <a:rPr lang="en-US" sz="1200" b="1" dirty="0">
                <a:latin typeface="Times New Roman" panose="02020603050405020304" pitchFamily="18" charset="0"/>
                <a:cs typeface="Times New Roman" panose="02020603050405020304" pitchFamily="18" charset="0"/>
              </a:rPr>
              <a:t>Prof. Dr. Mrs. S. A. </a:t>
            </a:r>
            <a:r>
              <a:rPr lang="en-US" sz="1200" b="1" dirty="0" err="1">
                <a:latin typeface="Times New Roman" panose="02020603050405020304" pitchFamily="18" charset="0"/>
                <a:cs typeface="Times New Roman" panose="02020603050405020304" pitchFamily="18" charset="0"/>
              </a:rPr>
              <a:t>Itkar</a:t>
            </a:r>
            <a:r>
              <a:rPr lang="en-US" sz="1200" dirty="0">
                <a:latin typeface="Times New Roman" panose="02020603050405020304" pitchFamily="18" charset="0"/>
                <a:cs typeface="Times New Roman" panose="02020603050405020304" pitchFamily="18" charset="0"/>
              </a:rPr>
              <a:t>, Head of the Computer Engineering Department, </a:t>
            </a:r>
            <a:r>
              <a:rPr lang="en-US" sz="1200" b="1" dirty="0">
                <a:latin typeface="Times New Roman" panose="02020603050405020304" pitchFamily="18" charset="0"/>
                <a:cs typeface="Times New Roman" panose="02020603050405020304" pitchFamily="18" charset="0"/>
              </a:rPr>
              <a:t>PES Modern College of Engineering</a:t>
            </a:r>
            <a:r>
              <a:rPr lang="en-US" sz="1200" dirty="0">
                <a:latin typeface="Times New Roman" panose="02020603050405020304" pitchFamily="18" charset="0"/>
                <a:cs typeface="Times New Roman" panose="02020603050405020304" pitchFamily="18" charset="0"/>
              </a:rPr>
              <a:t>, for her kind cooperation and constant encouragement during the progress of this report.</a:t>
            </a:r>
          </a:p>
          <a:p>
            <a:pPr algn="just"/>
            <a:br>
              <a:rPr lang="en-US" sz="1200" dirty="0">
                <a:latin typeface="Times New Roman" panose="02020603050405020304" pitchFamily="18" charset="0"/>
                <a:cs typeface="Times New Roman" panose="02020603050405020304" pitchFamily="18" charset="0"/>
              </a:rPr>
            </a:br>
            <a:r>
              <a:rPr lang="en-US" sz="1200" dirty="0">
                <a:latin typeface="Times New Roman" panose="02020603050405020304" pitchFamily="18" charset="0"/>
                <a:cs typeface="Times New Roman" panose="02020603050405020304" pitchFamily="18" charset="0"/>
              </a:rPr>
              <a:t>We express our sincere thanks to our Principal, </a:t>
            </a:r>
            <a:r>
              <a:rPr lang="en-US" sz="1200" b="1" dirty="0">
                <a:latin typeface="Times New Roman" panose="02020603050405020304" pitchFamily="18" charset="0"/>
                <a:cs typeface="Times New Roman" panose="02020603050405020304" pitchFamily="18" charset="0"/>
              </a:rPr>
              <a:t>Prof. Dr. Mrs. K. R. Joshi</a:t>
            </a:r>
            <a:r>
              <a:rPr lang="en-US" sz="1200" dirty="0">
                <a:latin typeface="Times New Roman" panose="02020603050405020304" pitchFamily="18" charset="0"/>
                <a:cs typeface="Times New Roman" panose="02020603050405020304" pitchFamily="18" charset="0"/>
              </a:rPr>
              <a:t>, and all the faculty members of the Computer Engineering Department for their guidance, valuable suggestions, and continuous inspiration throughout our project work. We also acknowledge the assistance provided by our laboratory staff for their timely help and support during implementation.</a:t>
            </a:r>
          </a:p>
          <a:p>
            <a:pPr algn="just"/>
            <a:br>
              <a:rPr lang="en-US" sz="1200" dirty="0">
                <a:latin typeface="Times New Roman" panose="02020603050405020304" pitchFamily="18" charset="0"/>
                <a:cs typeface="Times New Roman" panose="02020603050405020304" pitchFamily="18" charset="0"/>
              </a:rPr>
            </a:br>
            <a:r>
              <a:rPr lang="en-US" sz="1200" dirty="0">
                <a:latin typeface="Times New Roman" panose="02020603050405020304" pitchFamily="18" charset="0"/>
                <a:cs typeface="Times New Roman" panose="02020603050405020304" pitchFamily="18" charset="0"/>
              </a:rPr>
              <a:t>Lastly, we are deeply thankful to our parents and friends for their unwavering encouragement, blessings, and moral support, which have been the foundation of our success and confidence.</a:t>
            </a:r>
          </a:p>
        </p:txBody>
      </p:sp>
      <p:sp>
        <p:nvSpPr>
          <p:cNvPr id="6" name="object 6"/>
          <p:cNvSpPr/>
          <p:nvPr/>
        </p:nvSpPr>
        <p:spPr>
          <a:xfrm>
            <a:off x="228600" y="228599"/>
            <a:ext cx="7315200" cy="9601200"/>
          </a:xfrm>
          <a:custGeom>
            <a:avLst/>
            <a:gdLst/>
            <a:ahLst/>
            <a:cxnLst/>
            <a:rect l="l" t="t" r="r" b="b"/>
            <a:pathLst>
              <a:path w="7315200" h="9601200">
                <a:moveTo>
                  <a:pt x="7315200" y="12"/>
                </a:moveTo>
                <a:lnTo>
                  <a:pt x="7309104" y="12"/>
                </a:lnTo>
                <a:lnTo>
                  <a:pt x="7309104" y="6096"/>
                </a:lnTo>
                <a:lnTo>
                  <a:pt x="7309091" y="9595104"/>
                </a:lnTo>
                <a:lnTo>
                  <a:pt x="6083" y="9595104"/>
                </a:lnTo>
                <a:lnTo>
                  <a:pt x="6083" y="6096"/>
                </a:lnTo>
                <a:lnTo>
                  <a:pt x="7309091" y="6096"/>
                </a:lnTo>
                <a:lnTo>
                  <a:pt x="7309091" y="0"/>
                </a:lnTo>
                <a:lnTo>
                  <a:pt x="0" y="0"/>
                </a:lnTo>
                <a:lnTo>
                  <a:pt x="0" y="6096"/>
                </a:lnTo>
                <a:lnTo>
                  <a:pt x="0" y="9595104"/>
                </a:lnTo>
                <a:lnTo>
                  <a:pt x="0" y="9601200"/>
                </a:lnTo>
                <a:lnTo>
                  <a:pt x="7309091" y="9601200"/>
                </a:lnTo>
                <a:lnTo>
                  <a:pt x="7315200" y="9601200"/>
                </a:lnTo>
                <a:lnTo>
                  <a:pt x="7315200" y="9595104"/>
                </a:lnTo>
                <a:lnTo>
                  <a:pt x="7315200" y="6096"/>
                </a:lnTo>
                <a:lnTo>
                  <a:pt x="7315200" y="12"/>
                </a:lnTo>
                <a:close/>
              </a:path>
            </a:pathLst>
          </a:custGeom>
          <a:solidFill>
            <a:srgbClr val="000000"/>
          </a:solidFill>
        </p:spPr>
        <p:txBody>
          <a:bodyPr wrap="square" lIns="0" tIns="0" rIns="0" bIns="0" rtlCol="0"/>
          <a:lstStyle/>
          <a:p>
            <a:endParaRPr/>
          </a:p>
        </p:txBody>
      </p:sp>
      <p:sp>
        <p:nvSpPr>
          <p:cNvPr id="7" name="object 7"/>
          <p:cNvSpPr txBox="1">
            <a:spLocks noGrp="1"/>
          </p:cNvSpPr>
          <p:nvPr>
            <p:ph type="ftr" sz="quarter" idx="5"/>
          </p:nvPr>
        </p:nvSpPr>
        <p:spPr>
          <a:prstGeom prst="rect">
            <a:avLst/>
          </a:prstGeom>
        </p:spPr>
        <p:txBody>
          <a:bodyPr vert="horz" wrap="square" lIns="0" tIns="0" rIns="0" bIns="0" rtlCol="0">
            <a:spAutoFit/>
          </a:bodyPr>
          <a:lstStyle/>
          <a:p>
            <a:pPr marL="12700">
              <a:lnSpc>
                <a:spcPts val="1460"/>
              </a:lnSpc>
            </a:pPr>
            <a:r>
              <a:rPr dirty="0"/>
              <a:t>DEPARTMENT</a:t>
            </a:r>
            <a:r>
              <a:rPr spc="-30" dirty="0"/>
              <a:t> </a:t>
            </a:r>
            <a:r>
              <a:rPr dirty="0"/>
              <a:t>OF</a:t>
            </a:r>
            <a:r>
              <a:rPr spc="-40" dirty="0"/>
              <a:t> </a:t>
            </a:r>
            <a:r>
              <a:rPr dirty="0"/>
              <a:t>COMPUTER</a:t>
            </a:r>
            <a:r>
              <a:rPr spc="-45" dirty="0"/>
              <a:t> </a:t>
            </a:r>
            <a:r>
              <a:rPr spc="-10" dirty="0"/>
              <a:t>ENGINEERING,</a:t>
            </a:r>
            <a:r>
              <a:rPr spc="-45" dirty="0"/>
              <a:t> </a:t>
            </a:r>
            <a:r>
              <a:rPr dirty="0"/>
              <a:t>PESMCOE,</a:t>
            </a:r>
            <a:r>
              <a:rPr spc="-40" dirty="0"/>
              <a:t> </a:t>
            </a:r>
            <a:r>
              <a:rPr spc="-10" dirty="0"/>
              <a:t>PUNE:05</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721868" y="342692"/>
            <a:ext cx="113664" cy="215265"/>
          </a:xfrm>
          <a:prstGeom prst="rect">
            <a:avLst/>
          </a:prstGeom>
        </p:spPr>
        <p:txBody>
          <a:bodyPr vert="horz" wrap="square" lIns="0" tIns="12065" rIns="0" bIns="0" rtlCol="0">
            <a:spAutoFit/>
          </a:bodyPr>
          <a:lstStyle/>
          <a:p>
            <a:pPr marL="12700">
              <a:lnSpc>
                <a:spcPct val="100000"/>
              </a:lnSpc>
              <a:spcBef>
                <a:spcPts val="95"/>
              </a:spcBef>
            </a:pPr>
            <a:r>
              <a:rPr sz="1250" b="1" spc="-25" dirty="0">
                <a:solidFill>
                  <a:srgbClr val="FFFFFF"/>
                </a:solidFill>
                <a:latin typeface="Times New Roman"/>
                <a:cs typeface="Times New Roman"/>
              </a:rPr>
              <a:t>ii</a:t>
            </a:r>
            <a:endParaRPr sz="1250">
              <a:latin typeface="Times New Roman"/>
              <a:cs typeface="Times New Roman"/>
            </a:endParaRPr>
          </a:p>
        </p:txBody>
      </p:sp>
      <p:sp>
        <p:nvSpPr>
          <p:cNvPr id="3" name="object 3"/>
          <p:cNvSpPr txBox="1"/>
          <p:nvPr/>
        </p:nvSpPr>
        <p:spPr>
          <a:xfrm>
            <a:off x="1773427" y="363967"/>
            <a:ext cx="4224655" cy="166071"/>
          </a:xfrm>
          <a:prstGeom prst="rect">
            <a:avLst/>
          </a:prstGeom>
        </p:spPr>
        <p:txBody>
          <a:bodyPr vert="horz" wrap="square" lIns="0" tIns="12065" rIns="0" bIns="0" rtlCol="0">
            <a:spAutoFit/>
          </a:bodyPr>
          <a:lstStyle/>
          <a:p>
            <a:pPr marL="12700">
              <a:lnSpc>
                <a:spcPct val="100000"/>
              </a:lnSpc>
              <a:spcBef>
                <a:spcPts val="95"/>
              </a:spcBef>
            </a:pPr>
            <a:r>
              <a:rPr lang="en-US" sz="1000" dirty="0">
                <a:latin typeface="Times New Roman"/>
                <a:cs typeface="Times New Roman"/>
              </a:rPr>
              <a:t>Performance Analysis of Single-Threaded and Multithreaded Merge Sort</a:t>
            </a:r>
            <a:endParaRPr sz="1000" dirty="0">
              <a:latin typeface="Times New Roman"/>
              <a:cs typeface="Times New Roman"/>
            </a:endParaRPr>
          </a:p>
        </p:txBody>
      </p:sp>
      <p:sp>
        <p:nvSpPr>
          <p:cNvPr id="4" name="object 4"/>
          <p:cNvSpPr txBox="1"/>
          <p:nvPr/>
        </p:nvSpPr>
        <p:spPr>
          <a:xfrm>
            <a:off x="901700" y="862443"/>
            <a:ext cx="5956935" cy="5520742"/>
          </a:xfrm>
          <a:prstGeom prst="rect">
            <a:avLst/>
          </a:prstGeom>
        </p:spPr>
        <p:txBody>
          <a:bodyPr vert="horz" wrap="square" lIns="0" tIns="41910" rIns="0" bIns="0" rtlCol="0">
            <a:spAutoFit/>
          </a:bodyPr>
          <a:lstStyle/>
          <a:p>
            <a:pPr marL="12700">
              <a:lnSpc>
                <a:spcPct val="100000"/>
              </a:lnSpc>
              <a:spcBef>
                <a:spcPts val="330"/>
              </a:spcBef>
            </a:pPr>
            <a:r>
              <a:rPr sz="1600" dirty="0">
                <a:solidFill>
                  <a:srgbClr val="2D74B5"/>
                </a:solidFill>
                <a:latin typeface="Calibri"/>
                <a:cs typeface="Calibri"/>
              </a:rPr>
              <a:t>Table</a:t>
            </a:r>
            <a:r>
              <a:rPr sz="1600" spc="-50" dirty="0">
                <a:solidFill>
                  <a:srgbClr val="2D74B5"/>
                </a:solidFill>
                <a:latin typeface="Calibri"/>
                <a:cs typeface="Calibri"/>
              </a:rPr>
              <a:t> </a:t>
            </a:r>
            <a:r>
              <a:rPr sz="1600" dirty="0">
                <a:solidFill>
                  <a:srgbClr val="2D74B5"/>
                </a:solidFill>
                <a:latin typeface="Calibri"/>
                <a:cs typeface="Calibri"/>
              </a:rPr>
              <a:t>of</a:t>
            </a:r>
            <a:r>
              <a:rPr sz="1600" spc="-70" dirty="0">
                <a:solidFill>
                  <a:srgbClr val="2D74B5"/>
                </a:solidFill>
                <a:latin typeface="Calibri"/>
                <a:cs typeface="Calibri"/>
              </a:rPr>
              <a:t> </a:t>
            </a:r>
            <a:r>
              <a:rPr sz="1600" spc="-10" dirty="0">
                <a:solidFill>
                  <a:srgbClr val="2D74B5"/>
                </a:solidFill>
                <a:latin typeface="Calibri"/>
                <a:cs typeface="Calibri"/>
              </a:rPr>
              <a:t>Contents</a:t>
            </a:r>
            <a:endParaRPr sz="1600" dirty="0">
              <a:latin typeface="Calibri"/>
              <a:cs typeface="Calibri"/>
            </a:endParaRPr>
          </a:p>
          <a:p>
            <a:pPr marL="12700">
              <a:lnSpc>
                <a:spcPct val="100000"/>
              </a:lnSpc>
              <a:spcBef>
                <a:spcPts val="185"/>
              </a:spcBef>
            </a:pPr>
            <a:r>
              <a:rPr sz="1250" b="1" spc="-10" dirty="0">
                <a:latin typeface="Times New Roman"/>
                <a:cs typeface="Times New Roman"/>
              </a:rPr>
              <a:t>Abstract</a:t>
            </a:r>
            <a:r>
              <a:rPr sz="1250" spc="-10" dirty="0">
                <a:latin typeface="Times New Roman"/>
                <a:cs typeface="Times New Roman"/>
              </a:rPr>
              <a:t>...................................................................................................................................</a:t>
            </a:r>
            <a:r>
              <a:rPr sz="1250" spc="250" dirty="0">
                <a:latin typeface="Times New Roman"/>
                <a:cs typeface="Times New Roman"/>
              </a:rPr>
              <a:t>  </a:t>
            </a:r>
            <a:r>
              <a:rPr sz="1250" spc="-25" dirty="0">
                <a:latin typeface="Times New Roman"/>
                <a:cs typeface="Times New Roman"/>
              </a:rPr>
              <a:t>iii</a:t>
            </a:r>
            <a:endParaRPr sz="1250" dirty="0">
              <a:latin typeface="Times New Roman"/>
              <a:cs typeface="Times New Roman"/>
            </a:endParaRPr>
          </a:p>
          <a:p>
            <a:pPr marL="12700">
              <a:lnSpc>
                <a:spcPct val="100000"/>
              </a:lnSpc>
              <a:spcBef>
                <a:spcPts val="550"/>
              </a:spcBef>
            </a:pPr>
            <a:r>
              <a:rPr sz="1250" b="1" spc="-10" dirty="0">
                <a:latin typeface="Times New Roman"/>
                <a:cs typeface="Times New Roman"/>
              </a:rPr>
              <a:t>Introduction</a:t>
            </a:r>
            <a:r>
              <a:rPr sz="1250" spc="-10" dirty="0">
                <a:latin typeface="Times New Roman"/>
                <a:cs typeface="Times New Roman"/>
              </a:rPr>
              <a:t>.............................................................................................................................</a:t>
            </a:r>
            <a:r>
              <a:rPr sz="1250" spc="300" dirty="0">
                <a:latin typeface="Times New Roman"/>
                <a:cs typeface="Times New Roman"/>
              </a:rPr>
              <a:t>  </a:t>
            </a:r>
            <a:r>
              <a:rPr sz="1250" spc="-50" dirty="0">
                <a:latin typeface="Times New Roman"/>
                <a:cs typeface="Times New Roman"/>
              </a:rPr>
              <a:t>1</a:t>
            </a:r>
            <a:endParaRPr sz="1250" dirty="0">
              <a:latin typeface="Times New Roman"/>
              <a:cs typeface="Times New Roman"/>
            </a:endParaRPr>
          </a:p>
          <a:p>
            <a:pPr marL="527685" lvl="1" indent="-236220">
              <a:lnSpc>
                <a:spcPct val="100000"/>
              </a:lnSpc>
              <a:spcBef>
                <a:spcPts val="555"/>
              </a:spcBef>
              <a:buAutoNum type="arabicPeriod"/>
              <a:tabLst>
                <a:tab pos="527685" algn="l"/>
              </a:tabLst>
            </a:pPr>
            <a:r>
              <a:rPr sz="1250" dirty="0">
                <a:latin typeface="Times New Roman"/>
                <a:cs typeface="Times New Roman"/>
              </a:rPr>
              <a:t>Background</a:t>
            </a:r>
            <a:r>
              <a:rPr sz="1250" spc="65" dirty="0">
                <a:latin typeface="Times New Roman"/>
                <a:cs typeface="Times New Roman"/>
              </a:rPr>
              <a:t> </a:t>
            </a:r>
            <a:r>
              <a:rPr sz="1250" dirty="0">
                <a:latin typeface="Times New Roman"/>
                <a:cs typeface="Times New Roman"/>
              </a:rPr>
              <a:t>and</a:t>
            </a:r>
            <a:r>
              <a:rPr sz="1250" spc="55" dirty="0">
                <a:latin typeface="Times New Roman"/>
                <a:cs typeface="Times New Roman"/>
              </a:rPr>
              <a:t> </a:t>
            </a:r>
            <a:r>
              <a:rPr sz="1250" dirty="0">
                <a:latin typeface="Times New Roman"/>
                <a:cs typeface="Times New Roman"/>
              </a:rPr>
              <a:t>Significance</a:t>
            </a:r>
            <a:r>
              <a:rPr sz="1250" spc="50" dirty="0">
                <a:latin typeface="Times New Roman"/>
                <a:cs typeface="Times New Roman"/>
              </a:rPr>
              <a:t> </a:t>
            </a:r>
            <a:r>
              <a:rPr sz="1250" dirty="0">
                <a:latin typeface="Times New Roman"/>
                <a:cs typeface="Times New Roman"/>
              </a:rPr>
              <a:t>of</a:t>
            </a:r>
            <a:r>
              <a:rPr sz="1250" spc="50" dirty="0">
                <a:latin typeface="Times New Roman"/>
                <a:cs typeface="Times New Roman"/>
              </a:rPr>
              <a:t> </a:t>
            </a:r>
            <a:r>
              <a:rPr lang="en-US" sz="1250" spc="50" dirty="0">
                <a:latin typeface="Times New Roman"/>
                <a:cs typeface="Times New Roman"/>
              </a:rPr>
              <a:t>Merge Sor</a:t>
            </a:r>
            <a:r>
              <a:rPr sz="1250" spc="-10" dirty="0">
                <a:latin typeface="Times New Roman"/>
                <a:cs typeface="Times New Roman"/>
              </a:rPr>
              <a:t>....</a:t>
            </a:r>
            <a:r>
              <a:rPr lang="en-IN" sz="1250" spc="-10" dirty="0">
                <a:latin typeface="Times New Roman"/>
                <a:cs typeface="Times New Roman"/>
              </a:rPr>
              <a:t>.......................</a:t>
            </a:r>
            <a:r>
              <a:rPr sz="1250" spc="-10" dirty="0">
                <a:latin typeface="Times New Roman"/>
                <a:cs typeface="Times New Roman"/>
              </a:rPr>
              <a:t>..................................</a:t>
            </a:r>
            <a:r>
              <a:rPr sz="1250" spc="25" dirty="0">
                <a:latin typeface="Times New Roman"/>
                <a:cs typeface="Times New Roman"/>
              </a:rPr>
              <a:t> </a:t>
            </a:r>
            <a:r>
              <a:rPr lang="en-US" sz="1250" spc="25" dirty="0">
                <a:latin typeface="Times New Roman"/>
                <a:cs typeface="Times New Roman"/>
              </a:rPr>
              <a:t>  </a:t>
            </a:r>
            <a:r>
              <a:rPr sz="1250" spc="-50" dirty="0">
                <a:latin typeface="Times New Roman"/>
                <a:cs typeface="Times New Roman"/>
              </a:rPr>
              <a:t>2</a:t>
            </a:r>
            <a:endParaRPr sz="1250" dirty="0">
              <a:latin typeface="Times New Roman"/>
              <a:cs typeface="Times New Roman"/>
            </a:endParaRPr>
          </a:p>
          <a:p>
            <a:pPr marL="527685" lvl="1" indent="-236220">
              <a:lnSpc>
                <a:spcPct val="100000"/>
              </a:lnSpc>
              <a:spcBef>
                <a:spcPts val="540"/>
              </a:spcBef>
              <a:buAutoNum type="arabicPeriod"/>
              <a:tabLst>
                <a:tab pos="527685" algn="l"/>
              </a:tabLst>
            </a:pPr>
            <a:r>
              <a:rPr sz="1250" dirty="0">
                <a:latin typeface="Times New Roman"/>
                <a:cs typeface="Times New Roman"/>
              </a:rPr>
              <a:t>Problem</a:t>
            </a:r>
            <a:r>
              <a:rPr sz="1250" spc="415" dirty="0">
                <a:latin typeface="Times New Roman"/>
                <a:cs typeface="Times New Roman"/>
              </a:rPr>
              <a:t> </a:t>
            </a:r>
            <a:r>
              <a:rPr sz="1250" spc="-10" dirty="0">
                <a:latin typeface="Times New Roman"/>
                <a:cs typeface="Times New Roman"/>
              </a:rPr>
              <a:t>Statement.......................................................................................................</a:t>
            </a:r>
            <a:r>
              <a:rPr sz="1250" spc="355" dirty="0">
                <a:latin typeface="Times New Roman"/>
                <a:cs typeface="Times New Roman"/>
              </a:rPr>
              <a:t> </a:t>
            </a:r>
            <a:r>
              <a:rPr sz="1250" spc="-50" dirty="0">
                <a:latin typeface="Times New Roman"/>
                <a:cs typeface="Times New Roman"/>
              </a:rPr>
              <a:t>2</a:t>
            </a:r>
            <a:endParaRPr sz="1250" dirty="0">
              <a:latin typeface="Times New Roman"/>
              <a:cs typeface="Times New Roman"/>
            </a:endParaRPr>
          </a:p>
          <a:p>
            <a:pPr marL="527685" lvl="1" indent="-236220">
              <a:lnSpc>
                <a:spcPct val="100000"/>
              </a:lnSpc>
              <a:spcBef>
                <a:spcPts val="550"/>
              </a:spcBef>
              <a:buAutoNum type="arabicPeriod"/>
              <a:tabLst>
                <a:tab pos="527685" algn="l"/>
              </a:tabLst>
            </a:pPr>
            <a:r>
              <a:rPr sz="1250" dirty="0">
                <a:latin typeface="Times New Roman"/>
                <a:cs typeface="Times New Roman"/>
              </a:rPr>
              <a:t>Motivation</a:t>
            </a:r>
            <a:r>
              <a:rPr sz="1250" spc="235" dirty="0">
                <a:latin typeface="Times New Roman"/>
                <a:cs typeface="Times New Roman"/>
              </a:rPr>
              <a:t> </a:t>
            </a:r>
            <a:r>
              <a:rPr sz="1250" dirty="0">
                <a:latin typeface="Times New Roman"/>
                <a:cs typeface="Times New Roman"/>
              </a:rPr>
              <a:t>for</a:t>
            </a:r>
            <a:r>
              <a:rPr sz="1250" spc="235" dirty="0">
                <a:latin typeface="Times New Roman"/>
                <a:cs typeface="Times New Roman"/>
              </a:rPr>
              <a:t> </a:t>
            </a:r>
            <a:r>
              <a:rPr sz="1250" spc="-10" dirty="0">
                <a:latin typeface="Times New Roman"/>
                <a:cs typeface="Times New Roman"/>
              </a:rPr>
              <a:t>Parallelization......................................................................................</a:t>
            </a:r>
            <a:r>
              <a:rPr sz="1250" spc="190" dirty="0">
                <a:latin typeface="Times New Roman"/>
                <a:cs typeface="Times New Roman"/>
              </a:rPr>
              <a:t> </a:t>
            </a:r>
            <a:r>
              <a:rPr sz="1250" spc="-50" dirty="0">
                <a:latin typeface="Times New Roman"/>
                <a:cs typeface="Times New Roman"/>
              </a:rPr>
              <a:t>3</a:t>
            </a:r>
            <a:endParaRPr sz="1250" dirty="0">
              <a:latin typeface="Times New Roman"/>
              <a:cs typeface="Times New Roman"/>
            </a:endParaRPr>
          </a:p>
          <a:p>
            <a:pPr marL="527685" lvl="1" indent="-236220">
              <a:lnSpc>
                <a:spcPct val="100000"/>
              </a:lnSpc>
              <a:spcBef>
                <a:spcPts val="550"/>
              </a:spcBef>
              <a:buAutoNum type="arabicPeriod"/>
              <a:tabLst>
                <a:tab pos="527685" algn="l"/>
              </a:tabLst>
            </a:pPr>
            <a:r>
              <a:rPr sz="1250" spc="-10" dirty="0">
                <a:latin typeface="Times New Roman"/>
                <a:cs typeface="Times New Roman"/>
              </a:rPr>
              <a:t>Objectives</a:t>
            </a:r>
            <a:r>
              <a:rPr sz="1250" spc="330" dirty="0">
                <a:latin typeface="Times New Roman"/>
                <a:cs typeface="Times New Roman"/>
              </a:rPr>
              <a:t> </a:t>
            </a:r>
            <a:r>
              <a:rPr sz="1250" spc="-10" dirty="0">
                <a:latin typeface="Times New Roman"/>
                <a:cs typeface="Times New Roman"/>
              </a:rPr>
              <a:t>....................................................................................................................</a:t>
            </a:r>
            <a:r>
              <a:rPr sz="1250" spc="425" dirty="0">
                <a:latin typeface="Times New Roman"/>
                <a:cs typeface="Times New Roman"/>
              </a:rPr>
              <a:t> </a:t>
            </a:r>
            <a:r>
              <a:rPr sz="1250" spc="-50" dirty="0">
                <a:latin typeface="Times New Roman"/>
                <a:cs typeface="Times New Roman"/>
              </a:rPr>
              <a:t>3</a:t>
            </a:r>
            <a:endParaRPr sz="1250" dirty="0">
              <a:latin typeface="Times New Roman"/>
              <a:cs typeface="Times New Roman"/>
            </a:endParaRPr>
          </a:p>
          <a:p>
            <a:pPr marL="12700">
              <a:lnSpc>
                <a:spcPct val="100000"/>
              </a:lnSpc>
              <a:spcBef>
                <a:spcPts val="555"/>
              </a:spcBef>
            </a:pPr>
            <a:r>
              <a:rPr sz="1250" b="1" dirty="0">
                <a:latin typeface="Times New Roman"/>
                <a:cs typeface="Times New Roman"/>
              </a:rPr>
              <a:t>Literature</a:t>
            </a:r>
            <a:r>
              <a:rPr sz="1250" b="1" spc="430" dirty="0">
                <a:latin typeface="Times New Roman"/>
                <a:cs typeface="Times New Roman"/>
              </a:rPr>
              <a:t> </a:t>
            </a:r>
            <a:r>
              <a:rPr sz="1250" b="1" spc="-10" dirty="0">
                <a:latin typeface="Times New Roman"/>
                <a:cs typeface="Times New Roman"/>
              </a:rPr>
              <a:t>Survey</a:t>
            </a:r>
            <a:r>
              <a:rPr sz="1250" spc="-10" dirty="0">
                <a:latin typeface="Times New Roman"/>
                <a:cs typeface="Times New Roman"/>
              </a:rPr>
              <a:t>....................................................................................................................</a:t>
            </a:r>
            <a:r>
              <a:rPr sz="1250" spc="370" dirty="0">
                <a:latin typeface="Times New Roman"/>
                <a:cs typeface="Times New Roman"/>
              </a:rPr>
              <a:t> </a:t>
            </a:r>
            <a:r>
              <a:rPr sz="1250" spc="-50" dirty="0">
                <a:latin typeface="Times New Roman"/>
                <a:cs typeface="Times New Roman"/>
              </a:rPr>
              <a:t>4</a:t>
            </a:r>
            <a:endParaRPr sz="1250" dirty="0">
              <a:latin typeface="Times New Roman"/>
              <a:cs typeface="Times New Roman"/>
            </a:endParaRPr>
          </a:p>
          <a:p>
            <a:pPr marL="527685" lvl="1" indent="-236220">
              <a:lnSpc>
                <a:spcPct val="100000"/>
              </a:lnSpc>
              <a:spcBef>
                <a:spcPts val="550"/>
              </a:spcBef>
              <a:buAutoNum type="arabicPeriod"/>
              <a:tabLst>
                <a:tab pos="527685" algn="l"/>
              </a:tabLst>
            </a:pPr>
            <a:r>
              <a:rPr sz="1250" dirty="0">
                <a:latin typeface="Times New Roman"/>
                <a:cs typeface="Times New Roman"/>
              </a:rPr>
              <a:t>Sequential</a:t>
            </a:r>
            <a:r>
              <a:rPr sz="1250" spc="-10" dirty="0">
                <a:latin typeface="Times New Roman"/>
                <a:cs typeface="Times New Roman"/>
              </a:rPr>
              <a:t> </a:t>
            </a:r>
            <a:r>
              <a:rPr sz="1250" dirty="0">
                <a:latin typeface="Times New Roman"/>
                <a:cs typeface="Times New Roman"/>
              </a:rPr>
              <a:t>Matrix</a:t>
            </a:r>
            <a:r>
              <a:rPr sz="1250" spc="10" dirty="0">
                <a:latin typeface="Times New Roman"/>
                <a:cs typeface="Times New Roman"/>
              </a:rPr>
              <a:t> </a:t>
            </a:r>
            <a:r>
              <a:rPr sz="1250" spc="-10" dirty="0">
                <a:latin typeface="Times New Roman"/>
                <a:cs typeface="Times New Roman"/>
              </a:rPr>
              <a:t>Multiplication:</a:t>
            </a:r>
            <a:r>
              <a:rPr sz="1250" spc="-5" dirty="0">
                <a:latin typeface="Times New Roman"/>
                <a:cs typeface="Times New Roman"/>
              </a:rPr>
              <a:t> </a:t>
            </a:r>
            <a:r>
              <a:rPr sz="1250" dirty="0">
                <a:latin typeface="Times New Roman"/>
                <a:cs typeface="Times New Roman"/>
              </a:rPr>
              <a:t>Optimization</a:t>
            </a:r>
            <a:r>
              <a:rPr sz="1250" spc="-5" dirty="0">
                <a:latin typeface="Times New Roman"/>
                <a:cs typeface="Times New Roman"/>
              </a:rPr>
              <a:t> </a:t>
            </a:r>
            <a:r>
              <a:rPr sz="1250" dirty="0">
                <a:latin typeface="Times New Roman"/>
                <a:cs typeface="Times New Roman"/>
              </a:rPr>
              <a:t>and</a:t>
            </a:r>
            <a:r>
              <a:rPr sz="1250" spc="-5" dirty="0">
                <a:latin typeface="Times New Roman"/>
                <a:cs typeface="Times New Roman"/>
              </a:rPr>
              <a:t> </a:t>
            </a:r>
            <a:r>
              <a:rPr sz="1250" dirty="0">
                <a:latin typeface="Times New Roman"/>
                <a:cs typeface="Times New Roman"/>
              </a:rPr>
              <a:t>Memory</a:t>
            </a:r>
            <a:r>
              <a:rPr sz="1250" spc="-5" dirty="0">
                <a:latin typeface="Times New Roman"/>
                <a:cs typeface="Times New Roman"/>
              </a:rPr>
              <a:t> </a:t>
            </a:r>
            <a:r>
              <a:rPr sz="1250" dirty="0">
                <a:latin typeface="Times New Roman"/>
                <a:cs typeface="Times New Roman"/>
              </a:rPr>
              <a:t>Locality</a:t>
            </a:r>
            <a:r>
              <a:rPr sz="1250" spc="-30" dirty="0">
                <a:latin typeface="Times New Roman"/>
                <a:cs typeface="Times New Roman"/>
              </a:rPr>
              <a:t> </a:t>
            </a:r>
            <a:r>
              <a:rPr sz="1250" spc="-10" dirty="0">
                <a:latin typeface="Times New Roman"/>
                <a:cs typeface="Times New Roman"/>
              </a:rPr>
              <a:t>.....................</a:t>
            </a:r>
            <a:r>
              <a:rPr sz="1250" spc="-30" dirty="0">
                <a:latin typeface="Times New Roman"/>
                <a:cs typeface="Times New Roman"/>
              </a:rPr>
              <a:t> </a:t>
            </a:r>
            <a:r>
              <a:rPr sz="1250" spc="-50" dirty="0">
                <a:latin typeface="Times New Roman"/>
                <a:cs typeface="Times New Roman"/>
              </a:rPr>
              <a:t>5</a:t>
            </a:r>
            <a:endParaRPr sz="1250" dirty="0">
              <a:latin typeface="Times New Roman"/>
              <a:cs typeface="Times New Roman"/>
            </a:endParaRPr>
          </a:p>
          <a:p>
            <a:pPr marL="527685" lvl="1" indent="-236220">
              <a:lnSpc>
                <a:spcPct val="100000"/>
              </a:lnSpc>
              <a:spcBef>
                <a:spcPts val="555"/>
              </a:spcBef>
              <a:buAutoNum type="arabicPeriod"/>
              <a:tabLst>
                <a:tab pos="527685" algn="l"/>
              </a:tabLst>
            </a:pPr>
            <a:r>
              <a:rPr sz="1250" spc="-10" dirty="0">
                <a:latin typeface="Times New Roman"/>
                <a:cs typeface="Times New Roman"/>
              </a:rPr>
              <a:t>Shared-</a:t>
            </a:r>
            <a:r>
              <a:rPr sz="1250" dirty="0">
                <a:latin typeface="Times New Roman"/>
                <a:cs typeface="Times New Roman"/>
              </a:rPr>
              <a:t>Memory</a:t>
            </a:r>
            <a:r>
              <a:rPr sz="1250" spc="-5" dirty="0">
                <a:latin typeface="Times New Roman"/>
                <a:cs typeface="Times New Roman"/>
              </a:rPr>
              <a:t> </a:t>
            </a:r>
            <a:r>
              <a:rPr sz="1250" dirty="0">
                <a:latin typeface="Times New Roman"/>
                <a:cs typeface="Times New Roman"/>
              </a:rPr>
              <a:t>Parallel Architectures and</a:t>
            </a:r>
            <a:r>
              <a:rPr sz="1250" spc="15" dirty="0">
                <a:latin typeface="Times New Roman"/>
                <a:cs typeface="Times New Roman"/>
              </a:rPr>
              <a:t> </a:t>
            </a:r>
            <a:r>
              <a:rPr sz="1250" dirty="0">
                <a:latin typeface="Times New Roman"/>
                <a:cs typeface="Times New Roman"/>
              </a:rPr>
              <a:t>Programming</a:t>
            </a:r>
            <a:r>
              <a:rPr sz="1250" spc="-5" dirty="0">
                <a:latin typeface="Times New Roman"/>
                <a:cs typeface="Times New Roman"/>
              </a:rPr>
              <a:t> </a:t>
            </a:r>
            <a:r>
              <a:rPr sz="1250" dirty="0">
                <a:latin typeface="Times New Roman"/>
                <a:cs typeface="Times New Roman"/>
              </a:rPr>
              <a:t>Models</a:t>
            </a:r>
            <a:r>
              <a:rPr sz="1250" spc="-10" dirty="0">
                <a:latin typeface="Times New Roman"/>
                <a:cs typeface="Times New Roman"/>
              </a:rPr>
              <a:t> ............................</a:t>
            </a:r>
            <a:r>
              <a:rPr sz="1250" spc="-25" dirty="0">
                <a:latin typeface="Times New Roman"/>
                <a:cs typeface="Times New Roman"/>
              </a:rPr>
              <a:t> </a:t>
            </a:r>
            <a:r>
              <a:rPr sz="1250" spc="-50" dirty="0">
                <a:latin typeface="Times New Roman"/>
                <a:cs typeface="Times New Roman"/>
              </a:rPr>
              <a:t>5</a:t>
            </a:r>
            <a:endParaRPr sz="1250" dirty="0">
              <a:latin typeface="Times New Roman"/>
              <a:cs typeface="Times New Roman"/>
            </a:endParaRPr>
          </a:p>
          <a:p>
            <a:pPr marL="527685" lvl="1" indent="-236220">
              <a:lnSpc>
                <a:spcPct val="100000"/>
              </a:lnSpc>
              <a:spcBef>
                <a:spcPts val="550"/>
              </a:spcBef>
              <a:buAutoNum type="arabicPeriod"/>
              <a:tabLst>
                <a:tab pos="527685" algn="l"/>
              </a:tabLst>
            </a:pPr>
            <a:r>
              <a:rPr sz="1250" dirty="0">
                <a:latin typeface="Times New Roman"/>
                <a:cs typeface="Times New Roman"/>
              </a:rPr>
              <a:t>Performance</a:t>
            </a:r>
            <a:r>
              <a:rPr sz="1250" spc="-10" dirty="0">
                <a:latin typeface="Times New Roman"/>
                <a:cs typeface="Times New Roman"/>
              </a:rPr>
              <a:t> </a:t>
            </a:r>
            <a:r>
              <a:rPr sz="1250" dirty="0">
                <a:latin typeface="Times New Roman"/>
                <a:cs typeface="Times New Roman"/>
              </a:rPr>
              <a:t>and</a:t>
            </a:r>
            <a:r>
              <a:rPr sz="1250" spc="5" dirty="0">
                <a:latin typeface="Times New Roman"/>
                <a:cs typeface="Times New Roman"/>
              </a:rPr>
              <a:t> </a:t>
            </a:r>
            <a:r>
              <a:rPr sz="1250" dirty="0">
                <a:latin typeface="Times New Roman"/>
                <a:cs typeface="Times New Roman"/>
              </a:rPr>
              <a:t>Scalability of</a:t>
            </a:r>
            <a:r>
              <a:rPr sz="1250" spc="15" dirty="0">
                <a:latin typeface="Times New Roman"/>
                <a:cs typeface="Times New Roman"/>
              </a:rPr>
              <a:t> </a:t>
            </a:r>
            <a:r>
              <a:rPr sz="1250" dirty="0">
                <a:latin typeface="Times New Roman"/>
                <a:cs typeface="Times New Roman"/>
              </a:rPr>
              <a:t>Optimized</a:t>
            </a:r>
            <a:r>
              <a:rPr sz="1250" spc="5" dirty="0">
                <a:latin typeface="Times New Roman"/>
                <a:cs typeface="Times New Roman"/>
              </a:rPr>
              <a:t> </a:t>
            </a:r>
            <a:r>
              <a:rPr sz="1250" dirty="0">
                <a:latin typeface="Times New Roman"/>
                <a:cs typeface="Times New Roman"/>
              </a:rPr>
              <a:t>Parallel CPU</a:t>
            </a:r>
            <a:r>
              <a:rPr sz="1250" spc="15" dirty="0">
                <a:latin typeface="Times New Roman"/>
                <a:cs typeface="Times New Roman"/>
              </a:rPr>
              <a:t> </a:t>
            </a:r>
            <a:r>
              <a:rPr sz="1250" spc="-10" dirty="0">
                <a:latin typeface="Times New Roman"/>
                <a:cs typeface="Times New Roman"/>
              </a:rPr>
              <a:t>MM....................................</a:t>
            </a:r>
            <a:r>
              <a:rPr sz="1250" spc="-20" dirty="0">
                <a:latin typeface="Times New Roman"/>
                <a:cs typeface="Times New Roman"/>
              </a:rPr>
              <a:t> </a:t>
            </a:r>
            <a:r>
              <a:rPr sz="1250" spc="-50" dirty="0">
                <a:latin typeface="Times New Roman"/>
                <a:cs typeface="Times New Roman"/>
              </a:rPr>
              <a:t>6</a:t>
            </a:r>
            <a:endParaRPr sz="1250" dirty="0">
              <a:latin typeface="Times New Roman"/>
              <a:cs typeface="Times New Roman"/>
            </a:endParaRPr>
          </a:p>
          <a:p>
            <a:pPr marL="527685" lvl="1" indent="-236220">
              <a:lnSpc>
                <a:spcPct val="100000"/>
              </a:lnSpc>
              <a:spcBef>
                <a:spcPts val="550"/>
              </a:spcBef>
              <a:buAutoNum type="arabicPeriod"/>
              <a:tabLst>
                <a:tab pos="527685" algn="l"/>
              </a:tabLst>
            </a:pPr>
            <a:r>
              <a:rPr sz="1250" dirty="0">
                <a:latin typeface="Times New Roman"/>
                <a:cs typeface="Times New Roman"/>
              </a:rPr>
              <a:t>Challenges</a:t>
            </a:r>
            <a:r>
              <a:rPr sz="1250" spc="-35" dirty="0">
                <a:latin typeface="Times New Roman"/>
                <a:cs typeface="Times New Roman"/>
              </a:rPr>
              <a:t> </a:t>
            </a:r>
            <a:r>
              <a:rPr sz="1250" dirty="0">
                <a:latin typeface="Times New Roman"/>
                <a:cs typeface="Times New Roman"/>
              </a:rPr>
              <a:t>in</a:t>
            </a:r>
            <a:r>
              <a:rPr sz="1250" spc="-30" dirty="0">
                <a:latin typeface="Times New Roman"/>
                <a:cs typeface="Times New Roman"/>
              </a:rPr>
              <a:t> </a:t>
            </a:r>
            <a:r>
              <a:rPr sz="1250" spc="-10" dirty="0">
                <a:latin typeface="Times New Roman"/>
                <a:cs typeface="Times New Roman"/>
              </a:rPr>
              <a:t>Fine-</a:t>
            </a:r>
            <a:r>
              <a:rPr sz="1250" dirty="0">
                <a:latin typeface="Times New Roman"/>
                <a:cs typeface="Times New Roman"/>
              </a:rPr>
              <a:t>Grained</a:t>
            </a:r>
            <a:r>
              <a:rPr sz="1250" spc="-25" dirty="0">
                <a:latin typeface="Times New Roman"/>
                <a:cs typeface="Times New Roman"/>
              </a:rPr>
              <a:t> </a:t>
            </a:r>
            <a:r>
              <a:rPr sz="1250" dirty="0">
                <a:latin typeface="Times New Roman"/>
                <a:cs typeface="Times New Roman"/>
              </a:rPr>
              <a:t>CPU</a:t>
            </a:r>
            <a:r>
              <a:rPr sz="1250" spc="-20" dirty="0">
                <a:latin typeface="Times New Roman"/>
                <a:cs typeface="Times New Roman"/>
              </a:rPr>
              <a:t> </a:t>
            </a:r>
            <a:r>
              <a:rPr sz="1250" dirty="0">
                <a:latin typeface="Times New Roman"/>
                <a:cs typeface="Times New Roman"/>
              </a:rPr>
              <a:t>Multithreading</a:t>
            </a:r>
            <a:r>
              <a:rPr sz="1250" spc="-25" dirty="0">
                <a:latin typeface="Times New Roman"/>
                <a:cs typeface="Times New Roman"/>
              </a:rPr>
              <a:t> </a:t>
            </a:r>
            <a:r>
              <a:rPr sz="1250" dirty="0">
                <a:latin typeface="Times New Roman"/>
                <a:cs typeface="Times New Roman"/>
              </a:rPr>
              <a:t>(The</a:t>
            </a:r>
            <a:r>
              <a:rPr sz="1250" spc="-20" dirty="0">
                <a:latin typeface="Times New Roman"/>
                <a:cs typeface="Times New Roman"/>
              </a:rPr>
              <a:t> </a:t>
            </a:r>
            <a:r>
              <a:rPr sz="1250" dirty="0">
                <a:latin typeface="Times New Roman"/>
                <a:cs typeface="Times New Roman"/>
              </a:rPr>
              <a:t>Granularity</a:t>
            </a:r>
            <a:r>
              <a:rPr sz="1250" spc="-30" dirty="0">
                <a:latin typeface="Times New Roman"/>
                <a:cs typeface="Times New Roman"/>
              </a:rPr>
              <a:t> </a:t>
            </a:r>
            <a:r>
              <a:rPr sz="1250" spc="-10" dirty="0">
                <a:latin typeface="Times New Roman"/>
                <a:cs typeface="Times New Roman"/>
              </a:rPr>
              <a:t>Problem)</a:t>
            </a:r>
            <a:r>
              <a:rPr sz="1250" spc="-65" dirty="0">
                <a:latin typeface="Times New Roman"/>
                <a:cs typeface="Times New Roman"/>
              </a:rPr>
              <a:t> </a:t>
            </a:r>
            <a:r>
              <a:rPr sz="1250" dirty="0">
                <a:latin typeface="Times New Roman"/>
                <a:cs typeface="Times New Roman"/>
              </a:rPr>
              <a:t>...........</a:t>
            </a:r>
            <a:r>
              <a:rPr sz="1250" spc="-50" dirty="0">
                <a:latin typeface="Times New Roman"/>
                <a:cs typeface="Times New Roman"/>
              </a:rPr>
              <a:t> 6</a:t>
            </a:r>
            <a:endParaRPr sz="1250" dirty="0">
              <a:latin typeface="Times New Roman"/>
              <a:cs typeface="Times New Roman"/>
            </a:endParaRPr>
          </a:p>
          <a:p>
            <a:pPr marL="527685" lvl="1" indent="-236220">
              <a:lnSpc>
                <a:spcPct val="100000"/>
              </a:lnSpc>
              <a:spcBef>
                <a:spcPts val="555"/>
              </a:spcBef>
              <a:buAutoNum type="arabicPeriod"/>
              <a:tabLst>
                <a:tab pos="527685" algn="l"/>
              </a:tabLst>
            </a:pPr>
            <a:r>
              <a:rPr sz="1250" dirty="0">
                <a:latin typeface="Times New Roman"/>
                <a:cs typeface="Times New Roman"/>
              </a:rPr>
              <a:t>Contextualizing</a:t>
            </a:r>
            <a:r>
              <a:rPr sz="1250" spc="-35" dirty="0">
                <a:latin typeface="Times New Roman"/>
                <a:cs typeface="Times New Roman"/>
              </a:rPr>
              <a:t> </a:t>
            </a:r>
            <a:r>
              <a:rPr sz="1250" dirty="0">
                <a:latin typeface="Times New Roman"/>
                <a:cs typeface="Times New Roman"/>
              </a:rPr>
              <a:t>CPU</a:t>
            </a:r>
            <a:r>
              <a:rPr sz="1250" spc="-35" dirty="0">
                <a:latin typeface="Times New Roman"/>
                <a:cs typeface="Times New Roman"/>
              </a:rPr>
              <a:t> </a:t>
            </a:r>
            <a:r>
              <a:rPr sz="1250" dirty="0">
                <a:latin typeface="Times New Roman"/>
                <a:cs typeface="Times New Roman"/>
              </a:rPr>
              <a:t>Performance</a:t>
            </a:r>
            <a:r>
              <a:rPr sz="1250" spc="-45" dirty="0">
                <a:latin typeface="Times New Roman"/>
                <a:cs typeface="Times New Roman"/>
              </a:rPr>
              <a:t> </a:t>
            </a:r>
            <a:r>
              <a:rPr sz="1250" dirty="0">
                <a:latin typeface="Times New Roman"/>
                <a:cs typeface="Times New Roman"/>
              </a:rPr>
              <a:t>against</a:t>
            </a:r>
            <a:r>
              <a:rPr sz="1250" spc="-20" dirty="0">
                <a:latin typeface="Times New Roman"/>
                <a:cs typeface="Times New Roman"/>
              </a:rPr>
              <a:t> </a:t>
            </a:r>
            <a:r>
              <a:rPr sz="1250" spc="-10" dirty="0">
                <a:latin typeface="Times New Roman"/>
                <a:cs typeface="Times New Roman"/>
              </a:rPr>
              <a:t>Many-</a:t>
            </a:r>
            <a:r>
              <a:rPr sz="1250" dirty="0">
                <a:latin typeface="Times New Roman"/>
                <a:cs typeface="Times New Roman"/>
              </a:rPr>
              <a:t>Core</a:t>
            </a:r>
            <a:r>
              <a:rPr sz="1250" spc="-35" dirty="0">
                <a:latin typeface="Times New Roman"/>
                <a:cs typeface="Times New Roman"/>
              </a:rPr>
              <a:t> </a:t>
            </a:r>
            <a:r>
              <a:rPr sz="1250" dirty="0">
                <a:latin typeface="Times New Roman"/>
                <a:cs typeface="Times New Roman"/>
              </a:rPr>
              <a:t>Architectures</a:t>
            </a:r>
            <a:r>
              <a:rPr sz="1250" spc="-30" dirty="0">
                <a:latin typeface="Times New Roman"/>
                <a:cs typeface="Times New Roman"/>
              </a:rPr>
              <a:t> </a:t>
            </a:r>
            <a:r>
              <a:rPr sz="1250" dirty="0">
                <a:latin typeface="Times New Roman"/>
                <a:cs typeface="Times New Roman"/>
              </a:rPr>
              <a:t>(GPU)</a:t>
            </a:r>
            <a:r>
              <a:rPr sz="1250" spc="-70" dirty="0">
                <a:latin typeface="Times New Roman"/>
                <a:cs typeface="Times New Roman"/>
              </a:rPr>
              <a:t> </a:t>
            </a:r>
            <a:r>
              <a:rPr sz="1250" dirty="0">
                <a:latin typeface="Times New Roman"/>
                <a:cs typeface="Times New Roman"/>
              </a:rPr>
              <a:t>...........</a:t>
            </a:r>
            <a:r>
              <a:rPr sz="1250" spc="-55" dirty="0">
                <a:latin typeface="Times New Roman"/>
                <a:cs typeface="Times New Roman"/>
              </a:rPr>
              <a:t> </a:t>
            </a:r>
            <a:r>
              <a:rPr sz="1250" spc="-50" dirty="0">
                <a:latin typeface="Times New Roman"/>
                <a:cs typeface="Times New Roman"/>
              </a:rPr>
              <a:t>7</a:t>
            </a:r>
            <a:endParaRPr sz="1250" dirty="0">
              <a:latin typeface="Times New Roman"/>
              <a:cs typeface="Times New Roman"/>
            </a:endParaRPr>
          </a:p>
          <a:p>
            <a:pPr marL="12700">
              <a:lnSpc>
                <a:spcPct val="100000"/>
              </a:lnSpc>
              <a:spcBef>
                <a:spcPts val="550"/>
              </a:spcBef>
            </a:pPr>
            <a:r>
              <a:rPr sz="1250" b="1" dirty="0">
                <a:latin typeface="Times New Roman"/>
                <a:cs typeface="Times New Roman"/>
              </a:rPr>
              <a:t>Details</a:t>
            </a:r>
            <a:r>
              <a:rPr sz="1250" b="1" spc="310" dirty="0">
                <a:latin typeface="Times New Roman"/>
                <a:cs typeface="Times New Roman"/>
              </a:rPr>
              <a:t> </a:t>
            </a:r>
            <a:r>
              <a:rPr sz="1250" b="1" dirty="0">
                <a:latin typeface="Times New Roman"/>
                <a:cs typeface="Times New Roman"/>
              </a:rPr>
              <a:t>of</a:t>
            </a:r>
            <a:r>
              <a:rPr sz="1250" b="1" spc="300" dirty="0">
                <a:latin typeface="Times New Roman"/>
                <a:cs typeface="Times New Roman"/>
              </a:rPr>
              <a:t> </a:t>
            </a:r>
            <a:r>
              <a:rPr sz="1250" b="1" spc="-10" dirty="0">
                <a:latin typeface="Times New Roman"/>
                <a:cs typeface="Times New Roman"/>
              </a:rPr>
              <a:t>Design</a:t>
            </a:r>
            <a:r>
              <a:rPr sz="1250" spc="-10" dirty="0">
                <a:latin typeface="Times New Roman"/>
                <a:cs typeface="Times New Roman"/>
              </a:rPr>
              <a:t>......................................................................................................................</a:t>
            </a:r>
            <a:r>
              <a:rPr sz="1250" spc="235" dirty="0">
                <a:latin typeface="Times New Roman"/>
                <a:cs typeface="Times New Roman"/>
              </a:rPr>
              <a:t> </a:t>
            </a:r>
            <a:r>
              <a:rPr sz="1250" spc="-50" dirty="0">
                <a:latin typeface="Times New Roman"/>
                <a:cs typeface="Times New Roman"/>
              </a:rPr>
              <a:t>8</a:t>
            </a:r>
            <a:endParaRPr sz="1250" dirty="0">
              <a:latin typeface="Times New Roman"/>
              <a:cs typeface="Times New Roman"/>
            </a:endParaRPr>
          </a:p>
          <a:p>
            <a:pPr marL="527685" lvl="1" indent="-236220">
              <a:lnSpc>
                <a:spcPct val="100000"/>
              </a:lnSpc>
              <a:spcBef>
                <a:spcPts val="555"/>
              </a:spcBef>
              <a:buAutoNum type="arabicPeriod"/>
              <a:tabLst>
                <a:tab pos="527685" algn="l"/>
              </a:tabLst>
            </a:pPr>
            <a:r>
              <a:rPr sz="1250" dirty="0">
                <a:latin typeface="Times New Roman"/>
                <a:cs typeface="Times New Roman"/>
              </a:rPr>
              <a:t>Sequential</a:t>
            </a:r>
            <a:r>
              <a:rPr sz="1250" spc="170" dirty="0">
                <a:latin typeface="Times New Roman"/>
                <a:cs typeface="Times New Roman"/>
              </a:rPr>
              <a:t> </a:t>
            </a:r>
            <a:r>
              <a:rPr sz="1250" dirty="0">
                <a:latin typeface="Times New Roman"/>
                <a:cs typeface="Times New Roman"/>
              </a:rPr>
              <a:t>Implementation</a:t>
            </a:r>
            <a:r>
              <a:rPr sz="1250" spc="170" dirty="0">
                <a:latin typeface="Times New Roman"/>
                <a:cs typeface="Times New Roman"/>
              </a:rPr>
              <a:t> </a:t>
            </a:r>
            <a:r>
              <a:rPr sz="1250" spc="-10" dirty="0">
                <a:latin typeface="Times New Roman"/>
                <a:cs typeface="Times New Roman"/>
              </a:rPr>
              <a:t>(Baseline).........................................................................</a:t>
            </a:r>
            <a:r>
              <a:rPr sz="1250" spc="130" dirty="0">
                <a:latin typeface="Times New Roman"/>
                <a:cs typeface="Times New Roman"/>
              </a:rPr>
              <a:t> </a:t>
            </a:r>
            <a:r>
              <a:rPr sz="1250" spc="-50" dirty="0">
                <a:latin typeface="Times New Roman"/>
                <a:cs typeface="Times New Roman"/>
              </a:rPr>
              <a:t>9</a:t>
            </a:r>
            <a:endParaRPr sz="1250" dirty="0">
              <a:latin typeface="Times New Roman"/>
              <a:cs typeface="Times New Roman"/>
            </a:endParaRPr>
          </a:p>
          <a:p>
            <a:pPr marL="527685" lvl="1" indent="-236220">
              <a:lnSpc>
                <a:spcPct val="100000"/>
              </a:lnSpc>
              <a:spcBef>
                <a:spcPts val="550"/>
              </a:spcBef>
              <a:buAutoNum type="arabicPeriod"/>
              <a:tabLst>
                <a:tab pos="527685" algn="l"/>
              </a:tabLst>
            </a:pPr>
            <a:r>
              <a:rPr sz="1250" spc="-10" dirty="0">
                <a:latin typeface="Times New Roman"/>
                <a:cs typeface="Times New Roman"/>
              </a:rPr>
              <a:t>Thread-per-</a:t>
            </a:r>
            <a:r>
              <a:rPr sz="1250" dirty="0">
                <a:latin typeface="Times New Roman"/>
                <a:cs typeface="Times New Roman"/>
              </a:rPr>
              <a:t>Row</a:t>
            </a:r>
            <a:r>
              <a:rPr sz="1250" spc="60" dirty="0">
                <a:latin typeface="Times New Roman"/>
                <a:cs typeface="Times New Roman"/>
              </a:rPr>
              <a:t> </a:t>
            </a:r>
            <a:r>
              <a:rPr sz="1250" dirty="0">
                <a:latin typeface="Times New Roman"/>
                <a:cs typeface="Times New Roman"/>
              </a:rPr>
              <a:t>Parallelism</a:t>
            </a:r>
            <a:r>
              <a:rPr sz="1250" spc="70" dirty="0">
                <a:latin typeface="Times New Roman"/>
                <a:cs typeface="Times New Roman"/>
              </a:rPr>
              <a:t> </a:t>
            </a:r>
            <a:r>
              <a:rPr sz="1250" spc="-10" dirty="0">
                <a:latin typeface="Times New Roman"/>
                <a:cs typeface="Times New Roman"/>
              </a:rPr>
              <a:t>(Coarse-</a:t>
            </a:r>
            <a:r>
              <a:rPr sz="1250" dirty="0">
                <a:latin typeface="Times New Roman"/>
                <a:cs typeface="Times New Roman"/>
              </a:rPr>
              <a:t>Grained</a:t>
            </a:r>
            <a:r>
              <a:rPr sz="1250" spc="75" dirty="0">
                <a:latin typeface="Times New Roman"/>
                <a:cs typeface="Times New Roman"/>
              </a:rPr>
              <a:t> </a:t>
            </a:r>
            <a:r>
              <a:rPr sz="1250" spc="-10" dirty="0">
                <a:latin typeface="Times New Roman"/>
                <a:cs typeface="Times New Roman"/>
              </a:rPr>
              <a:t>Implementation)</a:t>
            </a:r>
            <a:r>
              <a:rPr sz="1250" spc="-5" dirty="0">
                <a:latin typeface="Times New Roman"/>
                <a:cs typeface="Times New Roman"/>
              </a:rPr>
              <a:t> </a:t>
            </a:r>
            <a:r>
              <a:rPr sz="1250" spc="-10" dirty="0">
                <a:latin typeface="Times New Roman"/>
                <a:cs typeface="Times New Roman"/>
              </a:rPr>
              <a:t>................................</a:t>
            </a:r>
            <a:r>
              <a:rPr sz="1250" spc="40" dirty="0">
                <a:latin typeface="Times New Roman"/>
                <a:cs typeface="Times New Roman"/>
              </a:rPr>
              <a:t> </a:t>
            </a:r>
            <a:r>
              <a:rPr sz="1250" spc="-50" dirty="0">
                <a:latin typeface="Times New Roman"/>
                <a:cs typeface="Times New Roman"/>
              </a:rPr>
              <a:t>9</a:t>
            </a:r>
            <a:endParaRPr sz="1250" dirty="0">
              <a:latin typeface="Times New Roman"/>
              <a:cs typeface="Times New Roman"/>
            </a:endParaRPr>
          </a:p>
          <a:p>
            <a:pPr marL="527685" lvl="1" indent="-236220">
              <a:lnSpc>
                <a:spcPct val="100000"/>
              </a:lnSpc>
              <a:spcBef>
                <a:spcPts val="550"/>
              </a:spcBef>
              <a:buAutoNum type="arabicPeriod"/>
              <a:tabLst>
                <a:tab pos="527685" algn="l"/>
              </a:tabLst>
            </a:pPr>
            <a:r>
              <a:rPr sz="1250" dirty="0">
                <a:latin typeface="Times New Roman"/>
                <a:cs typeface="Times New Roman"/>
              </a:rPr>
              <a:t>GPU</a:t>
            </a:r>
            <a:r>
              <a:rPr sz="1250" spc="135" dirty="0">
                <a:latin typeface="Times New Roman"/>
                <a:cs typeface="Times New Roman"/>
              </a:rPr>
              <a:t> </a:t>
            </a:r>
            <a:r>
              <a:rPr sz="1250" dirty="0">
                <a:latin typeface="Times New Roman"/>
                <a:cs typeface="Times New Roman"/>
              </a:rPr>
              <a:t>Implementation</a:t>
            </a:r>
            <a:r>
              <a:rPr sz="1250" spc="140" dirty="0">
                <a:latin typeface="Times New Roman"/>
                <a:cs typeface="Times New Roman"/>
              </a:rPr>
              <a:t> </a:t>
            </a:r>
            <a:r>
              <a:rPr sz="1250" spc="-10" dirty="0">
                <a:latin typeface="Times New Roman"/>
                <a:cs typeface="Times New Roman"/>
              </a:rPr>
              <a:t>(CUDA)</a:t>
            </a:r>
            <a:r>
              <a:rPr sz="1250" spc="-80" dirty="0">
                <a:latin typeface="Times New Roman"/>
                <a:cs typeface="Times New Roman"/>
              </a:rPr>
              <a:t> </a:t>
            </a:r>
            <a:r>
              <a:rPr sz="1250" spc="-10" dirty="0">
                <a:latin typeface="Times New Roman"/>
                <a:cs typeface="Times New Roman"/>
              </a:rPr>
              <a:t>..................................................................................</a:t>
            </a:r>
            <a:r>
              <a:rPr sz="1250" spc="100" dirty="0">
                <a:latin typeface="Times New Roman"/>
                <a:cs typeface="Times New Roman"/>
              </a:rPr>
              <a:t> </a:t>
            </a:r>
            <a:r>
              <a:rPr sz="1250" spc="-25" dirty="0">
                <a:latin typeface="Times New Roman"/>
                <a:cs typeface="Times New Roman"/>
              </a:rPr>
              <a:t>10</a:t>
            </a:r>
            <a:endParaRPr sz="1250" dirty="0">
              <a:latin typeface="Times New Roman"/>
              <a:cs typeface="Times New Roman"/>
            </a:endParaRPr>
          </a:p>
          <a:p>
            <a:pPr marR="5080" algn="r">
              <a:lnSpc>
                <a:spcPct val="100000"/>
              </a:lnSpc>
              <a:spcBef>
                <a:spcPts val="555"/>
              </a:spcBef>
            </a:pPr>
            <a:r>
              <a:rPr sz="1250" b="1" dirty="0">
                <a:latin typeface="Times New Roman"/>
                <a:cs typeface="Times New Roman"/>
              </a:rPr>
              <a:t>Performance</a:t>
            </a:r>
            <a:r>
              <a:rPr sz="1250" b="1" spc="110" dirty="0">
                <a:latin typeface="Times New Roman"/>
                <a:cs typeface="Times New Roman"/>
              </a:rPr>
              <a:t> </a:t>
            </a:r>
            <a:r>
              <a:rPr sz="1250" b="1" dirty="0">
                <a:latin typeface="Times New Roman"/>
                <a:cs typeface="Times New Roman"/>
              </a:rPr>
              <a:t>Analysis</a:t>
            </a:r>
            <a:r>
              <a:rPr sz="1250" b="1" spc="135" dirty="0">
                <a:latin typeface="Times New Roman"/>
                <a:cs typeface="Times New Roman"/>
              </a:rPr>
              <a:t> </a:t>
            </a:r>
            <a:r>
              <a:rPr sz="1250" b="1" dirty="0">
                <a:latin typeface="Times New Roman"/>
                <a:cs typeface="Times New Roman"/>
              </a:rPr>
              <a:t>and</a:t>
            </a:r>
            <a:r>
              <a:rPr sz="1250" b="1" spc="114" dirty="0">
                <a:latin typeface="Times New Roman"/>
                <a:cs typeface="Times New Roman"/>
              </a:rPr>
              <a:t> </a:t>
            </a:r>
            <a:r>
              <a:rPr sz="1250" b="1" spc="-10" dirty="0">
                <a:latin typeface="Times New Roman"/>
                <a:cs typeface="Times New Roman"/>
              </a:rPr>
              <a:t>Results</a:t>
            </a:r>
            <a:r>
              <a:rPr sz="1250" b="1" spc="-165" dirty="0">
                <a:latin typeface="Times New Roman"/>
                <a:cs typeface="Times New Roman"/>
              </a:rPr>
              <a:t> </a:t>
            </a:r>
            <a:r>
              <a:rPr sz="1250" spc="-10" dirty="0">
                <a:latin typeface="Times New Roman"/>
                <a:cs typeface="Times New Roman"/>
              </a:rPr>
              <a:t>......................................................................................</a:t>
            </a:r>
            <a:r>
              <a:rPr sz="1250" spc="80" dirty="0">
                <a:latin typeface="Times New Roman"/>
                <a:cs typeface="Times New Roman"/>
              </a:rPr>
              <a:t> </a:t>
            </a:r>
            <a:r>
              <a:rPr sz="1250" spc="-25" dirty="0">
                <a:latin typeface="Times New Roman"/>
                <a:cs typeface="Times New Roman"/>
              </a:rPr>
              <a:t>12</a:t>
            </a:r>
            <a:endParaRPr sz="1250" dirty="0">
              <a:latin typeface="Times New Roman"/>
              <a:cs typeface="Times New Roman"/>
            </a:endParaRPr>
          </a:p>
          <a:p>
            <a:pPr marL="236220" marR="6985" lvl="1" indent="-236220" algn="r">
              <a:lnSpc>
                <a:spcPct val="100000"/>
              </a:lnSpc>
              <a:spcBef>
                <a:spcPts val="540"/>
              </a:spcBef>
              <a:buAutoNum type="arabicPeriod"/>
              <a:tabLst>
                <a:tab pos="236220" algn="l"/>
              </a:tabLst>
            </a:pPr>
            <a:r>
              <a:rPr sz="1250" dirty="0">
                <a:latin typeface="Times New Roman"/>
                <a:cs typeface="Times New Roman"/>
              </a:rPr>
              <a:t>Comparative</a:t>
            </a:r>
            <a:r>
              <a:rPr sz="1250" spc="55" dirty="0">
                <a:latin typeface="Times New Roman"/>
                <a:cs typeface="Times New Roman"/>
              </a:rPr>
              <a:t> </a:t>
            </a:r>
            <a:r>
              <a:rPr sz="1250" dirty="0">
                <a:latin typeface="Times New Roman"/>
                <a:cs typeface="Times New Roman"/>
              </a:rPr>
              <a:t>Analysis</a:t>
            </a:r>
            <a:r>
              <a:rPr sz="1250" spc="55" dirty="0">
                <a:latin typeface="Times New Roman"/>
                <a:cs typeface="Times New Roman"/>
              </a:rPr>
              <a:t> </a:t>
            </a:r>
            <a:r>
              <a:rPr sz="1250" dirty="0">
                <a:latin typeface="Times New Roman"/>
                <a:cs typeface="Times New Roman"/>
              </a:rPr>
              <a:t>and</a:t>
            </a:r>
            <a:r>
              <a:rPr sz="1250" spc="40" dirty="0">
                <a:latin typeface="Times New Roman"/>
                <a:cs typeface="Times New Roman"/>
              </a:rPr>
              <a:t> </a:t>
            </a:r>
            <a:r>
              <a:rPr sz="1250" dirty="0">
                <a:latin typeface="Times New Roman"/>
                <a:cs typeface="Times New Roman"/>
              </a:rPr>
              <a:t>Performance</a:t>
            </a:r>
            <a:r>
              <a:rPr sz="1250" spc="40" dirty="0">
                <a:latin typeface="Times New Roman"/>
                <a:cs typeface="Times New Roman"/>
              </a:rPr>
              <a:t> </a:t>
            </a:r>
            <a:r>
              <a:rPr sz="1250" spc="-10" dirty="0">
                <a:latin typeface="Times New Roman"/>
                <a:cs typeface="Times New Roman"/>
              </a:rPr>
              <a:t>Evaluation</a:t>
            </a:r>
            <a:r>
              <a:rPr sz="1250" spc="-114" dirty="0">
                <a:latin typeface="Times New Roman"/>
                <a:cs typeface="Times New Roman"/>
              </a:rPr>
              <a:t> </a:t>
            </a:r>
            <a:r>
              <a:rPr sz="1250" spc="-10" dirty="0">
                <a:latin typeface="Times New Roman"/>
                <a:cs typeface="Times New Roman"/>
              </a:rPr>
              <a:t>.................................................</a:t>
            </a:r>
            <a:r>
              <a:rPr sz="1250" spc="10" dirty="0">
                <a:latin typeface="Times New Roman"/>
                <a:cs typeface="Times New Roman"/>
              </a:rPr>
              <a:t> </a:t>
            </a:r>
            <a:r>
              <a:rPr sz="1250" spc="-25" dirty="0">
                <a:latin typeface="Times New Roman"/>
                <a:cs typeface="Times New Roman"/>
              </a:rPr>
              <a:t>13</a:t>
            </a:r>
            <a:endParaRPr sz="1250" dirty="0">
              <a:latin typeface="Times New Roman"/>
              <a:cs typeface="Times New Roman"/>
            </a:endParaRPr>
          </a:p>
          <a:p>
            <a:pPr marL="236220" marR="8255" lvl="1" indent="-236220" algn="r">
              <a:lnSpc>
                <a:spcPct val="100000"/>
              </a:lnSpc>
              <a:spcBef>
                <a:spcPts val="550"/>
              </a:spcBef>
              <a:buAutoNum type="arabicPeriod"/>
              <a:tabLst>
                <a:tab pos="236220" algn="l"/>
              </a:tabLst>
            </a:pPr>
            <a:r>
              <a:rPr sz="1250" spc="-10" dirty="0">
                <a:latin typeface="Times New Roman"/>
                <a:cs typeface="Times New Roman"/>
              </a:rPr>
              <a:t>Results........................................................................................................................</a:t>
            </a:r>
            <a:r>
              <a:rPr sz="1250" spc="270" dirty="0">
                <a:latin typeface="Times New Roman"/>
                <a:cs typeface="Times New Roman"/>
              </a:rPr>
              <a:t>  </a:t>
            </a:r>
            <a:r>
              <a:rPr sz="1250" spc="-25" dirty="0">
                <a:latin typeface="Times New Roman"/>
                <a:cs typeface="Times New Roman"/>
              </a:rPr>
              <a:t>16</a:t>
            </a:r>
            <a:endParaRPr sz="1250" dirty="0">
              <a:latin typeface="Times New Roman"/>
              <a:cs typeface="Times New Roman"/>
            </a:endParaRPr>
          </a:p>
        </p:txBody>
      </p:sp>
      <p:sp>
        <p:nvSpPr>
          <p:cNvPr id="5" name="object 5"/>
          <p:cNvSpPr/>
          <p:nvPr/>
        </p:nvSpPr>
        <p:spPr>
          <a:xfrm>
            <a:off x="228600" y="228599"/>
            <a:ext cx="7315200" cy="9601200"/>
          </a:xfrm>
          <a:custGeom>
            <a:avLst/>
            <a:gdLst/>
            <a:ahLst/>
            <a:cxnLst/>
            <a:rect l="l" t="t" r="r" b="b"/>
            <a:pathLst>
              <a:path w="7315200" h="9601200">
                <a:moveTo>
                  <a:pt x="7315200" y="12"/>
                </a:moveTo>
                <a:lnTo>
                  <a:pt x="7309104" y="12"/>
                </a:lnTo>
                <a:lnTo>
                  <a:pt x="7309104" y="6096"/>
                </a:lnTo>
                <a:lnTo>
                  <a:pt x="7309091" y="9595104"/>
                </a:lnTo>
                <a:lnTo>
                  <a:pt x="6083" y="9595104"/>
                </a:lnTo>
                <a:lnTo>
                  <a:pt x="6083" y="6096"/>
                </a:lnTo>
                <a:lnTo>
                  <a:pt x="7309091" y="6096"/>
                </a:lnTo>
                <a:lnTo>
                  <a:pt x="7309091" y="0"/>
                </a:lnTo>
                <a:lnTo>
                  <a:pt x="0" y="0"/>
                </a:lnTo>
                <a:lnTo>
                  <a:pt x="0" y="6096"/>
                </a:lnTo>
                <a:lnTo>
                  <a:pt x="0" y="9595104"/>
                </a:lnTo>
                <a:lnTo>
                  <a:pt x="0" y="9601200"/>
                </a:lnTo>
                <a:lnTo>
                  <a:pt x="7309091" y="9601200"/>
                </a:lnTo>
                <a:lnTo>
                  <a:pt x="7315200" y="9601200"/>
                </a:lnTo>
                <a:lnTo>
                  <a:pt x="7315200" y="9595104"/>
                </a:lnTo>
                <a:lnTo>
                  <a:pt x="7315200" y="6096"/>
                </a:lnTo>
                <a:lnTo>
                  <a:pt x="7315200" y="12"/>
                </a:lnTo>
                <a:close/>
              </a:path>
            </a:pathLst>
          </a:custGeom>
          <a:solidFill>
            <a:srgbClr val="000000"/>
          </a:solidFill>
        </p:spPr>
        <p:txBody>
          <a:bodyPr wrap="square" lIns="0" tIns="0" rIns="0" bIns="0" rtlCol="0"/>
          <a:lstStyle/>
          <a:p>
            <a:endParaRPr/>
          </a:p>
        </p:txBody>
      </p:sp>
      <p:sp>
        <p:nvSpPr>
          <p:cNvPr id="6" name="object 6"/>
          <p:cNvSpPr txBox="1">
            <a:spLocks noGrp="1"/>
          </p:cNvSpPr>
          <p:nvPr>
            <p:ph type="ftr" sz="quarter" idx="5"/>
          </p:nvPr>
        </p:nvSpPr>
        <p:spPr>
          <a:prstGeom prst="rect">
            <a:avLst/>
          </a:prstGeom>
        </p:spPr>
        <p:txBody>
          <a:bodyPr vert="horz" wrap="square" lIns="0" tIns="0" rIns="0" bIns="0" rtlCol="0">
            <a:spAutoFit/>
          </a:bodyPr>
          <a:lstStyle/>
          <a:p>
            <a:pPr marL="12700">
              <a:lnSpc>
                <a:spcPts val="1460"/>
              </a:lnSpc>
            </a:pPr>
            <a:r>
              <a:rPr dirty="0"/>
              <a:t>DEPARTMENT</a:t>
            </a:r>
            <a:r>
              <a:rPr spc="-30" dirty="0"/>
              <a:t> </a:t>
            </a:r>
            <a:r>
              <a:rPr dirty="0"/>
              <a:t>OF</a:t>
            </a:r>
            <a:r>
              <a:rPr spc="-40" dirty="0"/>
              <a:t> </a:t>
            </a:r>
            <a:r>
              <a:rPr dirty="0"/>
              <a:t>COMPUTER</a:t>
            </a:r>
            <a:r>
              <a:rPr spc="-45" dirty="0"/>
              <a:t> </a:t>
            </a:r>
            <a:r>
              <a:rPr spc="-10" dirty="0"/>
              <a:t>ENGINEERING,</a:t>
            </a:r>
            <a:r>
              <a:rPr spc="-45" dirty="0"/>
              <a:t> </a:t>
            </a:r>
            <a:r>
              <a:rPr dirty="0"/>
              <a:t>PESMCOE,</a:t>
            </a:r>
            <a:r>
              <a:rPr spc="-40" dirty="0"/>
              <a:t> </a:t>
            </a:r>
            <a:r>
              <a:rPr spc="-10" dirty="0"/>
              <a:t>PUNE:05</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677672" y="342692"/>
            <a:ext cx="157480" cy="215265"/>
          </a:xfrm>
          <a:prstGeom prst="rect">
            <a:avLst/>
          </a:prstGeom>
        </p:spPr>
        <p:txBody>
          <a:bodyPr vert="horz" wrap="square" lIns="0" tIns="12065" rIns="0" bIns="0" rtlCol="0">
            <a:spAutoFit/>
          </a:bodyPr>
          <a:lstStyle/>
          <a:p>
            <a:pPr marL="12700">
              <a:lnSpc>
                <a:spcPct val="100000"/>
              </a:lnSpc>
              <a:spcBef>
                <a:spcPts val="95"/>
              </a:spcBef>
            </a:pPr>
            <a:r>
              <a:rPr sz="1250" b="1" spc="-25" dirty="0">
                <a:solidFill>
                  <a:srgbClr val="FFFFFF"/>
                </a:solidFill>
                <a:latin typeface="Times New Roman"/>
                <a:cs typeface="Times New Roman"/>
              </a:rPr>
              <a:t>iii</a:t>
            </a:r>
            <a:endParaRPr sz="1250">
              <a:latin typeface="Times New Roman"/>
              <a:cs typeface="Times New Roman"/>
            </a:endParaRPr>
          </a:p>
        </p:txBody>
      </p:sp>
      <p:sp>
        <p:nvSpPr>
          <p:cNvPr id="3" name="object 3"/>
          <p:cNvSpPr txBox="1"/>
          <p:nvPr/>
        </p:nvSpPr>
        <p:spPr>
          <a:xfrm>
            <a:off x="1773427" y="363967"/>
            <a:ext cx="4224655" cy="166071"/>
          </a:xfrm>
          <a:prstGeom prst="rect">
            <a:avLst/>
          </a:prstGeom>
        </p:spPr>
        <p:txBody>
          <a:bodyPr vert="horz" wrap="square" lIns="0" tIns="12065" rIns="0" bIns="0" rtlCol="0">
            <a:spAutoFit/>
          </a:bodyPr>
          <a:lstStyle/>
          <a:p>
            <a:pPr marL="12700">
              <a:lnSpc>
                <a:spcPct val="100000"/>
              </a:lnSpc>
              <a:spcBef>
                <a:spcPts val="95"/>
              </a:spcBef>
            </a:pPr>
            <a:r>
              <a:rPr lang="en-US" sz="1000" dirty="0">
                <a:latin typeface="Times New Roman"/>
                <a:cs typeface="Times New Roman"/>
              </a:rPr>
              <a:t>Performance Analysis of Single-Threaded and Multithreaded Merge Sort</a:t>
            </a:r>
            <a:endParaRPr sz="1000" dirty="0">
              <a:latin typeface="Times New Roman"/>
              <a:cs typeface="Times New Roman"/>
            </a:endParaRPr>
          </a:p>
        </p:txBody>
      </p:sp>
      <p:sp>
        <p:nvSpPr>
          <p:cNvPr id="4" name="object 4"/>
          <p:cNvSpPr txBox="1"/>
          <p:nvPr/>
        </p:nvSpPr>
        <p:spPr>
          <a:xfrm>
            <a:off x="3306572" y="1943169"/>
            <a:ext cx="1160145" cy="390525"/>
          </a:xfrm>
          <a:prstGeom prst="rect">
            <a:avLst/>
          </a:prstGeom>
        </p:spPr>
        <p:txBody>
          <a:bodyPr vert="horz" wrap="square" lIns="0" tIns="12065" rIns="0" bIns="0" rtlCol="0">
            <a:spAutoFit/>
          </a:bodyPr>
          <a:lstStyle/>
          <a:p>
            <a:pPr marL="12700">
              <a:lnSpc>
                <a:spcPct val="100000"/>
              </a:lnSpc>
              <a:spcBef>
                <a:spcPts val="95"/>
              </a:spcBef>
            </a:pPr>
            <a:r>
              <a:rPr sz="2400" b="1" spc="-10" dirty="0">
                <a:latin typeface="Times New Roman"/>
                <a:cs typeface="Times New Roman"/>
              </a:rPr>
              <a:t>Abstract</a:t>
            </a:r>
            <a:endParaRPr sz="2400">
              <a:latin typeface="Times New Roman"/>
              <a:cs typeface="Times New Roman"/>
            </a:endParaRPr>
          </a:p>
        </p:txBody>
      </p:sp>
      <p:sp>
        <p:nvSpPr>
          <p:cNvPr id="5" name="object 5"/>
          <p:cNvSpPr txBox="1"/>
          <p:nvPr/>
        </p:nvSpPr>
        <p:spPr>
          <a:xfrm>
            <a:off x="901700" y="2704880"/>
            <a:ext cx="5965190" cy="4271682"/>
          </a:xfrm>
          <a:prstGeom prst="rect">
            <a:avLst/>
          </a:prstGeom>
        </p:spPr>
        <p:txBody>
          <a:bodyPr vert="horz" wrap="square" lIns="0" tIns="24130" rIns="0" bIns="0" rtlCol="0">
            <a:spAutoFit/>
          </a:bodyPr>
          <a:lstStyle/>
          <a:p>
            <a:r>
              <a:rPr lang="en-US" sz="1200" dirty="0">
                <a:latin typeface="Times New Roman" panose="02020603050405020304" pitchFamily="18" charset="0"/>
                <a:cs typeface="Times New Roman" panose="02020603050405020304" pitchFamily="18" charset="0"/>
              </a:rPr>
              <a:t>Sorting plays a crucial role in computer science and data processing, directly impacting the efficiency of numerous algorithms and applications. Merge Sort, a divide-and-conquer algorithm, is widely recognized for its stability and predictable time complexity. This project presents a comparative analysis between </a:t>
            </a:r>
            <a:r>
              <a:rPr lang="en-US" sz="1200" b="1" dirty="0">
                <a:latin typeface="Times New Roman" panose="02020603050405020304" pitchFamily="18" charset="0"/>
                <a:cs typeface="Times New Roman" panose="02020603050405020304" pitchFamily="18" charset="0"/>
              </a:rPr>
              <a:t>Single-Threaded Merge Sort</a:t>
            </a:r>
            <a:r>
              <a:rPr lang="en-US" sz="1200" dirty="0">
                <a:latin typeface="Times New Roman" panose="02020603050405020304" pitchFamily="18" charset="0"/>
                <a:cs typeface="Times New Roman" panose="02020603050405020304" pitchFamily="18" charset="0"/>
              </a:rPr>
              <a:t> and </a:t>
            </a:r>
            <a:r>
              <a:rPr lang="en-US" sz="1200" b="1" dirty="0">
                <a:latin typeface="Times New Roman" panose="02020603050405020304" pitchFamily="18" charset="0"/>
                <a:cs typeface="Times New Roman" panose="02020603050405020304" pitchFamily="18" charset="0"/>
              </a:rPr>
              <a:t>Multithreaded Merge Sort</a:t>
            </a:r>
            <a:r>
              <a:rPr lang="en-US" sz="1200" dirty="0">
                <a:latin typeface="Times New Roman" panose="02020603050405020304" pitchFamily="18" charset="0"/>
                <a:cs typeface="Times New Roman" panose="02020603050405020304" pitchFamily="18" charset="0"/>
              </a:rPr>
              <a:t> implementations. The goal is to evaluate their performance in terms of </a:t>
            </a:r>
            <a:r>
              <a:rPr lang="en-US" sz="1200" b="1" dirty="0">
                <a:latin typeface="Times New Roman" panose="02020603050405020304" pitchFamily="18" charset="0"/>
                <a:cs typeface="Times New Roman" panose="02020603050405020304" pitchFamily="18" charset="0"/>
              </a:rPr>
              <a:t>execution time, scalability, and efficiency</a:t>
            </a:r>
            <a:r>
              <a:rPr lang="en-US" sz="1200" dirty="0">
                <a:latin typeface="Times New Roman" panose="02020603050405020304" pitchFamily="18" charset="0"/>
                <a:cs typeface="Times New Roman" panose="02020603050405020304" pitchFamily="18" charset="0"/>
              </a:rPr>
              <a:t> across different input sizes and conditions.</a:t>
            </a:r>
          </a:p>
          <a:p>
            <a:endParaRPr lang="en-US" sz="1200" dirty="0">
              <a:latin typeface="Times New Roman" panose="02020603050405020304" pitchFamily="18" charset="0"/>
              <a:cs typeface="Times New Roman" panose="02020603050405020304" pitchFamily="18" charset="0"/>
            </a:endParaRPr>
          </a:p>
          <a:p>
            <a:r>
              <a:rPr lang="en-US" sz="1200" dirty="0">
                <a:latin typeface="Times New Roman" panose="02020603050405020304" pitchFamily="18" charset="0"/>
                <a:cs typeface="Times New Roman" panose="02020603050405020304" pitchFamily="18" charset="0"/>
              </a:rPr>
              <a:t>Experiments were conducted using arrays of varying sizes to analyze how parallelism influences sorting speed. The results demonstrate that for </a:t>
            </a:r>
            <a:r>
              <a:rPr lang="en-US" sz="1200" b="1" dirty="0">
                <a:latin typeface="Times New Roman" panose="02020603050405020304" pitchFamily="18" charset="0"/>
                <a:cs typeface="Times New Roman" panose="02020603050405020304" pitchFamily="18" charset="0"/>
              </a:rPr>
              <a:t>smaller datasets</a:t>
            </a:r>
            <a:r>
              <a:rPr lang="en-US" sz="1200" dirty="0">
                <a:latin typeface="Times New Roman" panose="02020603050405020304" pitchFamily="18" charset="0"/>
                <a:cs typeface="Times New Roman" panose="02020603050405020304" pitchFamily="18" charset="0"/>
              </a:rPr>
              <a:t>, the </a:t>
            </a:r>
            <a:r>
              <a:rPr lang="en-US" sz="1200" b="1" dirty="0">
                <a:latin typeface="Times New Roman" panose="02020603050405020304" pitchFamily="18" charset="0"/>
                <a:cs typeface="Times New Roman" panose="02020603050405020304" pitchFamily="18" charset="0"/>
              </a:rPr>
              <a:t>single-threaded</a:t>
            </a:r>
            <a:r>
              <a:rPr lang="en-US" sz="1200" dirty="0">
                <a:latin typeface="Times New Roman" panose="02020603050405020304" pitchFamily="18" charset="0"/>
                <a:cs typeface="Times New Roman" panose="02020603050405020304" pitchFamily="18" charset="0"/>
              </a:rPr>
              <a:t> implementation performs efficiently due to minimal thread management overhead. However, as data size increases, the </a:t>
            </a:r>
            <a:r>
              <a:rPr lang="en-US" sz="1200" b="1" dirty="0">
                <a:latin typeface="Times New Roman" panose="02020603050405020304" pitchFamily="18" charset="0"/>
                <a:cs typeface="Times New Roman" panose="02020603050405020304" pitchFamily="18" charset="0"/>
              </a:rPr>
              <a:t>multithreaded merge sort</a:t>
            </a:r>
            <a:r>
              <a:rPr lang="en-US" sz="1200" dirty="0">
                <a:latin typeface="Times New Roman" panose="02020603050405020304" pitchFamily="18" charset="0"/>
                <a:cs typeface="Times New Roman" panose="02020603050405020304" pitchFamily="18" charset="0"/>
              </a:rPr>
              <a:t> significantly reduces execution time by leveraging multiple CPU cores, achieving noticeable </a:t>
            </a:r>
            <a:r>
              <a:rPr lang="en-US" sz="1200" b="1" dirty="0">
                <a:latin typeface="Times New Roman" panose="02020603050405020304" pitchFamily="18" charset="0"/>
                <a:cs typeface="Times New Roman" panose="02020603050405020304" pitchFamily="18" charset="0"/>
              </a:rPr>
              <a:t>speedup in large-scale datasets</a:t>
            </a:r>
            <a:r>
              <a:rPr lang="en-US" sz="1200" dirty="0">
                <a:latin typeface="Times New Roman" panose="02020603050405020304" pitchFamily="18" charset="0"/>
                <a:cs typeface="Times New Roman" panose="02020603050405020304" pitchFamily="18" charset="0"/>
              </a:rPr>
              <a:t>. Performance trends reveal that </a:t>
            </a:r>
            <a:r>
              <a:rPr lang="en-US" sz="1200" b="1" dirty="0">
                <a:latin typeface="Times New Roman" panose="02020603050405020304" pitchFamily="18" charset="0"/>
                <a:cs typeface="Times New Roman" panose="02020603050405020304" pitchFamily="18" charset="0"/>
              </a:rPr>
              <a:t>thread creation, synchronization, and system architecture</a:t>
            </a:r>
            <a:r>
              <a:rPr lang="en-US" sz="1200" dirty="0">
                <a:latin typeface="Times New Roman" panose="02020603050405020304" pitchFamily="18" charset="0"/>
                <a:cs typeface="Times New Roman" panose="02020603050405020304" pitchFamily="18" charset="0"/>
              </a:rPr>
              <a:t> play a key role in determining overall efficiency.</a:t>
            </a:r>
          </a:p>
          <a:p>
            <a:endParaRPr lang="en-US" sz="1200" dirty="0">
              <a:latin typeface="Times New Roman" panose="02020603050405020304" pitchFamily="18" charset="0"/>
              <a:cs typeface="Times New Roman" panose="02020603050405020304" pitchFamily="18" charset="0"/>
            </a:endParaRPr>
          </a:p>
          <a:p>
            <a:r>
              <a:rPr lang="en-US" sz="1200" dirty="0">
                <a:latin typeface="Times New Roman" panose="02020603050405020304" pitchFamily="18" charset="0"/>
                <a:cs typeface="Times New Roman" panose="02020603050405020304" pitchFamily="18" charset="0"/>
              </a:rPr>
              <a:t>This study concludes that while multithreading introduces some overhead for smaller inputs, it offers substantial performance benefits for large datasets, emphasizing the importance of </a:t>
            </a:r>
            <a:r>
              <a:rPr lang="en-US" sz="1200" b="1" dirty="0">
                <a:latin typeface="Times New Roman" panose="02020603050405020304" pitchFamily="18" charset="0"/>
                <a:cs typeface="Times New Roman" panose="02020603050405020304" pitchFamily="18" charset="0"/>
              </a:rPr>
              <a:t>parallel computing</a:t>
            </a:r>
            <a:r>
              <a:rPr lang="en-US" sz="1200" dirty="0">
                <a:latin typeface="Times New Roman" panose="02020603050405020304" pitchFamily="18" charset="0"/>
                <a:cs typeface="Times New Roman" panose="02020603050405020304" pitchFamily="18" charset="0"/>
              </a:rPr>
              <a:t> in modern high-performance systems. Future work may involve exploring </a:t>
            </a:r>
            <a:r>
              <a:rPr lang="en-US" sz="1200" b="1" dirty="0">
                <a:latin typeface="Times New Roman" panose="02020603050405020304" pitchFamily="18" charset="0"/>
                <a:cs typeface="Times New Roman" panose="02020603050405020304" pitchFamily="18" charset="0"/>
              </a:rPr>
              <a:t>GPU-based merge sort</a:t>
            </a:r>
            <a:r>
              <a:rPr lang="en-US" sz="1200" dirty="0">
                <a:latin typeface="Times New Roman" panose="02020603050405020304" pitchFamily="18" charset="0"/>
                <a:cs typeface="Times New Roman" panose="02020603050405020304" pitchFamily="18" charset="0"/>
              </a:rPr>
              <a:t>, </a:t>
            </a:r>
            <a:r>
              <a:rPr lang="en-US" sz="1200" b="1" dirty="0">
                <a:latin typeface="Times New Roman" panose="02020603050405020304" pitchFamily="18" charset="0"/>
                <a:cs typeface="Times New Roman" panose="02020603050405020304" pitchFamily="18" charset="0"/>
              </a:rPr>
              <a:t>dynamic thread management</a:t>
            </a:r>
            <a:r>
              <a:rPr lang="en-US" sz="1200" dirty="0">
                <a:latin typeface="Times New Roman" panose="02020603050405020304" pitchFamily="18" charset="0"/>
                <a:cs typeface="Times New Roman" panose="02020603050405020304" pitchFamily="18" charset="0"/>
              </a:rPr>
              <a:t>, and </a:t>
            </a:r>
            <a:r>
              <a:rPr lang="en-US" sz="1200" b="1" dirty="0">
                <a:latin typeface="Times New Roman" panose="02020603050405020304" pitchFamily="18" charset="0"/>
                <a:cs typeface="Times New Roman" panose="02020603050405020304" pitchFamily="18" charset="0"/>
              </a:rPr>
              <a:t>memory optimization techniques</a:t>
            </a:r>
            <a:r>
              <a:rPr lang="en-US" sz="1200" dirty="0">
                <a:latin typeface="Times New Roman" panose="02020603050405020304" pitchFamily="18" charset="0"/>
                <a:cs typeface="Times New Roman" panose="02020603050405020304" pitchFamily="18" charset="0"/>
              </a:rPr>
              <a:t> to further enhance sorting efficiency.</a:t>
            </a:r>
          </a:p>
          <a:p>
            <a:endParaRPr lang="en-US" sz="1200" dirty="0">
              <a:latin typeface="Times New Roman" panose="02020603050405020304" pitchFamily="18" charset="0"/>
              <a:cs typeface="Times New Roman" panose="02020603050405020304" pitchFamily="18" charset="0"/>
            </a:endParaRPr>
          </a:p>
          <a:p>
            <a:r>
              <a:rPr lang="en-US" sz="1200" b="1" dirty="0">
                <a:latin typeface="Times New Roman" panose="02020603050405020304" pitchFamily="18" charset="0"/>
                <a:cs typeface="Times New Roman" panose="02020603050405020304" pitchFamily="18" charset="0"/>
              </a:rPr>
              <a:t>Keywords:</a:t>
            </a:r>
            <a:r>
              <a:rPr lang="en-US" sz="1200" dirty="0">
                <a:latin typeface="Times New Roman" panose="02020603050405020304" pitchFamily="18" charset="0"/>
                <a:cs typeface="Times New Roman" panose="02020603050405020304" pitchFamily="18" charset="0"/>
              </a:rPr>
              <a:t> Merge Sort, Multithreading, Parallel Computing, Performance Analysis, Execution Time, Speedup, CPU Optimization, Concurrency.</a:t>
            </a:r>
          </a:p>
        </p:txBody>
      </p:sp>
      <p:sp>
        <p:nvSpPr>
          <p:cNvPr id="6" name="object 6"/>
          <p:cNvSpPr/>
          <p:nvPr/>
        </p:nvSpPr>
        <p:spPr>
          <a:xfrm>
            <a:off x="228600" y="228599"/>
            <a:ext cx="7315200" cy="9601200"/>
          </a:xfrm>
          <a:custGeom>
            <a:avLst/>
            <a:gdLst/>
            <a:ahLst/>
            <a:cxnLst/>
            <a:rect l="l" t="t" r="r" b="b"/>
            <a:pathLst>
              <a:path w="7315200" h="9601200">
                <a:moveTo>
                  <a:pt x="7315200" y="12"/>
                </a:moveTo>
                <a:lnTo>
                  <a:pt x="7309104" y="12"/>
                </a:lnTo>
                <a:lnTo>
                  <a:pt x="7309104" y="6096"/>
                </a:lnTo>
                <a:lnTo>
                  <a:pt x="7309091" y="9595104"/>
                </a:lnTo>
                <a:lnTo>
                  <a:pt x="6083" y="9595104"/>
                </a:lnTo>
                <a:lnTo>
                  <a:pt x="6083" y="6096"/>
                </a:lnTo>
                <a:lnTo>
                  <a:pt x="7309091" y="6096"/>
                </a:lnTo>
                <a:lnTo>
                  <a:pt x="7309091" y="0"/>
                </a:lnTo>
                <a:lnTo>
                  <a:pt x="0" y="0"/>
                </a:lnTo>
                <a:lnTo>
                  <a:pt x="0" y="6096"/>
                </a:lnTo>
                <a:lnTo>
                  <a:pt x="0" y="9595104"/>
                </a:lnTo>
                <a:lnTo>
                  <a:pt x="0" y="9601200"/>
                </a:lnTo>
                <a:lnTo>
                  <a:pt x="7309091" y="9601200"/>
                </a:lnTo>
                <a:lnTo>
                  <a:pt x="7315200" y="9601200"/>
                </a:lnTo>
                <a:lnTo>
                  <a:pt x="7315200" y="9595104"/>
                </a:lnTo>
                <a:lnTo>
                  <a:pt x="7315200" y="6096"/>
                </a:lnTo>
                <a:lnTo>
                  <a:pt x="7315200" y="12"/>
                </a:lnTo>
                <a:close/>
              </a:path>
            </a:pathLst>
          </a:custGeom>
          <a:solidFill>
            <a:srgbClr val="000000"/>
          </a:solidFill>
        </p:spPr>
        <p:txBody>
          <a:bodyPr wrap="square" lIns="0" tIns="0" rIns="0" bIns="0" rtlCol="0"/>
          <a:lstStyle/>
          <a:p>
            <a:endParaRPr/>
          </a:p>
        </p:txBody>
      </p:sp>
      <p:sp>
        <p:nvSpPr>
          <p:cNvPr id="7" name="object 7"/>
          <p:cNvSpPr txBox="1">
            <a:spLocks noGrp="1"/>
          </p:cNvSpPr>
          <p:nvPr>
            <p:ph type="ftr" sz="quarter" idx="5"/>
          </p:nvPr>
        </p:nvSpPr>
        <p:spPr>
          <a:prstGeom prst="rect">
            <a:avLst/>
          </a:prstGeom>
        </p:spPr>
        <p:txBody>
          <a:bodyPr vert="horz" wrap="square" lIns="0" tIns="0" rIns="0" bIns="0" rtlCol="0">
            <a:spAutoFit/>
          </a:bodyPr>
          <a:lstStyle/>
          <a:p>
            <a:pPr marL="12700">
              <a:lnSpc>
                <a:spcPts val="1460"/>
              </a:lnSpc>
            </a:pPr>
            <a:r>
              <a:rPr dirty="0"/>
              <a:t>DEPARTMENT</a:t>
            </a:r>
            <a:r>
              <a:rPr spc="-30" dirty="0"/>
              <a:t> </a:t>
            </a:r>
            <a:r>
              <a:rPr dirty="0"/>
              <a:t>OF</a:t>
            </a:r>
            <a:r>
              <a:rPr spc="-40" dirty="0"/>
              <a:t> </a:t>
            </a:r>
            <a:r>
              <a:rPr dirty="0"/>
              <a:t>COMPUTER</a:t>
            </a:r>
            <a:r>
              <a:rPr spc="-45" dirty="0"/>
              <a:t> </a:t>
            </a:r>
            <a:r>
              <a:rPr spc="-10" dirty="0"/>
              <a:t>ENGINEERING,</a:t>
            </a:r>
            <a:r>
              <a:rPr spc="-45" dirty="0"/>
              <a:t> </a:t>
            </a:r>
            <a:r>
              <a:rPr dirty="0"/>
              <a:t>PESMCOE,</a:t>
            </a:r>
            <a:r>
              <a:rPr spc="-40" dirty="0"/>
              <a:t> </a:t>
            </a:r>
            <a:r>
              <a:rPr spc="-10" dirty="0"/>
              <a:t>PUNE:05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731012" y="342692"/>
            <a:ext cx="104775" cy="215265"/>
          </a:xfrm>
          <a:prstGeom prst="rect">
            <a:avLst/>
          </a:prstGeom>
        </p:spPr>
        <p:txBody>
          <a:bodyPr vert="horz" wrap="square" lIns="0" tIns="12065" rIns="0" bIns="0" rtlCol="0">
            <a:spAutoFit/>
          </a:bodyPr>
          <a:lstStyle/>
          <a:p>
            <a:pPr marL="12700">
              <a:lnSpc>
                <a:spcPct val="100000"/>
              </a:lnSpc>
              <a:spcBef>
                <a:spcPts val="95"/>
              </a:spcBef>
            </a:pPr>
            <a:r>
              <a:rPr sz="1250" b="1" spc="-50" dirty="0">
                <a:solidFill>
                  <a:srgbClr val="FFFFFF"/>
                </a:solidFill>
                <a:latin typeface="Times New Roman"/>
                <a:cs typeface="Times New Roman"/>
              </a:rPr>
              <a:t>1</a:t>
            </a:r>
            <a:endParaRPr sz="1250">
              <a:latin typeface="Times New Roman"/>
              <a:cs typeface="Times New Roman"/>
            </a:endParaRPr>
          </a:p>
        </p:txBody>
      </p:sp>
      <p:sp>
        <p:nvSpPr>
          <p:cNvPr id="3" name="object 3"/>
          <p:cNvSpPr txBox="1"/>
          <p:nvPr/>
        </p:nvSpPr>
        <p:spPr>
          <a:xfrm>
            <a:off x="1773427" y="363967"/>
            <a:ext cx="4224655" cy="166071"/>
          </a:xfrm>
          <a:prstGeom prst="rect">
            <a:avLst/>
          </a:prstGeom>
        </p:spPr>
        <p:txBody>
          <a:bodyPr vert="horz" wrap="square" lIns="0" tIns="12065" rIns="0" bIns="0" rtlCol="0">
            <a:spAutoFit/>
          </a:bodyPr>
          <a:lstStyle/>
          <a:p>
            <a:pPr marL="12700">
              <a:lnSpc>
                <a:spcPct val="100000"/>
              </a:lnSpc>
              <a:spcBef>
                <a:spcPts val="95"/>
              </a:spcBef>
            </a:pPr>
            <a:r>
              <a:rPr lang="en-US" sz="1000" dirty="0">
                <a:latin typeface="Times New Roman"/>
                <a:cs typeface="Times New Roman"/>
              </a:rPr>
              <a:t>Performance Analysis of Single-Threaded and Multithreaded Merge Sort</a:t>
            </a:r>
            <a:endParaRPr sz="1000" dirty="0">
              <a:latin typeface="Times New Roman"/>
              <a:cs typeface="Times New Roman"/>
            </a:endParaRPr>
          </a:p>
        </p:txBody>
      </p:sp>
      <p:sp>
        <p:nvSpPr>
          <p:cNvPr id="4" name="object 4"/>
          <p:cNvSpPr txBox="1"/>
          <p:nvPr/>
        </p:nvSpPr>
        <p:spPr>
          <a:xfrm>
            <a:off x="3801872" y="7088014"/>
            <a:ext cx="3068955" cy="1714500"/>
          </a:xfrm>
          <a:prstGeom prst="rect">
            <a:avLst/>
          </a:prstGeom>
        </p:spPr>
        <p:txBody>
          <a:bodyPr vert="horz" wrap="square" lIns="0" tIns="186055" rIns="0" bIns="0" rtlCol="0">
            <a:spAutoFit/>
          </a:bodyPr>
          <a:lstStyle/>
          <a:p>
            <a:pPr marR="5080" algn="r">
              <a:lnSpc>
                <a:spcPct val="100000"/>
              </a:lnSpc>
              <a:spcBef>
                <a:spcPts val="1465"/>
              </a:spcBef>
            </a:pPr>
            <a:r>
              <a:rPr sz="4400" b="1" spc="-25" dirty="0">
                <a:latin typeface="Times New Roman"/>
                <a:cs typeface="Times New Roman"/>
              </a:rPr>
              <a:t>1.</a:t>
            </a:r>
            <a:endParaRPr sz="4400">
              <a:latin typeface="Times New Roman"/>
              <a:cs typeface="Times New Roman"/>
            </a:endParaRPr>
          </a:p>
          <a:p>
            <a:pPr marR="8255" algn="r">
              <a:lnSpc>
                <a:spcPct val="100000"/>
              </a:lnSpc>
              <a:spcBef>
                <a:spcPts val="1370"/>
              </a:spcBef>
            </a:pPr>
            <a:r>
              <a:rPr sz="4400" b="1" spc="-10" dirty="0">
                <a:latin typeface="Times New Roman"/>
                <a:cs typeface="Times New Roman"/>
              </a:rPr>
              <a:t>Introduction</a:t>
            </a:r>
            <a:endParaRPr sz="4400">
              <a:latin typeface="Times New Roman"/>
              <a:cs typeface="Times New Roman"/>
            </a:endParaRPr>
          </a:p>
        </p:txBody>
      </p:sp>
      <p:sp>
        <p:nvSpPr>
          <p:cNvPr id="5" name="object 5"/>
          <p:cNvSpPr/>
          <p:nvPr/>
        </p:nvSpPr>
        <p:spPr>
          <a:xfrm>
            <a:off x="228600" y="228599"/>
            <a:ext cx="7315200" cy="9601200"/>
          </a:xfrm>
          <a:custGeom>
            <a:avLst/>
            <a:gdLst/>
            <a:ahLst/>
            <a:cxnLst/>
            <a:rect l="l" t="t" r="r" b="b"/>
            <a:pathLst>
              <a:path w="7315200" h="9601200">
                <a:moveTo>
                  <a:pt x="7315200" y="12"/>
                </a:moveTo>
                <a:lnTo>
                  <a:pt x="7309104" y="12"/>
                </a:lnTo>
                <a:lnTo>
                  <a:pt x="7309104" y="6096"/>
                </a:lnTo>
                <a:lnTo>
                  <a:pt x="7309091" y="9595104"/>
                </a:lnTo>
                <a:lnTo>
                  <a:pt x="6083" y="9595104"/>
                </a:lnTo>
                <a:lnTo>
                  <a:pt x="6083" y="6096"/>
                </a:lnTo>
                <a:lnTo>
                  <a:pt x="7309091" y="6096"/>
                </a:lnTo>
                <a:lnTo>
                  <a:pt x="7309091" y="0"/>
                </a:lnTo>
                <a:lnTo>
                  <a:pt x="0" y="0"/>
                </a:lnTo>
                <a:lnTo>
                  <a:pt x="0" y="6096"/>
                </a:lnTo>
                <a:lnTo>
                  <a:pt x="0" y="9595104"/>
                </a:lnTo>
                <a:lnTo>
                  <a:pt x="0" y="9601200"/>
                </a:lnTo>
                <a:lnTo>
                  <a:pt x="7309091" y="9601200"/>
                </a:lnTo>
                <a:lnTo>
                  <a:pt x="7315200" y="9601200"/>
                </a:lnTo>
                <a:lnTo>
                  <a:pt x="7315200" y="9595104"/>
                </a:lnTo>
                <a:lnTo>
                  <a:pt x="7315200" y="6096"/>
                </a:lnTo>
                <a:lnTo>
                  <a:pt x="7315200" y="12"/>
                </a:lnTo>
                <a:close/>
              </a:path>
            </a:pathLst>
          </a:custGeom>
          <a:solidFill>
            <a:srgbClr val="000000"/>
          </a:solidFill>
        </p:spPr>
        <p:txBody>
          <a:bodyPr wrap="square" lIns="0" tIns="0" rIns="0" bIns="0" rtlCol="0"/>
          <a:lstStyle/>
          <a:p>
            <a:endParaRPr/>
          </a:p>
        </p:txBody>
      </p:sp>
      <p:sp>
        <p:nvSpPr>
          <p:cNvPr id="6" name="object 6"/>
          <p:cNvSpPr txBox="1">
            <a:spLocks noGrp="1"/>
          </p:cNvSpPr>
          <p:nvPr>
            <p:ph type="ftr" sz="quarter" idx="5"/>
          </p:nvPr>
        </p:nvSpPr>
        <p:spPr>
          <a:prstGeom prst="rect">
            <a:avLst/>
          </a:prstGeom>
        </p:spPr>
        <p:txBody>
          <a:bodyPr vert="horz" wrap="square" lIns="0" tIns="0" rIns="0" bIns="0" rtlCol="0">
            <a:spAutoFit/>
          </a:bodyPr>
          <a:lstStyle/>
          <a:p>
            <a:pPr marL="12700">
              <a:lnSpc>
                <a:spcPts val="1460"/>
              </a:lnSpc>
            </a:pPr>
            <a:r>
              <a:rPr dirty="0"/>
              <a:t>DEPARTMENT</a:t>
            </a:r>
            <a:r>
              <a:rPr spc="-30" dirty="0"/>
              <a:t> </a:t>
            </a:r>
            <a:r>
              <a:rPr dirty="0"/>
              <a:t>OF</a:t>
            </a:r>
            <a:r>
              <a:rPr spc="-40" dirty="0"/>
              <a:t> </a:t>
            </a:r>
            <a:r>
              <a:rPr dirty="0"/>
              <a:t>COMPUTER</a:t>
            </a:r>
            <a:r>
              <a:rPr spc="-45" dirty="0"/>
              <a:t> </a:t>
            </a:r>
            <a:r>
              <a:rPr spc="-10" dirty="0"/>
              <a:t>ENGINEERING,</a:t>
            </a:r>
            <a:r>
              <a:rPr spc="-45" dirty="0"/>
              <a:t> </a:t>
            </a:r>
            <a:r>
              <a:rPr dirty="0"/>
              <a:t>PESMCOE,</a:t>
            </a:r>
            <a:r>
              <a:rPr spc="-40" dirty="0"/>
              <a:t> </a:t>
            </a:r>
            <a:r>
              <a:rPr spc="-10" dirty="0"/>
              <a:t>PUNE:05</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731012" y="342692"/>
            <a:ext cx="104775" cy="215265"/>
          </a:xfrm>
          <a:prstGeom prst="rect">
            <a:avLst/>
          </a:prstGeom>
        </p:spPr>
        <p:txBody>
          <a:bodyPr vert="horz" wrap="square" lIns="0" tIns="12065" rIns="0" bIns="0" rtlCol="0">
            <a:spAutoFit/>
          </a:bodyPr>
          <a:lstStyle/>
          <a:p>
            <a:pPr marL="12700">
              <a:lnSpc>
                <a:spcPct val="100000"/>
              </a:lnSpc>
              <a:spcBef>
                <a:spcPts val="95"/>
              </a:spcBef>
            </a:pPr>
            <a:r>
              <a:rPr sz="1250" b="1" spc="-50" dirty="0">
                <a:solidFill>
                  <a:srgbClr val="FFFFFF"/>
                </a:solidFill>
                <a:latin typeface="Times New Roman"/>
                <a:cs typeface="Times New Roman"/>
              </a:rPr>
              <a:t>2</a:t>
            </a:r>
            <a:endParaRPr sz="1250">
              <a:latin typeface="Times New Roman"/>
              <a:cs typeface="Times New Roman"/>
            </a:endParaRPr>
          </a:p>
        </p:txBody>
      </p:sp>
      <p:sp>
        <p:nvSpPr>
          <p:cNvPr id="3" name="object 3"/>
          <p:cNvSpPr txBox="1"/>
          <p:nvPr/>
        </p:nvSpPr>
        <p:spPr>
          <a:xfrm>
            <a:off x="1773427" y="363967"/>
            <a:ext cx="4224655" cy="166071"/>
          </a:xfrm>
          <a:prstGeom prst="rect">
            <a:avLst/>
          </a:prstGeom>
        </p:spPr>
        <p:txBody>
          <a:bodyPr vert="horz" wrap="square" lIns="0" tIns="12065" rIns="0" bIns="0" rtlCol="0">
            <a:spAutoFit/>
          </a:bodyPr>
          <a:lstStyle/>
          <a:p>
            <a:pPr marL="12700">
              <a:lnSpc>
                <a:spcPct val="100000"/>
              </a:lnSpc>
              <a:spcBef>
                <a:spcPts val="95"/>
              </a:spcBef>
            </a:pPr>
            <a:r>
              <a:rPr lang="en-US" sz="1000" dirty="0">
                <a:latin typeface="Times New Roman"/>
                <a:cs typeface="Times New Roman"/>
              </a:rPr>
              <a:t>Performance Analysis of Single-Threaded and Multithreaded Merge Sort</a:t>
            </a:r>
            <a:endParaRPr sz="1000" dirty="0">
              <a:latin typeface="Times New Roman"/>
              <a:cs typeface="Times New Roman"/>
            </a:endParaRPr>
          </a:p>
        </p:txBody>
      </p:sp>
      <p:sp>
        <p:nvSpPr>
          <p:cNvPr id="4" name="object 4"/>
          <p:cNvSpPr txBox="1"/>
          <p:nvPr/>
        </p:nvSpPr>
        <p:spPr>
          <a:xfrm>
            <a:off x="901700" y="891343"/>
            <a:ext cx="5969635" cy="4135748"/>
          </a:xfrm>
          <a:prstGeom prst="rect">
            <a:avLst/>
          </a:prstGeom>
        </p:spPr>
        <p:txBody>
          <a:bodyPr vert="horz" wrap="square" lIns="0" tIns="11430" rIns="0" bIns="0" rtlCol="0">
            <a:spAutoFit/>
          </a:bodyPr>
          <a:lstStyle/>
          <a:p>
            <a:pPr algn="just"/>
            <a:r>
              <a:rPr lang="en-US" sz="1300" b="1" dirty="0">
                <a:latin typeface="Times New Roman" panose="02020603050405020304" pitchFamily="18" charset="0"/>
                <a:cs typeface="Times New Roman" panose="02020603050405020304" pitchFamily="18" charset="0"/>
              </a:rPr>
              <a:t>1.1 Background and Significance of Merge Sort</a:t>
            </a:r>
          </a:p>
          <a:p>
            <a:pPr algn="just"/>
            <a:endParaRPr lang="en-US" sz="1400" b="1" dirty="0"/>
          </a:p>
          <a:p>
            <a:pPr algn="just"/>
            <a:r>
              <a:rPr lang="en-US" sz="1200" dirty="0">
                <a:latin typeface="Times New Roman" panose="02020603050405020304" pitchFamily="18" charset="0"/>
                <a:cs typeface="Times New Roman" panose="02020603050405020304" pitchFamily="18" charset="0"/>
              </a:rPr>
              <a:t>Sorting is one of the most fundamental operations in computer science, playing a critical role in data organization, searching, and efficient computation. Among various sorting algorithms, </a:t>
            </a:r>
            <a:r>
              <a:rPr lang="en-US" sz="1200" b="1" dirty="0">
                <a:latin typeface="Times New Roman" panose="02020603050405020304" pitchFamily="18" charset="0"/>
                <a:cs typeface="Times New Roman" panose="02020603050405020304" pitchFamily="18" charset="0"/>
              </a:rPr>
              <a:t>Merge Sort</a:t>
            </a:r>
            <a:r>
              <a:rPr lang="en-US" sz="1200" dirty="0">
                <a:latin typeface="Times New Roman" panose="02020603050405020304" pitchFamily="18" charset="0"/>
                <a:cs typeface="Times New Roman" panose="02020603050405020304" pitchFamily="18" charset="0"/>
              </a:rPr>
              <a:t> stands out for its stability, predictable performance, and divide-and-conquer approach. It is widely used in fields such as </a:t>
            </a:r>
            <a:r>
              <a:rPr lang="en-US" sz="1200" b="1" dirty="0">
                <a:latin typeface="Times New Roman" panose="02020603050405020304" pitchFamily="18" charset="0"/>
                <a:cs typeface="Times New Roman" panose="02020603050405020304" pitchFamily="18" charset="0"/>
              </a:rPr>
              <a:t>data analytics, database systems, scientific simulations, and large-scale computational applications</a:t>
            </a:r>
            <a:r>
              <a:rPr lang="en-US" sz="1200" dirty="0">
                <a:latin typeface="Times New Roman" panose="02020603050405020304" pitchFamily="18" charset="0"/>
                <a:cs typeface="Times New Roman" panose="02020603050405020304" pitchFamily="18" charset="0"/>
              </a:rPr>
              <a:t>, where efficient data processing is essential.</a:t>
            </a:r>
          </a:p>
          <a:p>
            <a:pPr algn="just"/>
            <a:endParaRPr lang="en-US" sz="1200" dirty="0">
              <a:latin typeface="Times New Roman" panose="02020603050405020304" pitchFamily="18" charset="0"/>
              <a:cs typeface="Times New Roman" panose="02020603050405020304" pitchFamily="18" charset="0"/>
            </a:endParaRPr>
          </a:p>
          <a:p>
            <a:pPr algn="just"/>
            <a:r>
              <a:rPr lang="en-US" sz="1200" dirty="0">
                <a:latin typeface="Times New Roman" panose="02020603050405020304" pitchFamily="18" charset="0"/>
                <a:cs typeface="Times New Roman" panose="02020603050405020304" pitchFamily="18" charset="0"/>
              </a:rPr>
              <a:t>The traditional single-threaded Merge Sort algorithm operates with a time complexity of </a:t>
            </a:r>
            <a:r>
              <a:rPr lang="en-US" sz="1200" b="1" dirty="0">
                <a:latin typeface="Times New Roman" panose="02020603050405020304" pitchFamily="18" charset="0"/>
                <a:cs typeface="Times New Roman" panose="02020603050405020304" pitchFamily="18" charset="0"/>
              </a:rPr>
              <a:t>O(n log n)</a:t>
            </a:r>
            <a:r>
              <a:rPr lang="en-US" sz="1200" dirty="0">
                <a:latin typeface="Times New Roman" panose="02020603050405020304" pitchFamily="18" charset="0"/>
                <a:cs typeface="Times New Roman" panose="02020603050405020304" pitchFamily="18" charset="0"/>
              </a:rPr>
              <a:t>, making it efficient compared to quadratic algorithms like Bubble Sort or Insertion Sort. However, as data sizes continue to grow exponentially, even O(n log n) algorithms can become time-consuming when executed sequentially. This growing demand for faster computation has led to the exploration of </a:t>
            </a:r>
            <a:r>
              <a:rPr lang="en-US" sz="1200" b="1" dirty="0">
                <a:latin typeface="Times New Roman" panose="02020603050405020304" pitchFamily="18" charset="0"/>
                <a:cs typeface="Times New Roman" panose="02020603050405020304" pitchFamily="18" charset="0"/>
              </a:rPr>
              <a:t>parallel and multithreaded implementations</a:t>
            </a:r>
            <a:r>
              <a:rPr lang="en-US" sz="1200" dirty="0">
                <a:latin typeface="Times New Roman" panose="02020603050405020304" pitchFamily="18" charset="0"/>
                <a:cs typeface="Times New Roman" panose="02020603050405020304" pitchFamily="18" charset="0"/>
              </a:rPr>
              <a:t> of Merge Sort to leverage the capabilities of </a:t>
            </a:r>
            <a:r>
              <a:rPr lang="en-US" sz="1200" b="1" dirty="0">
                <a:latin typeface="Times New Roman" panose="02020603050405020304" pitchFamily="18" charset="0"/>
                <a:cs typeface="Times New Roman" panose="02020603050405020304" pitchFamily="18" charset="0"/>
              </a:rPr>
              <a:t>multi-core processors</a:t>
            </a:r>
            <a:r>
              <a:rPr lang="en-US" sz="1200" dirty="0">
                <a:latin typeface="Times New Roman" panose="02020603050405020304" pitchFamily="18" charset="0"/>
                <a:cs typeface="Times New Roman" panose="02020603050405020304" pitchFamily="18" charset="0"/>
              </a:rPr>
              <a:t>.</a:t>
            </a:r>
          </a:p>
          <a:p>
            <a:pPr algn="just"/>
            <a:endParaRPr lang="en-US" sz="1200" dirty="0">
              <a:latin typeface="Times New Roman" panose="02020603050405020304" pitchFamily="18" charset="0"/>
              <a:cs typeface="Times New Roman" panose="02020603050405020304" pitchFamily="18" charset="0"/>
            </a:endParaRPr>
          </a:p>
          <a:p>
            <a:pPr algn="just"/>
            <a:r>
              <a:rPr lang="en-US" sz="1200" dirty="0">
                <a:latin typeface="Times New Roman" panose="02020603050405020304" pitchFamily="18" charset="0"/>
                <a:cs typeface="Times New Roman" panose="02020603050405020304" pitchFamily="18" charset="0"/>
              </a:rPr>
              <a:t>By distributing sorting and merging tasks among multiple threads, </a:t>
            </a:r>
            <a:r>
              <a:rPr lang="en-US" sz="1200" b="1" dirty="0">
                <a:latin typeface="Times New Roman" panose="02020603050405020304" pitchFamily="18" charset="0"/>
                <a:cs typeface="Times New Roman" panose="02020603050405020304" pitchFamily="18" charset="0"/>
              </a:rPr>
              <a:t>Multithreaded Merge Sort</a:t>
            </a:r>
            <a:r>
              <a:rPr lang="en-US" sz="1200" dirty="0">
                <a:latin typeface="Times New Roman" panose="02020603050405020304" pitchFamily="18" charset="0"/>
                <a:cs typeface="Times New Roman" panose="02020603050405020304" pitchFamily="18" charset="0"/>
              </a:rPr>
              <a:t> significantly reduces execution time and improves CPU utilization. It exemplifies the importance of </a:t>
            </a:r>
            <a:r>
              <a:rPr lang="en-US" sz="1200" b="1" dirty="0">
                <a:latin typeface="Times New Roman" panose="02020603050405020304" pitchFamily="18" charset="0"/>
                <a:cs typeface="Times New Roman" panose="02020603050405020304" pitchFamily="18" charset="0"/>
              </a:rPr>
              <a:t>parallel computing</a:t>
            </a:r>
            <a:r>
              <a:rPr lang="en-US" sz="1200" dirty="0">
                <a:latin typeface="Times New Roman" panose="02020603050405020304" pitchFamily="18" charset="0"/>
                <a:cs typeface="Times New Roman" panose="02020603050405020304" pitchFamily="18" charset="0"/>
              </a:rPr>
              <a:t> in modern systems, where concurrency and hardware efficiency determine overall performance. Understanding and analyzing these implementations help optimize system resources for data-intensive operations, making this study relevant both academically and industrially in the era of high-performance and distributed computing.</a:t>
            </a:r>
          </a:p>
        </p:txBody>
      </p:sp>
      <p:sp>
        <p:nvSpPr>
          <p:cNvPr id="5" name="object 5"/>
          <p:cNvSpPr txBox="1"/>
          <p:nvPr/>
        </p:nvSpPr>
        <p:spPr>
          <a:xfrm>
            <a:off x="899922" y="5167299"/>
            <a:ext cx="5967730" cy="4104970"/>
          </a:xfrm>
          <a:prstGeom prst="rect">
            <a:avLst/>
          </a:prstGeom>
        </p:spPr>
        <p:txBody>
          <a:bodyPr vert="horz" wrap="square" lIns="0" tIns="11430" rIns="0" bIns="0" rtlCol="0">
            <a:spAutoFit/>
          </a:bodyPr>
          <a:lstStyle/>
          <a:p>
            <a:pPr algn="just"/>
            <a:r>
              <a:rPr lang="en-US" sz="1300" b="1" dirty="0">
                <a:latin typeface="Times New Roman" panose="02020603050405020304" pitchFamily="18" charset="0"/>
                <a:cs typeface="Times New Roman" panose="02020603050405020304" pitchFamily="18" charset="0"/>
              </a:rPr>
              <a:t>1.2 Problem Statement</a:t>
            </a:r>
          </a:p>
          <a:p>
            <a:pPr algn="just"/>
            <a:endParaRPr lang="en-US" sz="1300" dirty="0">
              <a:latin typeface="Times New Roman" panose="02020603050405020304" pitchFamily="18" charset="0"/>
              <a:cs typeface="Times New Roman" panose="02020603050405020304" pitchFamily="18" charset="0"/>
            </a:endParaRPr>
          </a:p>
          <a:p>
            <a:pPr algn="just"/>
            <a:r>
              <a:rPr lang="en-US" sz="1200" dirty="0">
                <a:latin typeface="Times New Roman" panose="02020603050405020304" pitchFamily="18" charset="0"/>
                <a:cs typeface="Times New Roman" panose="02020603050405020304" pitchFamily="18" charset="0"/>
              </a:rPr>
              <a:t>This project focuses on the design, implementation, and performance evaluation of two variants of the merge sort algorithm—Single-Threaded and Multi-Threaded implementations—executed on a CPU environment.</a:t>
            </a:r>
          </a:p>
          <a:p>
            <a:pPr algn="just"/>
            <a:endParaRPr lang="en-US" sz="1200" dirty="0">
              <a:latin typeface="Times New Roman" panose="02020603050405020304" pitchFamily="18" charset="0"/>
              <a:cs typeface="Times New Roman" panose="02020603050405020304" pitchFamily="18" charset="0"/>
            </a:endParaRPr>
          </a:p>
          <a:p>
            <a:pPr algn="just"/>
            <a:r>
              <a:rPr lang="en-US" sz="1200" dirty="0">
                <a:latin typeface="Times New Roman" panose="02020603050405020304" pitchFamily="18" charset="0"/>
                <a:cs typeface="Times New Roman" panose="02020603050405020304" pitchFamily="18" charset="0"/>
              </a:rPr>
              <a:t>The </a:t>
            </a:r>
            <a:r>
              <a:rPr lang="en-US" sz="1200" b="1" dirty="0">
                <a:latin typeface="Times New Roman" panose="02020603050405020304" pitchFamily="18" charset="0"/>
                <a:cs typeface="Times New Roman" panose="02020603050405020304" pitchFamily="18" charset="0"/>
              </a:rPr>
              <a:t>Single-Threaded Merge Sort</a:t>
            </a:r>
            <a:r>
              <a:rPr lang="en-US" sz="1200" dirty="0">
                <a:latin typeface="Times New Roman" panose="02020603050405020304" pitchFamily="18" charset="0"/>
                <a:cs typeface="Times New Roman" panose="02020603050405020304" pitchFamily="18" charset="0"/>
              </a:rPr>
              <a:t> serves as a baseline model, where sorting operations are performed sequentially using a single execution thread. The </a:t>
            </a:r>
            <a:r>
              <a:rPr lang="en-US" sz="1200" b="1" dirty="0">
                <a:latin typeface="Times New Roman" panose="02020603050405020304" pitchFamily="18" charset="0"/>
                <a:cs typeface="Times New Roman" panose="02020603050405020304" pitchFamily="18" charset="0"/>
              </a:rPr>
              <a:t>Multi-Threaded Merge Sort</a:t>
            </a:r>
            <a:r>
              <a:rPr lang="en-US" sz="1200" dirty="0">
                <a:latin typeface="Times New Roman" panose="02020603050405020304" pitchFamily="18" charset="0"/>
                <a:cs typeface="Times New Roman" panose="02020603050405020304" pitchFamily="18" charset="0"/>
              </a:rPr>
              <a:t>, on the other hand, employs parallelization by creating multiple threads to sort subarrays concurrently, thereby utilizing the full potential of multi-core processors.</a:t>
            </a:r>
          </a:p>
          <a:p>
            <a:pPr algn="just"/>
            <a:endParaRPr lang="en-US" sz="1200" dirty="0">
              <a:latin typeface="Times New Roman" panose="02020603050405020304" pitchFamily="18" charset="0"/>
              <a:cs typeface="Times New Roman" panose="02020603050405020304" pitchFamily="18" charset="0"/>
            </a:endParaRPr>
          </a:p>
          <a:p>
            <a:pPr algn="just"/>
            <a:r>
              <a:rPr lang="en-US" sz="1200" dirty="0">
                <a:latin typeface="Times New Roman" panose="02020603050405020304" pitchFamily="18" charset="0"/>
                <a:cs typeface="Times New Roman" panose="02020603050405020304" pitchFamily="18" charset="0"/>
              </a:rPr>
              <a:t>The main objective of this study is to compare and analyze the performance of both implementations with respect to execution time, efficiency, and scalability for different input sizes. The analysis also explores the trade-offs between computation overhead and parallel speedup to identify the conditions under which multi-threading offers significant performance benefits.</a:t>
            </a:r>
          </a:p>
          <a:p>
            <a:pPr algn="just"/>
            <a:endParaRPr lang="en-US" sz="1200" dirty="0">
              <a:latin typeface="Times New Roman" panose="02020603050405020304" pitchFamily="18" charset="0"/>
              <a:cs typeface="Times New Roman" panose="02020603050405020304" pitchFamily="18" charset="0"/>
            </a:endParaRPr>
          </a:p>
          <a:p>
            <a:pPr algn="just"/>
            <a:r>
              <a:rPr lang="en-US" sz="1200" dirty="0">
                <a:latin typeface="Times New Roman" panose="02020603050405020304" pitchFamily="18" charset="0"/>
                <a:cs typeface="Times New Roman" panose="02020603050405020304" pitchFamily="18" charset="0"/>
              </a:rPr>
              <a:t>Through systematic benchmarking, the project highlights how thread management, synchronization costs, and data partitioning affect sorting performance. The results aim to determine the crossover point—where the multi-threaded version starts outperforming the single-threaded one—providing insights into optimizing sorting performance using parallel computing techniques.</a:t>
            </a:r>
          </a:p>
        </p:txBody>
      </p:sp>
      <p:sp>
        <p:nvSpPr>
          <p:cNvPr id="6" name="object 6"/>
          <p:cNvSpPr/>
          <p:nvPr/>
        </p:nvSpPr>
        <p:spPr>
          <a:xfrm>
            <a:off x="228600" y="228599"/>
            <a:ext cx="7315200" cy="9601200"/>
          </a:xfrm>
          <a:custGeom>
            <a:avLst/>
            <a:gdLst/>
            <a:ahLst/>
            <a:cxnLst/>
            <a:rect l="l" t="t" r="r" b="b"/>
            <a:pathLst>
              <a:path w="7315200" h="9601200">
                <a:moveTo>
                  <a:pt x="7315200" y="12"/>
                </a:moveTo>
                <a:lnTo>
                  <a:pt x="7309104" y="12"/>
                </a:lnTo>
                <a:lnTo>
                  <a:pt x="7309104" y="6096"/>
                </a:lnTo>
                <a:lnTo>
                  <a:pt x="7309091" y="9595104"/>
                </a:lnTo>
                <a:lnTo>
                  <a:pt x="6083" y="9595104"/>
                </a:lnTo>
                <a:lnTo>
                  <a:pt x="6083" y="6096"/>
                </a:lnTo>
                <a:lnTo>
                  <a:pt x="7309091" y="6096"/>
                </a:lnTo>
                <a:lnTo>
                  <a:pt x="7309091" y="0"/>
                </a:lnTo>
                <a:lnTo>
                  <a:pt x="0" y="0"/>
                </a:lnTo>
                <a:lnTo>
                  <a:pt x="0" y="6096"/>
                </a:lnTo>
                <a:lnTo>
                  <a:pt x="0" y="9595104"/>
                </a:lnTo>
                <a:lnTo>
                  <a:pt x="0" y="9601200"/>
                </a:lnTo>
                <a:lnTo>
                  <a:pt x="7309091" y="9601200"/>
                </a:lnTo>
                <a:lnTo>
                  <a:pt x="7315200" y="9601200"/>
                </a:lnTo>
                <a:lnTo>
                  <a:pt x="7315200" y="9595104"/>
                </a:lnTo>
                <a:lnTo>
                  <a:pt x="7315200" y="6096"/>
                </a:lnTo>
                <a:lnTo>
                  <a:pt x="7315200" y="12"/>
                </a:lnTo>
                <a:close/>
              </a:path>
            </a:pathLst>
          </a:custGeom>
          <a:solidFill>
            <a:srgbClr val="000000"/>
          </a:solidFill>
        </p:spPr>
        <p:txBody>
          <a:bodyPr wrap="square" lIns="0" tIns="0" rIns="0" bIns="0" rtlCol="0"/>
          <a:lstStyle/>
          <a:p>
            <a:endParaRPr/>
          </a:p>
        </p:txBody>
      </p:sp>
      <p:sp>
        <p:nvSpPr>
          <p:cNvPr id="7" name="object 7"/>
          <p:cNvSpPr txBox="1">
            <a:spLocks noGrp="1"/>
          </p:cNvSpPr>
          <p:nvPr>
            <p:ph type="ftr" sz="quarter" idx="5"/>
          </p:nvPr>
        </p:nvSpPr>
        <p:spPr>
          <a:prstGeom prst="rect">
            <a:avLst/>
          </a:prstGeom>
        </p:spPr>
        <p:txBody>
          <a:bodyPr vert="horz" wrap="square" lIns="0" tIns="0" rIns="0" bIns="0" rtlCol="0">
            <a:spAutoFit/>
          </a:bodyPr>
          <a:lstStyle/>
          <a:p>
            <a:pPr marL="12700">
              <a:lnSpc>
                <a:spcPts val="1460"/>
              </a:lnSpc>
            </a:pPr>
            <a:r>
              <a:rPr dirty="0"/>
              <a:t>DEPARTMENT</a:t>
            </a:r>
            <a:r>
              <a:rPr spc="-30" dirty="0"/>
              <a:t> </a:t>
            </a:r>
            <a:r>
              <a:rPr dirty="0"/>
              <a:t>OF</a:t>
            </a:r>
            <a:r>
              <a:rPr spc="-40" dirty="0"/>
              <a:t> </a:t>
            </a:r>
            <a:r>
              <a:rPr dirty="0"/>
              <a:t>COMPUTER</a:t>
            </a:r>
            <a:r>
              <a:rPr spc="-45" dirty="0"/>
              <a:t> </a:t>
            </a:r>
            <a:r>
              <a:rPr spc="-10" dirty="0"/>
              <a:t>ENGINEERING,</a:t>
            </a:r>
            <a:r>
              <a:rPr spc="-45" dirty="0"/>
              <a:t> </a:t>
            </a:r>
            <a:r>
              <a:rPr dirty="0"/>
              <a:t>PESMCOE,</a:t>
            </a:r>
            <a:r>
              <a:rPr spc="-40" dirty="0"/>
              <a:t> </a:t>
            </a:r>
            <a:r>
              <a:rPr spc="-10" dirty="0"/>
              <a:t>PUNE:05</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731012" y="342692"/>
            <a:ext cx="104775" cy="215265"/>
          </a:xfrm>
          <a:prstGeom prst="rect">
            <a:avLst/>
          </a:prstGeom>
        </p:spPr>
        <p:txBody>
          <a:bodyPr vert="horz" wrap="square" lIns="0" tIns="12065" rIns="0" bIns="0" rtlCol="0">
            <a:spAutoFit/>
          </a:bodyPr>
          <a:lstStyle/>
          <a:p>
            <a:pPr marL="12700">
              <a:lnSpc>
                <a:spcPct val="100000"/>
              </a:lnSpc>
              <a:spcBef>
                <a:spcPts val="95"/>
              </a:spcBef>
            </a:pPr>
            <a:r>
              <a:rPr sz="1250" b="1" spc="-50" dirty="0">
                <a:solidFill>
                  <a:srgbClr val="FFFFFF"/>
                </a:solidFill>
                <a:latin typeface="Times New Roman"/>
                <a:cs typeface="Times New Roman"/>
              </a:rPr>
              <a:t>3</a:t>
            </a:r>
            <a:endParaRPr sz="1250">
              <a:latin typeface="Times New Roman"/>
              <a:cs typeface="Times New Roman"/>
            </a:endParaRPr>
          </a:p>
        </p:txBody>
      </p:sp>
      <p:sp>
        <p:nvSpPr>
          <p:cNvPr id="3" name="object 3"/>
          <p:cNvSpPr txBox="1"/>
          <p:nvPr/>
        </p:nvSpPr>
        <p:spPr>
          <a:xfrm>
            <a:off x="1773427" y="363967"/>
            <a:ext cx="4224655" cy="166071"/>
          </a:xfrm>
          <a:prstGeom prst="rect">
            <a:avLst/>
          </a:prstGeom>
        </p:spPr>
        <p:txBody>
          <a:bodyPr vert="horz" wrap="square" lIns="0" tIns="12065" rIns="0" bIns="0" rtlCol="0">
            <a:spAutoFit/>
          </a:bodyPr>
          <a:lstStyle/>
          <a:p>
            <a:pPr marL="12700">
              <a:lnSpc>
                <a:spcPct val="100000"/>
              </a:lnSpc>
              <a:spcBef>
                <a:spcPts val="95"/>
              </a:spcBef>
            </a:pPr>
            <a:r>
              <a:rPr lang="en-US" sz="1000" dirty="0">
                <a:latin typeface="Times New Roman"/>
                <a:cs typeface="Times New Roman"/>
              </a:rPr>
              <a:t>Performance Analysis of Single-Threaded and Multithreaded Merge Sort</a:t>
            </a:r>
            <a:endParaRPr sz="1000" dirty="0">
              <a:latin typeface="Times New Roman"/>
              <a:cs typeface="Times New Roman"/>
            </a:endParaRPr>
          </a:p>
        </p:txBody>
      </p:sp>
      <p:sp>
        <p:nvSpPr>
          <p:cNvPr id="4" name="object 4"/>
          <p:cNvSpPr txBox="1"/>
          <p:nvPr/>
        </p:nvSpPr>
        <p:spPr>
          <a:xfrm>
            <a:off x="901700" y="1266247"/>
            <a:ext cx="5969000" cy="7275068"/>
          </a:xfrm>
          <a:prstGeom prst="rect">
            <a:avLst/>
          </a:prstGeom>
        </p:spPr>
        <p:txBody>
          <a:bodyPr vert="horz" wrap="square" lIns="0" tIns="11430" rIns="0" bIns="0" rtlCol="0">
            <a:spAutoFit/>
          </a:bodyPr>
          <a:lstStyle/>
          <a:p>
            <a:pPr algn="just"/>
            <a:r>
              <a:rPr lang="en-US" sz="1300" b="1" dirty="0">
                <a:latin typeface="Times New Roman" panose="02020603050405020304" pitchFamily="18" charset="0"/>
                <a:cs typeface="Times New Roman" panose="02020603050405020304" pitchFamily="18" charset="0"/>
              </a:rPr>
              <a:t>3.Motivation for Parallelization</a:t>
            </a:r>
          </a:p>
          <a:p>
            <a:pPr algn="just"/>
            <a:endParaRPr lang="en-US" sz="1300" b="1" dirty="0">
              <a:latin typeface="Times New Roman" panose="02020603050405020304" pitchFamily="18" charset="0"/>
              <a:cs typeface="Times New Roman" panose="02020603050405020304" pitchFamily="18" charset="0"/>
            </a:endParaRPr>
          </a:p>
          <a:p>
            <a:pPr algn="just"/>
            <a:r>
              <a:rPr lang="en-US" sz="1200" dirty="0">
                <a:latin typeface="Times New Roman" panose="02020603050405020304" pitchFamily="18" charset="0"/>
                <a:cs typeface="Times New Roman" panose="02020603050405020304" pitchFamily="18" charset="0"/>
              </a:rPr>
              <a:t>The quest for faster and more efficient computation has driven the evolution of computer systems for decades. As single-core processing performance approaches physical and thermal limitations, </a:t>
            </a:r>
            <a:r>
              <a:rPr lang="en-US" sz="1200" b="1" dirty="0">
                <a:latin typeface="Times New Roman" panose="02020603050405020304" pitchFamily="18" charset="0"/>
                <a:cs typeface="Times New Roman" panose="02020603050405020304" pitchFamily="18" charset="0"/>
              </a:rPr>
              <a:t>parallel and multithreaded computing</a:t>
            </a:r>
            <a:r>
              <a:rPr lang="en-US" sz="1200" dirty="0">
                <a:latin typeface="Times New Roman" panose="02020603050405020304" pitchFamily="18" charset="0"/>
                <a:cs typeface="Times New Roman" panose="02020603050405020304" pitchFamily="18" charset="0"/>
              </a:rPr>
              <a:t> has become a dominant paradigm for enhancing performance. The diminishing benefits of Moore’s Law have further accelerated the transition toward </a:t>
            </a:r>
            <a:r>
              <a:rPr lang="en-US" sz="1200" b="1" dirty="0">
                <a:latin typeface="Times New Roman" panose="02020603050405020304" pitchFamily="18" charset="0"/>
                <a:cs typeface="Times New Roman" panose="02020603050405020304" pitchFamily="18" charset="0"/>
              </a:rPr>
              <a:t>multi-core architectures</a:t>
            </a:r>
            <a:r>
              <a:rPr lang="en-US" sz="1200" dirty="0">
                <a:latin typeface="Times New Roman" panose="02020603050405020304" pitchFamily="18" charset="0"/>
                <a:cs typeface="Times New Roman" panose="02020603050405020304" pitchFamily="18" charset="0"/>
              </a:rPr>
              <a:t>, where computational tasks can be executed concurrently to achieve substantial speedups.</a:t>
            </a:r>
          </a:p>
          <a:p>
            <a:pPr algn="just"/>
            <a:endParaRPr lang="en-US" sz="1200" dirty="0">
              <a:latin typeface="Times New Roman" panose="02020603050405020304" pitchFamily="18" charset="0"/>
              <a:cs typeface="Times New Roman" panose="02020603050405020304" pitchFamily="18" charset="0"/>
            </a:endParaRPr>
          </a:p>
          <a:p>
            <a:pPr algn="just"/>
            <a:r>
              <a:rPr lang="en-US" sz="1200" dirty="0">
                <a:latin typeface="Times New Roman" panose="02020603050405020304" pitchFamily="18" charset="0"/>
                <a:cs typeface="Times New Roman" panose="02020603050405020304" pitchFamily="18" charset="0"/>
              </a:rPr>
              <a:t>Sorting algorithms, particularly </a:t>
            </a:r>
            <a:r>
              <a:rPr lang="en-US" sz="1200" b="1" dirty="0">
                <a:latin typeface="Times New Roman" panose="02020603050405020304" pitchFamily="18" charset="0"/>
                <a:cs typeface="Times New Roman" panose="02020603050405020304" pitchFamily="18" charset="0"/>
              </a:rPr>
              <a:t>Merge Sort</a:t>
            </a:r>
            <a:r>
              <a:rPr lang="en-US" sz="1200" dirty="0">
                <a:latin typeface="Times New Roman" panose="02020603050405020304" pitchFamily="18" charset="0"/>
                <a:cs typeface="Times New Roman" panose="02020603050405020304" pitchFamily="18" charset="0"/>
              </a:rPr>
              <a:t>, are excellent candidates for parallelization due to their </a:t>
            </a:r>
            <a:r>
              <a:rPr lang="en-US" sz="1200" b="1" dirty="0">
                <a:latin typeface="Times New Roman" panose="02020603050405020304" pitchFamily="18" charset="0"/>
                <a:cs typeface="Times New Roman" panose="02020603050405020304" pitchFamily="18" charset="0"/>
              </a:rPr>
              <a:t>divide-and-conquer nature</a:t>
            </a:r>
            <a:r>
              <a:rPr lang="en-US" sz="1200" dirty="0">
                <a:latin typeface="Times New Roman" panose="02020603050405020304" pitchFamily="18" charset="0"/>
                <a:cs typeface="Times New Roman" panose="02020603050405020304" pitchFamily="18" charset="0"/>
              </a:rPr>
              <a:t>. The sorting of independent subarrays can be executed in parallel threads, enabling significant reduction in execution time for large datasets. By utilizing </a:t>
            </a:r>
            <a:r>
              <a:rPr lang="en-US" sz="1200" b="1" dirty="0">
                <a:latin typeface="Times New Roman" panose="02020603050405020304" pitchFamily="18" charset="0"/>
                <a:cs typeface="Times New Roman" panose="02020603050405020304" pitchFamily="18" charset="0"/>
              </a:rPr>
              <a:t>thread-level parallelism</a:t>
            </a:r>
            <a:r>
              <a:rPr lang="en-US" sz="1200" dirty="0">
                <a:latin typeface="Times New Roman" panose="02020603050405020304" pitchFamily="18" charset="0"/>
                <a:cs typeface="Times New Roman" panose="02020603050405020304" pitchFamily="18" charset="0"/>
              </a:rPr>
              <a:t>, systems can leverage multi-core CPUs to achieve scalable performance while efficiently managing computational workloads.</a:t>
            </a:r>
          </a:p>
          <a:p>
            <a:pPr algn="just"/>
            <a:endParaRPr lang="en-US" sz="1200" dirty="0">
              <a:latin typeface="Times New Roman" panose="02020603050405020304" pitchFamily="18" charset="0"/>
              <a:cs typeface="Times New Roman" panose="02020603050405020304" pitchFamily="18" charset="0"/>
            </a:endParaRPr>
          </a:p>
          <a:p>
            <a:pPr algn="just"/>
            <a:r>
              <a:rPr lang="en-US" sz="1200" dirty="0">
                <a:latin typeface="Times New Roman" panose="02020603050405020304" pitchFamily="18" charset="0"/>
                <a:cs typeface="Times New Roman" panose="02020603050405020304" pitchFamily="18" charset="0"/>
              </a:rPr>
              <a:t>The motivation for studying </a:t>
            </a:r>
            <a:r>
              <a:rPr lang="en-US" sz="1200" b="1" dirty="0">
                <a:latin typeface="Times New Roman" panose="02020603050405020304" pitchFamily="18" charset="0"/>
                <a:cs typeface="Times New Roman" panose="02020603050405020304" pitchFamily="18" charset="0"/>
              </a:rPr>
              <a:t>parallel merge sort</a:t>
            </a:r>
            <a:r>
              <a:rPr lang="en-US" sz="1200" dirty="0">
                <a:latin typeface="Times New Roman" panose="02020603050405020304" pitchFamily="18" charset="0"/>
                <a:cs typeface="Times New Roman" panose="02020603050405020304" pitchFamily="18" charset="0"/>
              </a:rPr>
              <a:t> extends beyond theoretical speed improvements. In practical applications such as </a:t>
            </a:r>
            <a:r>
              <a:rPr lang="en-US" sz="1200" b="1" dirty="0">
                <a:latin typeface="Times New Roman" panose="02020603050405020304" pitchFamily="18" charset="0"/>
                <a:cs typeface="Times New Roman" panose="02020603050405020304" pitchFamily="18" charset="0"/>
              </a:rPr>
              <a:t>big data analytics, real-time systems, and database management</a:t>
            </a:r>
            <a:r>
              <a:rPr lang="en-US" sz="1200" dirty="0">
                <a:latin typeface="Times New Roman" panose="02020603050405020304" pitchFamily="18" charset="0"/>
                <a:cs typeface="Times New Roman" panose="02020603050405020304" pitchFamily="18" charset="0"/>
              </a:rPr>
              <a:t>, efficient sorting directly impacts response time and throughput. Hence, evaluating and optimizing the </a:t>
            </a:r>
            <a:r>
              <a:rPr lang="en-US" sz="1200" b="1" dirty="0">
                <a:latin typeface="Times New Roman" panose="02020603050405020304" pitchFamily="18" charset="0"/>
                <a:cs typeface="Times New Roman" panose="02020603050405020304" pitchFamily="18" charset="0"/>
              </a:rPr>
              <a:t>performance of single-threaded versus multithreaded Merge Sort</a:t>
            </a:r>
            <a:r>
              <a:rPr lang="en-US" sz="1200" dirty="0">
                <a:latin typeface="Times New Roman" panose="02020603050405020304" pitchFamily="18" charset="0"/>
                <a:cs typeface="Times New Roman" panose="02020603050405020304" pitchFamily="18" charset="0"/>
              </a:rPr>
              <a:t> plays a crucial role in understanding computational efficiency and resource utilization in modern computing environments.</a:t>
            </a:r>
          </a:p>
          <a:p>
            <a:pPr algn="just"/>
            <a:br>
              <a:rPr lang="en-US" sz="1200" dirty="0">
                <a:latin typeface="Times New Roman" panose="02020603050405020304" pitchFamily="18" charset="0"/>
                <a:cs typeface="Times New Roman" panose="02020603050405020304" pitchFamily="18" charset="0"/>
              </a:rPr>
            </a:br>
            <a:endParaRPr lang="en-US" sz="1200" dirty="0">
              <a:latin typeface="Times New Roman" panose="02020603050405020304" pitchFamily="18" charset="0"/>
              <a:cs typeface="Times New Roman" panose="02020603050405020304" pitchFamily="18" charset="0"/>
            </a:endParaRPr>
          </a:p>
          <a:p>
            <a:pPr algn="just"/>
            <a:r>
              <a:rPr lang="en-US" sz="1300" b="1" dirty="0">
                <a:latin typeface="Times New Roman" panose="02020603050405020304" pitchFamily="18" charset="0"/>
                <a:cs typeface="Times New Roman" panose="02020603050405020304" pitchFamily="18" charset="0"/>
              </a:rPr>
              <a:t>4.Objectives</a:t>
            </a:r>
          </a:p>
          <a:p>
            <a:pPr algn="just"/>
            <a:endParaRPr lang="en-US" sz="1300" b="1" dirty="0">
              <a:latin typeface="Times New Roman" panose="02020603050405020304" pitchFamily="18" charset="0"/>
              <a:cs typeface="Times New Roman" panose="02020603050405020304" pitchFamily="18" charset="0"/>
            </a:endParaRPr>
          </a:p>
          <a:p>
            <a:pPr algn="just"/>
            <a:r>
              <a:rPr lang="en-US" sz="1200" dirty="0">
                <a:latin typeface="Times New Roman" panose="02020603050405020304" pitchFamily="18" charset="0"/>
                <a:cs typeface="Times New Roman" panose="02020603050405020304" pitchFamily="18" charset="0"/>
              </a:rPr>
              <a:t>The primary objective of this project is to </a:t>
            </a:r>
            <a:r>
              <a:rPr lang="en-US" sz="1200" b="1" dirty="0">
                <a:latin typeface="Times New Roman" panose="02020603050405020304" pitchFamily="18" charset="0"/>
                <a:cs typeface="Times New Roman" panose="02020603050405020304" pitchFamily="18" charset="0"/>
              </a:rPr>
              <a:t>design, implement, and evaluate</a:t>
            </a:r>
            <a:r>
              <a:rPr lang="en-US" sz="1200" dirty="0">
                <a:latin typeface="Times New Roman" panose="02020603050405020304" pitchFamily="18" charset="0"/>
                <a:cs typeface="Times New Roman" panose="02020603050405020304" pitchFamily="18" charset="0"/>
              </a:rPr>
              <a:t> both single-threaded and multithreaded versions of the Merge Sort algorithm, comparing their performance across various conditions. The specific goals are as follows:</a:t>
            </a:r>
          </a:p>
          <a:p>
            <a:pPr algn="just"/>
            <a:endParaRPr lang="en-US" sz="1200" dirty="0">
              <a:latin typeface="Times New Roman" panose="02020603050405020304" pitchFamily="18" charset="0"/>
              <a:cs typeface="Times New Roman" panose="02020603050405020304" pitchFamily="18" charset="0"/>
            </a:endParaRPr>
          </a:p>
          <a:p>
            <a:pPr algn="just"/>
            <a:r>
              <a:rPr lang="en-US" sz="1200" b="1" dirty="0">
                <a:latin typeface="Times New Roman" panose="02020603050405020304" pitchFamily="18" charset="0"/>
                <a:cs typeface="Times New Roman" panose="02020603050405020304" pitchFamily="18" charset="0"/>
              </a:rPr>
              <a:t>O1:</a:t>
            </a:r>
            <a:r>
              <a:rPr lang="en-US" sz="1200" dirty="0">
                <a:latin typeface="Times New Roman" panose="02020603050405020304" pitchFamily="18" charset="0"/>
                <a:cs typeface="Times New Roman" panose="02020603050405020304" pitchFamily="18" charset="0"/>
              </a:rPr>
              <a:t> Implement a standard single-threaded Merge Sort algorithm as a baseline for comparison.</a:t>
            </a:r>
          </a:p>
          <a:p>
            <a:pPr algn="just"/>
            <a:endParaRPr lang="en-US" sz="1200" dirty="0">
              <a:latin typeface="Times New Roman" panose="02020603050405020304" pitchFamily="18" charset="0"/>
              <a:cs typeface="Times New Roman" panose="02020603050405020304" pitchFamily="18" charset="0"/>
            </a:endParaRPr>
          </a:p>
          <a:p>
            <a:pPr algn="just"/>
            <a:r>
              <a:rPr lang="en-US" sz="1200" b="1" dirty="0">
                <a:latin typeface="Times New Roman" panose="02020603050405020304" pitchFamily="18" charset="0"/>
                <a:cs typeface="Times New Roman" panose="02020603050405020304" pitchFamily="18" charset="0"/>
              </a:rPr>
              <a:t>O2:</a:t>
            </a:r>
            <a:r>
              <a:rPr lang="en-US" sz="1200" dirty="0">
                <a:latin typeface="Times New Roman" panose="02020603050405020304" pitchFamily="18" charset="0"/>
                <a:cs typeface="Times New Roman" panose="02020603050405020304" pitchFamily="18" charset="0"/>
              </a:rPr>
              <a:t> Develop a multithreaded Merge Sort using concurrent threads to handle independent subarrays.</a:t>
            </a:r>
          </a:p>
          <a:p>
            <a:pPr algn="just"/>
            <a:endParaRPr lang="en-US" sz="1200" dirty="0">
              <a:latin typeface="Times New Roman" panose="02020603050405020304" pitchFamily="18" charset="0"/>
              <a:cs typeface="Times New Roman" panose="02020603050405020304" pitchFamily="18" charset="0"/>
            </a:endParaRPr>
          </a:p>
          <a:p>
            <a:pPr algn="just"/>
            <a:r>
              <a:rPr lang="en-US" sz="1200" b="1" dirty="0">
                <a:latin typeface="Times New Roman" panose="02020603050405020304" pitchFamily="18" charset="0"/>
                <a:cs typeface="Times New Roman" panose="02020603050405020304" pitchFamily="18" charset="0"/>
              </a:rPr>
              <a:t>O3:</a:t>
            </a:r>
            <a:r>
              <a:rPr lang="en-US" sz="1200" dirty="0">
                <a:latin typeface="Times New Roman" panose="02020603050405020304" pitchFamily="18" charset="0"/>
                <a:cs typeface="Times New Roman" panose="02020603050405020304" pitchFamily="18" charset="0"/>
              </a:rPr>
              <a:t> Measure and compare the </a:t>
            </a:r>
            <a:r>
              <a:rPr lang="en-US" sz="1200" b="1" dirty="0">
                <a:latin typeface="Times New Roman" panose="02020603050405020304" pitchFamily="18" charset="0"/>
                <a:cs typeface="Times New Roman" panose="02020603050405020304" pitchFamily="18" charset="0"/>
              </a:rPr>
              <a:t>execution time</a:t>
            </a:r>
            <a:r>
              <a:rPr lang="en-US" sz="1200" dirty="0">
                <a:latin typeface="Times New Roman" panose="02020603050405020304" pitchFamily="18" charset="0"/>
                <a:cs typeface="Times New Roman" panose="02020603050405020304" pitchFamily="18" charset="0"/>
              </a:rPr>
              <a:t>, </a:t>
            </a:r>
            <a:r>
              <a:rPr lang="en-US" sz="1200" b="1" dirty="0">
                <a:latin typeface="Times New Roman" panose="02020603050405020304" pitchFamily="18" charset="0"/>
                <a:cs typeface="Times New Roman" panose="02020603050405020304" pitchFamily="18" charset="0"/>
              </a:rPr>
              <a:t>CPU utilization</a:t>
            </a:r>
            <a:r>
              <a:rPr lang="en-US" sz="1200" dirty="0">
                <a:latin typeface="Times New Roman" panose="02020603050405020304" pitchFamily="18" charset="0"/>
                <a:cs typeface="Times New Roman" panose="02020603050405020304" pitchFamily="18" charset="0"/>
              </a:rPr>
              <a:t>, and </a:t>
            </a:r>
            <a:r>
              <a:rPr lang="en-US" sz="1200" b="1" dirty="0">
                <a:latin typeface="Times New Roman" panose="02020603050405020304" pitchFamily="18" charset="0"/>
                <a:cs typeface="Times New Roman" panose="02020603050405020304" pitchFamily="18" charset="0"/>
              </a:rPr>
              <a:t>speedup ratio</a:t>
            </a:r>
            <a:r>
              <a:rPr lang="en-US" sz="1200" dirty="0">
                <a:latin typeface="Times New Roman" panose="02020603050405020304" pitchFamily="18" charset="0"/>
                <a:cs typeface="Times New Roman" panose="02020603050405020304" pitchFamily="18" charset="0"/>
              </a:rPr>
              <a:t> of both implementations across different input sizes.</a:t>
            </a:r>
          </a:p>
          <a:p>
            <a:pPr algn="just"/>
            <a:endParaRPr lang="en-US" sz="1200" dirty="0">
              <a:latin typeface="Times New Roman" panose="02020603050405020304" pitchFamily="18" charset="0"/>
              <a:cs typeface="Times New Roman" panose="02020603050405020304" pitchFamily="18" charset="0"/>
            </a:endParaRPr>
          </a:p>
          <a:p>
            <a:pPr algn="just"/>
            <a:r>
              <a:rPr lang="en-US" sz="1200" b="1" dirty="0">
                <a:latin typeface="Times New Roman" panose="02020603050405020304" pitchFamily="18" charset="0"/>
                <a:cs typeface="Times New Roman" panose="02020603050405020304" pitchFamily="18" charset="0"/>
              </a:rPr>
              <a:t>O4:</a:t>
            </a:r>
            <a:r>
              <a:rPr lang="en-US" sz="1200" dirty="0">
                <a:latin typeface="Times New Roman" panose="02020603050405020304" pitchFamily="18" charset="0"/>
                <a:cs typeface="Times New Roman" panose="02020603050405020304" pitchFamily="18" charset="0"/>
              </a:rPr>
              <a:t> Analyze and interpret the </a:t>
            </a:r>
            <a:r>
              <a:rPr lang="en-US" sz="1200" b="1" dirty="0">
                <a:latin typeface="Times New Roman" panose="02020603050405020304" pitchFamily="18" charset="0"/>
                <a:cs typeface="Times New Roman" panose="02020603050405020304" pitchFamily="18" charset="0"/>
              </a:rPr>
              <a:t>performance trends</a:t>
            </a:r>
            <a:r>
              <a:rPr lang="en-US" sz="1200" dirty="0">
                <a:latin typeface="Times New Roman" panose="02020603050405020304" pitchFamily="18" charset="0"/>
                <a:cs typeface="Times New Roman" panose="02020603050405020304" pitchFamily="18" charset="0"/>
              </a:rPr>
              <a:t> in best-case, average-case, and worst-case scenarios, identifying the scalability and efficiency of multithreaded execution.</a:t>
            </a:r>
          </a:p>
        </p:txBody>
      </p:sp>
      <p:sp>
        <p:nvSpPr>
          <p:cNvPr id="5" name="object 5"/>
          <p:cNvSpPr/>
          <p:nvPr/>
        </p:nvSpPr>
        <p:spPr>
          <a:xfrm>
            <a:off x="228600" y="228599"/>
            <a:ext cx="7315200" cy="9601200"/>
          </a:xfrm>
          <a:custGeom>
            <a:avLst/>
            <a:gdLst/>
            <a:ahLst/>
            <a:cxnLst/>
            <a:rect l="l" t="t" r="r" b="b"/>
            <a:pathLst>
              <a:path w="7315200" h="9601200">
                <a:moveTo>
                  <a:pt x="7315200" y="12"/>
                </a:moveTo>
                <a:lnTo>
                  <a:pt x="7309104" y="12"/>
                </a:lnTo>
                <a:lnTo>
                  <a:pt x="7309104" y="6096"/>
                </a:lnTo>
                <a:lnTo>
                  <a:pt x="7309091" y="9595104"/>
                </a:lnTo>
                <a:lnTo>
                  <a:pt x="6083" y="9595104"/>
                </a:lnTo>
                <a:lnTo>
                  <a:pt x="6083" y="6096"/>
                </a:lnTo>
                <a:lnTo>
                  <a:pt x="7309091" y="6096"/>
                </a:lnTo>
                <a:lnTo>
                  <a:pt x="7309091" y="0"/>
                </a:lnTo>
                <a:lnTo>
                  <a:pt x="0" y="0"/>
                </a:lnTo>
                <a:lnTo>
                  <a:pt x="0" y="6096"/>
                </a:lnTo>
                <a:lnTo>
                  <a:pt x="0" y="9595104"/>
                </a:lnTo>
                <a:lnTo>
                  <a:pt x="0" y="9601200"/>
                </a:lnTo>
                <a:lnTo>
                  <a:pt x="7309091" y="9601200"/>
                </a:lnTo>
                <a:lnTo>
                  <a:pt x="7315200" y="9601200"/>
                </a:lnTo>
                <a:lnTo>
                  <a:pt x="7315200" y="9595104"/>
                </a:lnTo>
                <a:lnTo>
                  <a:pt x="7315200" y="6096"/>
                </a:lnTo>
                <a:lnTo>
                  <a:pt x="7315200" y="12"/>
                </a:lnTo>
                <a:close/>
              </a:path>
            </a:pathLst>
          </a:custGeom>
          <a:solidFill>
            <a:srgbClr val="000000"/>
          </a:solidFill>
        </p:spPr>
        <p:txBody>
          <a:bodyPr wrap="square" lIns="0" tIns="0" rIns="0" bIns="0" rtlCol="0"/>
          <a:lstStyle/>
          <a:p>
            <a:endParaRPr/>
          </a:p>
        </p:txBody>
      </p:sp>
      <p:sp>
        <p:nvSpPr>
          <p:cNvPr id="6" name="object 6"/>
          <p:cNvSpPr txBox="1">
            <a:spLocks noGrp="1"/>
          </p:cNvSpPr>
          <p:nvPr>
            <p:ph type="ftr" sz="quarter" idx="5"/>
          </p:nvPr>
        </p:nvSpPr>
        <p:spPr>
          <a:prstGeom prst="rect">
            <a:avLst/>
          </a:prstGeom>
        </p:spPr>
        <p:txBody>
          <a:bodyPr vert="horz" wrap="square" lIns="0" tIns="0" rIns="0" bIns="0" rtlCol="0">
            <a:spAutoFit/>
          </a:bodyPr>
          <a:lstStyle/>
          <a:p>
            <a:pPr marL="12700">
              <a:lnSpc>
                <a:spcPts val="1460"/>
              </a:lnSpc>
            </a:pPr>
            <a:r>
              <a:rPr dirty="0"/>
              <a:t>DEPARTMENT</a:t>
            </a:r>
            <a:r>
              <a:rPr spc="-30" dirty="0"/>
              <a:t> </a:t>
            </a:r>
            <a:r>
              <a:rPr dirty="0"/>
              <a:t>OF</a:t>
            </a:r>
            <a:r>
              <a:rPr spc="-40" dirty="0"/>
              <a:t> </a:t>
            </a:r>
            <a:r>
              <a:rPr dirty="0"/>
              <a:t>COMPUTER</a:t>
            </a:r>
            <a:r>
              <a:rPr spc="-45" dirty="0"/>
              <a:t> </a:t>
            </a:r>
            <a:r>
              <a:rPr spc="-10" dirty="0"/>
              <a:t>ENGINEERING,</a:t>
            </a:r>
            <a:r>
              <a:rPr spc="-45" dirty="0"/>
              <a:t> </a:t>
            </a:r>
            <a:r>
              <a:rPr dirty="0"/>
              <a:t>PESMCOE,</a:t>
            </a:r>
            <a:r>
              <a:rPr spc="-40" dirty="0"/>
              <a:t> </a:t>
            </a:r>
            <a:r>
              <a:rPr spc="-10" dirty="0"/>
              <a:t>PUNE:05</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731012" y="342692"/>
            <a:ext cx="104775" cy="215265"/>
          </a:xfrm>
          <a:prstGeom prst="rect">
            <a:avLst/>
          </a:prstGeom>
        </p:spPr>
        <p:txBody>
          <a:bodyPr vert="horz" wrap="square" lIns="0" tIns="12065" rIns="0" bIns="0" rtlCol="0">
            <a:spAutoFit/>
          </a:bodyPr>
          <a:lstStyle/>
          <a:p>
            <a:pPr marL="12700">
              <a:lnSpc>
                <a:spcPct val="100000"/>
              </a:lnSpc>
              <a:spcBef>
                <a:spcPts val="95"/>
              </a:spcBef>
            </a:pPr>
            <a:r>
              <a:rPr sz="1250" b="1" spc="-50" dirty="0">
                <a:solidFill>
                  <a:srgbClr val="FFFFFF"/>
                </a:solidFill>
                <a:latin typeface="Times New Roman"/>
                <a:cs typeface="Times New Roman"/>
              </a:rPr>
              <a:t>4</a:t>
            </a:r>
            <a:endParaRPr sz="1250">
              <a:latin typeface="Times New Roman"/>
              <a:cs typeface="Times New Roman"/>
            </a:endParaRPr>
          </a:p>
        </p:txBody>
      </p:sp>
      <p:sp>
        <p:nvSpPr>
          <p:cNvPr id="3" name="object 3"/>
          <p:cNvSpPr txBox="1"/>
          <p:nvPr/>
        </p:nvSpPr>
        <p:spPr>
          <a:xfrm>
            <a:off x="1773427" y="363967"/>
            <a:ext cx="4224655" cy="166071"/>
          </a:xfrm>
          <a:prstGeom prst="rect">
            <a:avLst/>
          </a:prstGeom>
        </p:spPr>
        <p:txBody>
          <a:bodyPr vert="horz" wrap="square" lIns="0" tIns="12065" rIns="0" bIns="0" rtlCol="0">
            <a:spAutoFit/>
          </a:bodyPr>
          <a:lstStyle/>
          <a:p>
            <a:pPr marL="12700">
              <a:lnSpc>
                <a:spcPct val="100000"/>
              </a:lnSpc>
              <a:spcBef>
                <a:spcPts val="95"/>
              </a:spcBef>
            </a:pPr>
            <a:r>
              <a:rPr lang="en-US" sz="1000" dirty="0">
                <a:latin typeface="Times New Roman"/>
                <a:cs typeface="Times New Roman"/>
              </a:rPr>
              <a:t>Performance Analysis of Single-Threaded and Multithreaded Merge Sort</a:t>
            </a:r>
            <a:endParaRPr sz="1000" dirty="0">
              <a:latin typeface="Times New Roman"/>
              <a:cs typeface="Times New Roman"/>
            </a:endParaRPr>
          </a:p>
        </p:txBody>
      </p:sp>
      <p:sp>
        <p:nvSpPr>
          <p:cNvPr id="4" name="object 4"/>
          <p:cNvSpPr txBox="1"/>
          <p:nvPr/>
        </p:nvSpPr>
        <p:spPr>
          <a:xfrm>
            <a:off x="2547619" y="6963046"/>
            <a:ext cx="4323080" cy="1714500"/>
          </a:xfrm>
          <a:prstGeom prst="rect">
            <a:avLst/>
          </a:prstGeom>
        </p:spPr>
        <p:txBody>
          <a:bodyPr vert="horz" wrap="square" lIns="0" tIns="186055" rIns="0" bIns="0" rtlCol="0">
            <a:spAutoFit/>
          </a:bodyPr>
          <a:lstStyle/>
          <a:p>
            <a:pPr marR="5080" algn="r">
              <a:lnSpc>
                <a:spcPct val="100000"/>
              </a:lnSpc>
              <a:spcBef>
                <a:spcPts val="1465"/>
              </a:spcBef>
            </a:pPr>
            <a:r>
              <a:rPr sz="4400" b="1" spc="-25" dirty="0">
                <a:latin typeface="Times New Roman"/>
                <a:cs typeface="Times New Roman"/>
              </a:rPr>
              <a:t>2.</a:t>
            </a:r>
            <a:endParaRPr sz="4400">
              <a:latin typeface="Times New Roman"/>
              <a:cs typeface="Times New Roman"/>
            </a:endParaRPr>
          </a:p>
          <a:p>
            <a:pPr marR="5715" algn="r">
              <a:lnSpc>
                <a:spcPct val="100000"/>
              </a:lnSpc>
              <a:spcBef>
                <a:spcPts val="1370"/>
              </a:spcBef>
            </a:pPr>
            <a:r>
              <a:rPr sz="4400" b="1" dirty="0">
                <a:latin typeface="Times New Roman"/>
                <a:cs typeface="Times New Roman"/>
              </a:rPr>
              <a:t>Literature</a:t>
            </a:r>
            <a:r>
              <a:rPr sz="4400" b="1" spc="-90" dirty="0">
                <a:latin typeface="Times New Roman"/>
                <a:cs typeface="Times New Roman"/>
              </a:rPr>
              <a:t> </a:t>
            </a:r>
            <a:r>
              <a:rPr sz="4400" b="1" spc="-10" dirty="0">
                <a:latin typeface="Times New Roman"/>
                <a:cs typeface="Times New Roman"/>
              </a:rPr>
              <a:t>Survey</a:t>
            </a:r>
            <a:endParaRPr sz="4400">
              <a:latin typeface="Times New Roman"/>
              <a:cs typeface="Times New Roman"/>
            </a:endParaRPr>
          </a:p>
        </p:txBody>
      </p:sp>
      <p:sp>
        <p:nvSpPr>
          <p:cNvPr id="5" name="object 5"/>
          <p:cNvSpPr/>
          <p:nvPr/>
        </p:nvSpPr>
        <p:spPr>
          <a:xfrm>
            <a:off x="228600" y="228599"/>
            <a:ext cx="7315200" cy="9601200"/>
          </a:xfrm>
          <a:custGeom>
            <a:avLst/>
            <a:gdLst/>
            <a:ahLst/>
            <a:cxnLst/>
            <a:rect l="l" t="t" r="r" b="b"/>
            <a:pathLst>
              <a:path w="7315200" h="9601200">
                <a:moveTo>
                  <a:pt x="7315200" y="12"/>
                </a:moveTo>
                <a:lnTo>
                  <a:pt x="7309104" y="12"/>
                </a:lnTo>
                <a:lnTo>
                  <a:pt x="7309104" y="6096"/>
                </a:lnTo>
                <a:lnTo>
                  <a:pt x="7309091" y="9595104"/>
                </a:lnTo>
                <a:lnTo>
                  <a:pt x="6083" y="9595104"/>
                </a:lnTo>
                <a:lnTo>
                  <a:pt x="6083" y="6096"/>
                </a:lnTo>
                <a:lnTo>
                  <a:pt x="7309091" y="6096"/>
                </a:lnTo>
                <a:lnTo>
                  <a:pt x="7309091" y="0"/>
                </a:lnTo>
                <a:lnTo>
                  <a:pt x="0" y="0"/>
                </a:lnTo>
                <a:lnTo>
                  <a:pt x="0" y="6096"/>
                </a:lnTo>
                <a:lnTo>
                  <a:pt x="0" y="9595104"/>
                </a:lnTo>
                <a:lnTo>
                  <a:pt x="0" y="9601200"/>
                </a:lnTo>
                <a:lnTo>
                  <a:pt x="7309091" y="9601200"/>
                </a:lnTo>
                <a:lnTo>
                  <a:pt x="7315200" y="9601200"/>
                </a:lnTo>
                <a:lnTo>
                  <a:pt x="7315200" y="9595104"/>
                </a:lnTo>
                <a:lnTo>
                  <a:pt x="7315200" y="6096"/>
                </a:lnTo>
                <a:lnTo>
                  <a:pt x="7315200" y="12"/>
                </a:lnTo>
                <a:close/>
              </a:path>
            </a:pathLst>
          </a:custGeom>
          <a:solidFill>
            <a:srgbClr val="000000"/>
          </a:solidFill>
        </p:spPr>
        <p:txBody>
          <a:bodyPr wrap="square" lIns="0" tIns="0" rIns="0" bIns="0" rtlCol="0"/>
          <a:lstStyle/>
          <a:p>
            <a:endParaRPr/>
          </a:p>
        </p:txBody>
      </p:sp>
      <p:sp>
        <p:nvSpPr>
          <p:cNvPr id="6" name="object 6"/>
          <p:cNvSpPr txBox="1">
            <a:spLocks noGrp="1"/>
          </p:cNvSpPr>
          <p:nvPr>
            <p:ph type="ftr" sz="quarter" idx="5"/>
          </p:nvPr>
        </p:nvSpPr>
        <p:spPr>
          <a:prstGeom prst="rect">
            <a:avLst/>
          </a:prstGeom>
        </p:spPr>
        <p:txBody>
          <a:bodyPr vert="horz" wrap="square" lIns="0" tIns="0" rIns="0" bIns="0" rtlCol="0">
            <a:spAutoFit/>
          </a:bodyPr>
          <a:lstStyle/>
          <a:p>
            <a:pPr marL="12700">
              <a:lnSpc>
                <a:spcPts val="1460"/>
              </a:lnSpc>
            </a:pPr>
            <a:r>
              <a:rPr dirty="0"/>
              <a:t>DEPARTMENT</a:t>
            </a:r>
            <a:r>
              <a:rPr spc="-30" dirty="0"/>
              <a:t> </a:t>
            </a:r>
            <a:r>
              <a:rPr dirty="0"/>
              <a:t>OF</a:t>
            </a:r>
            <a:r>
              <a:rPr spc="-40" dirty="0"/>
              <a:t> </a:t>
            </a:r>
            <a:r>
              <a:rPr dirty="0"/>
              <a:t>COMPUTER</a:t>
            </a:r>
            <a:r>
              <a:rPr spc="-45" dirty="0"/>
              <a:t> </a:t>
            </a:r>
            <a:r>
              <a:rPr spc="-10" dirty="0"/>
              <a:t>ENGINEERING,</a:t>
            </a:r>
            <a:r>
              <a:rPr spc="-45" dirty="0"/>
              <a:t> </a:t>
            </a:r>
            <a:r>
              <a:rPr dirty="0"/>
              <a:t>PESMCOE,</a:t>
            </a:r>
            <a:r>
              <a:rPr spc="-40" dirty="0"/>
              <a:t> </a:t>
            </a:r>
            <a:r>
              <a:rPr spc="-10" dirty="0"/>
              <a:t>PUNE:05</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731012" y="342692"/>
            <a:ext cx="104775" cy="215265"/>
          </a:xfrm>
          <a:prstGeom prst="rect">
            <a:avLst/>
          </a:prstGeom>
        </p:spPr>
        <p:txBody>
          <a:bodyPr vert="horz" wrap="square" lIns="0" tIns="12065" rIns="0" bIns="0" rtlCol="0">
            <a:spAutoFit/>
          </a:bodyPr>
          <a:lstStyle/>
          <a:p>
            <a:pPr marL="12700">
              <a:lnSpc>
                <a:spcPct val="100000"/>
              </a:lnSpc>
              <a:spcBef>
                <a:spcPts val="95"/>
              </a:spcBef>
            </a:pPr>
            <a:r>
              <a:rPr sz="1250" b="1" spc="-50" dirty="0">
                <a:solidFill>
                  <a:srgbClr val="FFFFFF"/>
                </a:solidFill>
                <a:latin typeface="Times New Roman"/>
                <a:cs typeface="Times New Roman"/>
              </a:rPr>
              <a:t>5</a:t>
            </a:r>
            <a:endParaRPr sz="1250">
              <a:latin typeface="Times New Roman"/>
              <a:cs typeface="Times New Roman"/>
            </a:endParaRPr>
          </a:p>
        </p:txBody>
      </p:sp>
      <p:sp>
        <p:nvSpPr>
          <p:cNvPr id="3" name="object 3"/>
          <p:cNvSpPr txBox="1"/>
          <p:nvPr/>
        </p:nvSpPr>
        <p:spPr>
          <a:xfrm>
            <a:off x="1773427" y="363967"/>
            <a:ext cx="4224655" cy="166071"/>
          </a:xfrm>
          <a:prstGeom prst="rect">
            <a:avLst/>
          </a:prstGeom>
        </p:spPr>
        <p:txBody>
          <a:bodyPr vert="horz" wrap="square" lIns="0" tIns="12065" rIns="0" bIns="0" rtlCol="0">
            <a:spAutoFit/>
          </a:bodyPr>
          <a:lstStyle/>
          <a:p>
            <a:pPr marL="12700">
              <a:lnSpc>
                <a:spcPct val="100000"/>
              </a:lnSpc>
              <a:spcBef>
                <a:spcPts val="95"/>
              </a:spcBef>
            </a:pPr>
            <a:r>
              <a:rPr lang="en-US" sz="1000" dirty="0">
                <a:latin typeface="Times New Roman"/>
                <a:cs typeface="Times New Roman"/>
              </a:rPr>
              <a:t>Performance Analysis of Single-Threaded and Multithreaded Merge Sort</a:t>
            </a:r>
            <a:endParaRPr sz="1000" dirty="0">
              <a:latin typeface="Times New Roman"/>
              <a:cs typeface="Times New Roman"/>
            </a:endParaRPr>
          </a:p>
        </p:txBody>
      </p:sp>
      <p:sp>
        <p:nvSpPr>
          <p:cNvPr id="4" name="object 4"/>
          <p:cNvSpPr txBox="1"/>
          <p:nvPr/>
        </p:nvSpPr>
        <p:spPr>
          <a:xfrm>
            <a:off x="899604" y="790483"/>
            <a:ext cx="5968365" cy="3889526"/>
          </a:xfrm>
          <a:prstGeom prst="rect">
            <a:avLst/>
          </a:prstGeom>
        </p:spPr>
        <p:txBody>
          <a:bodyPr vert="horz" wrap="square" lIns="0" tIns="11430" rIns="0" bIns="0" rtlCol="0">
            <a:spAutoFit/>
          </a:bodyPr>
          <a:lstStyle/>
          <a:p>
            <a:pPr algn="just"/>
            <a:r>
              <a:rPr lang="en-US" sz="1200" b="1" dirty="0">
                <a:latin typeface="Times New Roman" panose="02020603050405020304" pitchFamily="18" charset="0"/>
                <a:cs typeface="Times New Roman" panose="02020603050405020304" pitchFamily="18" charset="0"/>
              </a:rPr>
              <a:t>2.1 Sequential Merge Sort: Optimization and Memory Efficiency</a:t>
            </a:r>
          </a:p>
          <a:p>
            <a:pPr algn="just"/>
            <a:endParaRPr lang="en-US" sz="1200" b="1" dirty="0">
              <a:latin typeface="Times New Roman" panose="02020603050405020304" pitchFamily="18" charset="0"/>
              <a:cs typeface="Times New Roman" panose="02020603050405020304" pitchFamily="18" charset="0"/>
            </a:endParaRPr>
          </a:p>
          <a:p>
            <a:pPr algn="just"/>
            <a:r>
              <a:rPr lang="en-US" sz="1200" dirty="0">
                <a:latin typeface="Times New Roman" panose="02020603050405020304" pitchFamily="18" charset="0"/>
                <a:cs typeface="Times New Roman" panose="02020603050405020304" pitchFamily="18" charset="0"/>
              </a:rPr>
              <a:t>The performance of the classical Merge Sort algorithm depends not only on its theoretical time complexity of </a:t>
            </a:r>
            <a:r>
              <a:rPr lang="en-US" sz="1200" b="1" dirty="0">
                <a:latin typeface="Times New Roman" panose="02020603050405020304" pitchFamily="18" charset="0"/>
                <a:cs typeface="Times New Roman" panose="02020603050405020304" pitchFamily="18" charset="0"/>
              </a:rPr>
              <a:t>O(n log n)</a:t>
            </a:r>
            <a:r>
              <a:rPr lang="en-US" sz="1200" dirty="0">
                <a:latin typeface="Times New Roman" panose="02020603050405020304" pitchFamily="18" charset="0"/>
                <a:cs typeface="Times New Roman" panose="02020603050405020304" pitchFamily="18" charset="0"/>
              </a:rPr>
              <a:t> but also on the efficiency of its memory utilization during execution. In practical implementations, the overhead of recursive calls and memory access patterns significantly influences total runtime. Since Merge Sort repeatedly divides arrays and merges sorted subarrays, optimizing memory access and data locality is crucial for improving performance on modern CPU </a:t>
            </a:r>
            <a:r>
              <a:rPr lang="en-US" sz="1200" dirty="0" err="1">
                <a:latin typeface="Times New Roman" panose="02020603050405020304" pitchFamily="18" charset="0"/>
                <a:cs typeface="Times New Roman" panose="02020603050405020304" pitchFamily="18" charset="0"/>
              </a:rPr>
              <a:t>architectures.Modern</a:t>
            </a:r>
            <a:r>
              <a:rPr lang="en-US" sz="1200" dirty="0">
                <a:latin typeface="Times New Roman" panose="02020603050405020304" pitchFamily="18" charset="0"/>
                <a:cs typeface="Times New Roman" panose="02020603050405020304" pitchFamily="18" charset="0"/>
              </a:rPr>
              <a:t> processors employ a hierarchical memory structure consisting of </a:t>
            </a:r>
            <a:r>
              <a:rPr lang="en-US" sz="1200" b="1" dirty="0">
                <a:latin typeface="Times New Roman" panose="02020603050405020304" pitchFamily="18" charset="0"/>
                <a:cs typeface="Times New Roman" panose="02020603050405020304" pitchFamily="18" charset="0"/>
              </a:rPr>
              <a:t>registers, caches (L1/L2/L3), and main memory (RAM)</a:t>
            </a:r>
            <a:r>
              <a:rPr lang="en-US" sz="1200" dirty="0">
                <a:latin typeface="Times New Roman" panose="02020603050405020304" pitchFamily="18" charset="0"/>
                <a:cs typeface="Times New Roman" panose="02020603050405020304" pitchFamily="18" charset="0"/>
              </a:rPr>
              <a:t>. The effectiveness of sequential Merge Sort largely depends on how well it leverages spatial and temporal locality. If subarrays being merged fit into the CPU cache, repeated memory accesses can be served faster, thereby reducing cache misses and improving overall performance.</a:t>
            </a:r>
          </a:p>
          <a:p>
            <a:pPr algn="just"/>
            <a:r>
              <a:rPr lang="en-US" sz="1200" dirty="0">
                <a:latin typeface="Times New Roman" panose="02020603050405020304" pitchFamily="18" charset="0"/>
                <a:cs typeface="Times New Roman" panose="02020603050405020304" pitchFamily="18" charset="0"/>
              </a:rPr>
              <a:t>One common optimization technique involves </a:t>
            </a:r>
            <a:r>
              <a:rPr lang="en-US" sz="1200" b="1" dirty="0">
                <a:latin typeface="Times New Roman" panose="02020603050405020304" pitchFamily="18" charset="0"/>
                <a:cs typeface="Times New Roman" panose="02020603050405020304" pitchFamily="18" charset="0"/>
              </a:rPr>
              <a:t>in-place merging</a:t>
            </a:r>
            <a:r>
              <a:rPr lang="en-US" sz="1200" dirty="0">
                <a:latin typeface="Times New Roman" panose="02020603050405020304" pitchFamily="18" charset="0"/>
                <a:cs typeface="Times New Roman" panose="02020603050405020304" pitchFamily="18" charset="0"/>
              </a:rPr>
              <a:t> or </a:t>
            </a:r>
            <a:r>
              <a:rPr lang="en-US" sz="1200" b="1" dirty="0">
                <a:latin typeface="Times New Roman" panose="02020603050405020304" pitchFamily="18" charset="0"/>
                <a:cs typeface="Times New Roman" panose="02020603050405020304" pitchFamily="18" charset="0"/>
              </a:rPr>
              <a:t>buffer reuse</a:t>
            </a:r>
            <a:r>
              <a:rPr lang="en-US" sz="1200" dirty="0">
                <a:latin typeface="Times New Roman" panose="02020603050405020304" pitchFamily="18" charset="0"/>
                <a:cs typeface="Times New Roman" panose="02020603050405020304" pitchFamily="18" charset="0"/>
              </a:rPr>
              <a:t>, where auxiliary arrays are reused during the merge phase instead of dynamically allocating new memory for each recursive call. This reduces overhead and ensures better cache utilization. Additionally, </a:t>
            </a:r>
            <a:r>
              <a:rPr lang="en-US" sz="1200" b="1" dirty="0">
                <a:latin typeface="Times New Roman" panose="02020603050405020304" pitchFamily="18" charset="0"/>
                <a:cs typeface="Times New Roman" panose="02020603050405020304" pitchFamily="18" charset="0"/>
              </a:rPr>
              <a:t>iterative (bottom-up) implementations</a:t>
            </a:r>
            <a:r>
              <a:rPr lang="en-US" sz="1200" dirty="0">
                <a:latin typeface="Times New Roman" panose="02020603050405020304" pitchFamily="18" charset="0"/>
                <a:cs typeface="Times New Roman" panose="02020603050405020304" pitchFamily="18" charset="0"/>
              </a:rPr>
              <a:t> can further enhance performance by minimizing recursive stack usage and improving predictability in memory access patterns.</a:t>
            </a:r>
          </a:p>
          <a:p>
            <a:pPr algn="just"/>
            <a:r>
              <a:rPr lang="en-US" sz="1200" dirty="0">
                <a:latin typeface="Times New Roman" panose="02020603050405020304" pitchFamily="18" charset="0"/>
                <a:cs typeface="Times New Roman" panose="02020603050405020304" pitchFamily="18" charset="0"/>
              </a:rPr>
              <a:t>Studies have shown that even a sequential Merge Sort can be highly efficient if implemented with attention to cache behavior and memory reuse. By minimizing cache misses, avoiding unnecessary data movement, and optimizing merge operations, the algorithm can achieve near-optimal performance on modern CPUs despite its sequential nature.</a:t>
            </a:r>
          </a:p>
        </p:txBody>
      </p:sp>
      <p:sp>
        <p:nvSpPr>
          <p:cNvPr id="5" name="object 5"/>
          <p:cNvSpPr txBox="1"/>
          <p:nvPr/>
        </p:nvSpPr>
        <p:spPr>
          <a:xfrm>
            <a:off x="835787" y="4884616"/>
            <a:ext cx="5967730" cy="4628190"/>
          </a:xfrm>
          <a:prstGeom prst="rect">
            <a:avLst/>
          </a:prstGeom>
        </p:spPr>
        <p:txBody>
          <a:bodyPr vert="horz" wrap="square" lIns="0" tIns="11430" rIns="0" bIns="0" rtlCol="0">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2.2 Shared-Memory Parallel Architectures and Programming Models</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1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 modern multi-core CPU systems, </a:t>
            </a:r>
            <a:r>
              <a:rPr kumimoji="0" lang="en-US" altLang="en-US" sz="1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shared-memory parallelism</a:t>
            </a:r>
            <a:r>
              <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serves as the foundation for efficiently utilizing multiple processing cores. This model allows all threads within a process to access a common memory space, thereby facilitating rapid data exchange and coordination during computation. High-level frameworks such as </a:t>
            </a:r>
            <a:r>
              <a:rPr kumimoji="0" lang="en-US" altLang="en-US" sz="1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OpenMP</a:t>
            </a:r>
            <a:r>
              <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simplify the process of introducing parallelism by abstracting thread creation, scheduling, and synchronization. Developers can easily parallelize compute-intensive regions—such as sorting subarrays or merging operations—using compiler directives, thus achieving concurrency with minimal code complexity.</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For more precise control over execution, low-level threading libraries like </a:t>
            </a:r>
            <a:r>
              <a:rPr kumimoji="0" lang="en-US" altLang="en-US" sz="1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POSIX threads (</a:t>
            </a:r>
            <a:r>
              <a:rPr kumimoji="0" lang="en-US" altLang="en-US" sz="12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pthreads</a:t>
            </a:r>
            <a:r>
              <a:rPr kumimoji="0" lang="en-US" altLang="en-US" sz="1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r>
              <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in UNIX/Linux or </a:t>
            </a:r>
            <a:r>
              <a:rPr kumimoji="0" lang="en-US" altLang="en-US" sz="1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Windows threading APIs</a:t>
            </a:r>
            <a:r>
              <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enable explicit management of thread behavior. This includes assigning workloads to specific threads, controlling core affinity, and synchronizing shared data to prevent race conditions. Such granular control allows fine-tuned performance optimization but often comes at the cost of increased implementation complexity.</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 the context of the current implementation, a </a:t>
            </a:r>
            <a:r>
              <a:rPr kumimoji="0" lang="en-US" altLang="en-US" sz="1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manual threading approach</a:t>
            </a:r>
            <a:r>
              <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is adopted for the </a:t>
            </a:r>
            <a:r>
              <a:rPr kumimoji="0" lang="en-US" altLang="en-US" sz="1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Multithreaded Merge Sort</a:t>
            </a:r>
            <a:r>
              <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Each thread is responsible for sorting a specific subarray, and the merging of these sorted segments is performed in parallel to exploit concurrency. This </a:t>
            </a:r>
            <a:r>
              <a:rPr kumimoji="0" lang="en-US" altLang="en-US" sz="1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coarse-grained task division</a:t>
            </a:r>
            <a:r>
              <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ensures that workloads are evenly distributed among available CPU cores, minimizing idle time and synchronization overhead. Synchronization mechanisms—such as mutexes or barriers—are used sparingly to reduce contention and maintain scalability.</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This approach reflects design principles seen in high-performance parallel libraries and frameworks, where </a:t>
            </a:r>
            <a:r>
              <a:rPr kumimoji="0" lang="en-US" altLang="en-US" sz="1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thread-level parallelism</a:t>
            </a:r>
            <a:r>
              <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and </a:t>
            </a:r>
            <a:r>
              <a:rPr kumimoji="0" lang="en-US" altLang="en-US" sz="1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efficient workload management</a:t>
            </a:r>
            <a:r>
              <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are key to achieving significant performance gains while maintaining computational accuracy and stability.</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6" name="object 6"/>
          <p:cNvSpPr/>
          <p:nvPr/>
        </p:nvSpPr>
        <p:spPr>
          <a:xfrm>
            <a:off x="228600" y="228599"/>
            <a:ext cx="7315200" cy="9601200"/>
          </a:xfrm>
          <a:custGeom>
            <a:avLst/>
            <a:gdLst/>
            <a:ahLst/>
            <a:cxnLst/>
            <a:rect l="l" t="t" r="r" b="b"/>
            <a:pathLst>
              <a:path w="7315200" h="9601200">
                <a:moveTo>
                  <a:pt x="7315200" y="12"/>
                </a:moveTo>
                <a:lnTo>
                  <a:pt x="7309104" y="12"/>
                </a:lnTo>
                <a:lnTo>
                  <a:pt x="7309104" y="6096"/>
                </a:lnTo>
                <a:lnTo>
                  <a:pt x="7309091" y="9595104"/>
                </a:lnTo>
                <a:lnTo>
                  <a:pt x="6083" y="9595104"/>
                </a:lnTo>
                <a:lnTo>
                  <a:pt x="6083" y="6096"/>
                </a:lnTo>
                <a:lnTo>
                  <a:pt x="7309091" y="6096"/>
                </a:lnTo>
                <a:lnTo>
                  <a:pt x="7309091" y="0"/>
                </a:lnTo>
                <a:lnTo>
                  <a:pt x="0" y="0"/>
                </a:lnTo>
                <a:lnTo>
                  <a:pt x="0" y="6096"/>
                </a:lnTo>
                <a:lnTo>
                  <a:pt x="0" y="9595104"/>
                </a:lnTo>
                <a:lnTo>
                  <a:pt x="0" y="9601200"/>
                </a:lnTo>
                <a:lnTo>
                  <a:pt x="7309091" y="9601200"/>
                </a:lnTo>
                <a:lnTo>
                  <a:pt x="7315200" y="9601200"/>
                </a:lnTo>
                <a:lnTo>
                  <a:pt x="7315200" y="9595104"/>
                </a:lnTo>
                <a:lnTo>
                  <a:pt x="7315200" y="6096"/>
                </a:lnTo>
                <a:lnTo>
                  <a:pt x="7315200" y="12"/>
                </a:lnTo>
                <a:close/>
              </a:path>
            </a:pathLst>
          </a:custGeom>
          <a:solidFill>
            <a:srgbClr val="000000"/>
          </a:solidFill>
        </p:spPr>
        <p:txBody>
          <a:bodyPr wrap="square" lIns="0" tIns="0" rIns="0" bIns="0" rtlCol="0"/>
          <a:lstStyle/>
          <a:p>
            <a:endParaRPr/>
          </a:p>
        </p:txBody>
      </p:sp>
      <p:sp>
        <p:nvSpPr>
          <p:cNvPr id="7" name="object 7"/>
          <p:cNvSpPr txBox="1">
            <a:spLocks noGrp="1"/>
          </p:cNvSpPr>
          <p:nvPr>
            <p:ph type="ftr" sz="quarter" idx="5"/>
          </p:nvPr>
        </p:nvSpPr>
        <p:spPr>
          <a:prstGeom prst="rect">
            <a:avLst/>
          </a:prstGeom>
        </p:spPr>
        <p:txBody>
          <a:bodyPr vert="horz" wrap="square" lIns="0" tIns="0" rIns="0" bIns="0" rtlCol="0">
            <a:spAutoFit/>
          </a:bodyPr>
          <a:lstStyle/>
          <a:p>
            <a:pPr marL="12700">
              <a:lnSpc>
                <a:spcPts val="1460"/>
              </a:lnSpc>
            </a:pPr>
            <a:r>
              <a:rPr dirty="0"/>
              <a:t>DEPARTMENT</a:t>
            </a:r>
            <a:r>
              <a:rPr spc="-30" dirty="0"/>
              <a:t> </a:t>
            </a:r>
            <a:r>
              <a:rPr dirty="0"/>
              <a:t>OF</a:t>
            </a:r>
            <a:r>
              <a:rPr spc="-40" dirty="0"/>
              <a:t> </a:t>
            </a:r>
            <a:r>
              <a:rPr dirty="0"/>
              <a:t>COMPUTER</a:t>
            </a:r>
            <a:r>
              <a:rPr spc="-45" dirty="0"/>
              <a:t> </a:t>
            </a:r>
            <a:r>
              <a:rPr spc="-10" dirty="0"/>
              <a:t>ENGINEERING,</a:t>
            </a:r>
            <a:r>
              <a:rPr spc="-45" dirty="0"/>
              <a:t> </a:t>
            </a:r>
            <a:r>
              <a:rPr dirty="0"/>
              <a:t>PESMCOE,</a:t>
            </a:r>
            <a:r>
              <a:rPr spc="-40" dirty="0"/>
              <a:t> </a:t>
            </a:r>
            <a:r>
              <a:rPr spc="-10" dirty="0"/>
              <a:t>PUNE:05</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731012" y="342692"/>
            <a:ext cx="104775" cy="215265"/>
          </a:xfrm>
          <a:prstGeom prst="rect">
            <a:avLst/>
          </a:prstGeom>
        </p:spPr>
        <p:txBody>
          <a:bodyPr vert="horz" wrap="square" lIns="0" tIns="12065" rIns="0" bIns="0" rtlCol="0">
            <a:spAutoFit/>
          </a:bodyPr>
          <a:lstStyle/>
          <a:p>
            <a:pPr marL="12700">
              <a:lnSpc>
                <a:spcPct val="100000"/>
              </a:lnSpc>
              <a:spcBef>
                <a:spcPts val="95"/>
              </a:spcBef>
            </a:pPr>
            <a:r>
              <a:rPr sz="1250" b="1" spc="-50" dirty="0">
                <a:solidFill>
                  <a:srgbClr val="FFFFFF"/>
                </a:solidFill>
                <a:latin typeface="Times New Roman"/>
                <a:cs typeface="Times New Roman"/>
              </a:rPr>
              <a:t>6</a:t>
            </a:r>
            <a:endParaRPr sz="1250">
              <a:latin typeface="Times New Roman"/>
              <a:cs typeface="Times New Roman"/>
            </a:endParaRPr>
          </a:p>
        </p:txBody>
      </p:sp>
      <p:sp>
        <p:nvSpPr>
          <p:cNvPr id="3" name="object 3"/>
          <p:cNvSpPr txBox="1"/>
          <p:nvPr/>
        </p:nvSpPr>
        <p:spPr>
          <a:xfrm>
            <a:off x="1773427" y="363967"/>
            <a:ext cx="4224655" cy="166071"/>
          </a:xfrm>
          <a:prstGeom prst="rect">
            <a:avLst/>
          </a:prstGeom>
        </p:spPr>
        <p:txBody>
          <a:bodyPr vert="horz" wrap="square" lIns="0" tIns="12065" rIns="0" bIns="0" rtlCol="0">
            <a:spAutoFit/>
          </a:bodyPr>
          <a:lstStyle/>
          <a:p>
            <a:pPr marL="12700">
              <a:lnSpc>
                <a:spcPct val="100000"/>
              </a:lnSpc>
              <a:spcBef>
                <a:spcPts val="95"/>
              </a:spcBef>
            </a:pPr>
            <a:r>
              <a:rPr lang="en-US" sz="1000" dirty="0">
                <a:latin typeface="Times New Roman"/>
                <a:cs typeface="Times New Roman"/>
              </a:rPr>
              <a:t>Performance Analysis of Single-Threaded and Multithreaded Merge Sort</a:t>
            </a:r>
            <a:endParaRPr sz="1000" dirty="0">
              <a:latin typeface="Times New Roman"/>
              <a:cs typeface="Times New Roman"/>
            </a:endParaRPr>
          </a:p>
        </p:txBody>
      </p:sp>
      <p:sp>
        <p:nvSpPr>
          <p:cNvPr id="4" name="object 4"/>
          <p:cNvSpPr txBox="1"/>
          <p:nvPr/>
        </p:nvSpPr>
        <p:spPr>
          <a:xfrm>
            <a:off x="901700" y="891343"/>
            <a:ext cx="5969000" cy="4089581"/>
          </a:xfrm>
          <a:prstGeom prst="rect">
            <a:avLst/>
          </a:prstGeom>
        </p:spPr>
        <p:txBody>
          <a:bodyPr vert="horz" wrap="square" lIns="0" tIns="11430" rIns="0" bIns="0" rtlCol="0">
            <a:spAutoFit/>
          </a:bodyPr>
          <a:lstStyle/>
          <a:p>
            <a:pPr algn="just"/>
            <a:r>
              <a:rPr lang="en-US" sz="1300" b="1" dirty="0">
                <a:latin typeface="Times New Roman" panose="02020603050405020304" pitchFamily="18" charset="0"/>
                <a:cs typeface="Times New Roman" panose="02020603050405020304" pitchFamily="18" charset="0"/>
              </a:rPr>
              <a:t>2.3 Performance and Scalability of Optimized Parallel CPU Matrix Multiplication</a:t>
            </a:r>
          </a:p>
          <a:p>
            <a:pPr algn="just"/>
            <a:r>
              <a:rPr lang="en-US" sz="1200" dirty="0">
                <a:latin typeface="Times New Roman" panose="02020603050405020304" pitchFamily="18" charset="0"/>
                <a:cs typeface="Times New Roman" panose="02020603050405020304" pitchFamily="18" charset="0"/>
              </a:rPr>
              <a:t>Parallel CPU-based matrix multiplication achieves notable performance improvements compared to sequential execution by utilizing multi-threading and cache-aware optimizations. However, the scalability of such implementations is fundamentally constrained by the underlying hardware architecture. Empirical analyses have demonstrated that, even with efficient workload distribution and optimal thread utilization, the performance typically saturates around a 12×–14× speedup on systems with 16 hardware threads¹.</a:t>
            </a:r>
          </a:p>
          <a:p>
            <a:pPr algn="just"/>
            <a:r>
              <a:rPr lang="en-US" sz="1200" dirty="0">
                <a:latin typeface="Times New Roman" panose="02020603050405020304" pitchFamily="18" charset="0"/>
                <a:cs typeface="Times New Roman" panose="02020603050405020304" pitchFamily="18" charset="0"/>
              </a:rPr>
              <a:t>Beyond this threshold, further acceleration becomes limited due to several key factors. According to </a:t>
            </a:r>
            <a:r>
              <a:rPr lang="en-US" sz="1200" b="1" dirty="0">
                <a:latin typeface="Times New Roman" panose="02020603050405020304" pitchFamily="18" charset="0"/>
                <a:cs typeface="Times New Roman" panose="02020603050405020304" pitchFamily="18" charset="0"/>
              </a:rPr>
              <a:t>Amdahl’s Law</a:t>
            </a:r>
            <a:r>
              <a:rPr lang="en-US" sz="1200" dirty="0">
                <a:latin typeface="Times New Roman" panose="02020603050405020304" pitchFamily="18" charset="0"/>
                <a:cs typeface="Times New Roman" panose="02020603050405020304" pitchFamily="18" charset="0"/>
              </a:rPr>
              <a:t>, the presence of inherently serial portions in the code restricts the theoretical maximum speedup. Additionally, </a:t>
            </a:r>
            <a:r>
              <a:rPr lang="en-US" sz="1200" b="1" dirty="0">
                <a:latin typeface="Times New Roman" panose="02020603050405020304" pitchFamily="18" charset="0"/>
                <a:cs typeface="Times New Roman" panose="02020603050405020304" pitchFamily="18" charset="0"/>
              </a:rPr>
              <a:t>memory bandwidth saturation</a:t>
            </a:r>
            <a:r>
              <a:rPr lang="en-US" sz="1200" dirty="0">
                <a:latin typeface="Times New Roman" panose="02020603050405020304" pitchFamily="18" charset="0"/>
                <a:cs typeface="Times New Roman" panose="02020603050405020304" pitchFamily="18" charset="0"/>
              </a:rPr>
              <a:t> and </a:t>
            </a:r>
            <a:r>
              <a:rPr lang="en-US" sz="1200" b="1" dirty="0">
                <a:latin typeface="Times New Roman" panose="02020603050405020304" pitchFamily="18" charset="0"/>
                <a:cs typeface="Times New Roman" panose="02020603050405020304" pitchFamily="18" charset="0"/>
              </a:rPr>
              <a:t>inter-core communication overhead</a:t>
            </a:r>
            <a:r>
              <a:rPr lang="en-US" sz="1200" dirty="0">
                <a:latin typeface="Times New Roman" panose="02020603050405020304" pitchFamily="18" charset="0"/>
                <a:cs typeface="Times New Roman" panose="02020603050405020304" pitchFamily="18" charset="0"/>
              </a:rPr>
              <a:t> further diminish scalability². While modern CPUs feature a limited number of high-performance cores optimized for instruction throughput, they lack the extensive parallelism found in many-core architectures such as GPUs. Consequently, CPU-based parallelism provides reliable acceleration for moderate matrix dimensions but exhibits diminishing returns as matrix size increases.</a:t>
            </a:r>
          </a:p>
          <a:p>
            <a:pPr algn="just"/>
            <a:r>
              <a:rPr lang="en-US" sz="1200" dirty="0">
                <a:latin typeface="Times New Roman" panose="02020603050405020304" pitchFamily="18" charset="0"/>
                <a:cs typeface="Times New Roman" panose="02020603050405020304" pitchFamily="18" charset="0"/>
              </a:rPr>
              <a:t>Furthermore, architectural challenges such as </a:t>
            </a:r>
            <a:r>
              <a:rPr lang="en-US" sz="1200" b="1" dirty="0">
                <a:latin typeface="Times New Roman" panose="02020603050405020304" pitchFamily="18" charset="0"/>
                <a:cs typeface="Times New Roman" panose="02020603050405020304" pitchFamily="18" charset="0"/>
              </a:rPr>
              <a:t>cache contention</a:t>
            </a:r>
            <a:r>
              <a:rPr lang="en-US" sz="1200" dirty="0">
                <a:latin typeface="Times New Roman" panose="02020603050405020304" pitchFamily="18" charset="0"/>
                <a:cs typeface="Times New Roman" panose="02020603050405020304" pitchFamily="18" charset="0"/>
              </a:rPr>
              <a:t>, </a:t>
            </a:r>
            <a:r>
              <a:rPr lang="en-US" sz="1200" b="1" dirty="0">
                <a:latin typeface="Times New Roman" panose="02020603050405020304" pitchFamily="18" charset="0"/>
                <a:cs typeface="Times New Roman" panose="02020603050405020304" pitchFamily="18" charset="0"/>
              </a:rPr>
              <a:t>NUMA (Non-Uniform Memory Access) latency</a:t>
            </a:r>
            <a:r>
              <a:rPr lang="en-US" sz="1200" dirty="0">
                <a:latin typeface="Times New Roman" panose="02020603050405020304" pitchFamily="18" charset="0"/>
                <a:cs typeface="Times New Roman" panose="02020603050405020304" pitchFamily="18" charset="0"/>
              </a:rPr>
              <a:t>, and </a:t>
            </a:r>
            <a:r>
              <a:rPr lang="en-US" sz="1200" b="1" dirty="0">
                <a:latin typeface="Times New Roman" panose="02020603050405020304" pitchFamily="18" charset="0"/>
                <a:cs typeface="Times New Roman" panose="02020603050405020304" pitchFamily="18" charset="0"/>
              </a:rPr>
              <a:t>limited shared memory bandwidth</a:t>
            </a:r>
            <a:r>
              <a:rPr lang="en-US" sz="1200" dirty="0">
                <a:latin typeface="Times New Roman" panose="02020603050405020304" pitchFamily="18" charset="0"/>
                <a:cs typeface="Times New Roman" panose="02020603050405020304" pitchFamily="18" charset="0"/>
              </a:rPr>
              <a:t> impose additional constraints on achievable performance³. These factors collectively define a practical performance ceiling for CPU-based parallel matrix multiplication. Therefore, although optimized sequential and parallel CPU implementations are well-suited for small-to-medium workloads, large-scale matrix computations necessitate many-core GPU architectures to achieve substantial performance gains.</a:t>
            </a:r>
          </a:p>
        </p:txBody>
      </p:sp>
      <p:sp>
        <p:nvSpPr>
          <p:cNvPr id="5" name="object 5"/>
          <p:cNvSpPr txBox="1"/>
          <p:nvPr/>
        </p:nvSpPr>
        <p:spPr>
          <a:xfrm>
            <a:off x="870200" y="5088366"/>
            <a:ext cx="5970905" cy="4258858"/>
          </a:xfrm>
          <a:prstGeom prst="rect">
            <a:avLst/>
          </a:prstGeom>
        </p:spPr>
        <p:txBody>
          <a:bodyPr vert="horz" wrap="square" lIns="0" tIns="11430" rIns="0" bIns="0" rtlCol="0">
            <a:spAutoFit/>
          </a:bodyPr>
          <a:lstStyle/>
          <a:p>
            <a:pPr algn="just"/>
            <a:r>
              <a:rPr lang="en-US" sz="1300" b="1" dirty="0">
                <a:latin typeface="Times New Roman" panose="02020603050405020304" pitchFamily="18" charset="0"/>
                <a:cs typeface="Times New Roman" panose="02020603050405020304" pitchFamily="18" charset="0"/>
              </a:rPr>
              <a:t>2.4 Challenges in Fine-Grained CPU Multithreading (The Granularity Problem)</a:t>
            </a:r>
          </a:p>
          <a:p>
            <a:pPr algn="just"/>
            <a:r>
              <a:rPr lang="en-US" sz="1200" dirty="0">
                <a:latin typeface="Times New Roman" panose="02020603050405020304" pitchFamily="18" charset="0"/>
                <a:cs typeface="Times New Roman" panose="02020603050405020304" pitchFamily="18" charset="0"/>
              </a:rPr>
              <a:t>An intuitive approach to maximizing CPU parallelism might involve assigning each element of the output matrix to an independent thread—a method referred to as </a:t>
            </a:r>
            <a:r>
              <a:rPr lang="en-US" sz="1200" b="1" dirty="0">
                <a:latin typeface="Times New Roman" panose="02020603050405020304" pitchFamily="18" charset="0"/>
                <a:cs typeface="Times New Roman" panose="02020603050405020304" pitchFamily="18" charset="0"/>
              </a:rPr>
              <a:t>fine-grained parallelism</a:t>
            </a:r>
            <a:r>
              <a:rPr lang="en-US" sz="1200" dirty="0">
                <a:latin typeface="Times New Roman" panose="02020603050405020304" pitchFamily="18" charset="0"/>
                <a:cs typeface="Times New Roman" panose="02020603050405020304" pitchFamily="18" charset="0"/>
              </a:rPr>
              <a:t>. Although this strategy theoretically offers maximum concurrency, it often leads to severe performance degradation in real-world implementations. The primary cause lies in the significant overhead incurred during thread creation, context switching, and scheduling, which can easily outweigh the minimal computational work performed by each thread¹.Moreover, fine-grained threading introduces additional inefficiencies due to </a:t>
            </a:r>
            <a:r>
              <a:rPr lang="en-US" sz="1200" b="1" dirty="0">
                <a:latin typeface="Times New Roman" panose="02020603050405020304" pitchFamily="18" charset="0"/>
                <a:cs typeface="Times New Roman" panose="02020603050405020304" pitchFamily="18" charset="0"/>
              </a:rPr>
              <a:t>False Sharing</a:t>
            </a:r>
            <a:r>
              <a:rPr lang="en-US" sz="1200" dirty="0">
                <a:latin typeface="Times New Roman" panose="02020603050405020304" pitchFamily="18" charset="0"/>
                <a:cs typeface="Times New Roman" panose="02020603050405020304" pitchFamily="18" charset="0"/>
              </a:rPr>
              <a:t>, a phenomenon wherein multiple threads update separate variables that reside within the same cache line. This triggers frequent cache invalidations and cache-line bouncing, thereby degrading effective memory throughput and increasing inter-core communication delays². Empirical results consistently indicate that excessive fine-grained parallelism can result in worse performance than even sequential execution once the number of threads exceeds the optimal hardware-supported concurrency³.</a:t>
            </a:r>
          </a:p>
          <a:p>
            <a:pPr algn="just"/>
            <a:r>
              <a:rPr lang="en-US" sz="1200" dirty="0">
                <a:latin typeface="Times New Roman" panose="02020603050405020304" pitchFamily="18" charset="0"/>
                <a:cs typeface="Times New Roman" panose="02020603050405020304" pitchFamily="18" charset="0"/>
              </a:rPr>
              <a:t>To mitigate these issues, modern CPU-based parallel implementations employ </a:t>
            </a:r>
            <a:r>
              <a:rPr lang="en-US" sz="1200" b="1" dirty="0">
                <a:latin typeface="Times New Roman" panose="02020603050405020304" pitchFamily="18" charset="0"/>
                <a:cs typeface="Times New Roman" panose="02020603050405020304" pitchFamily="18" charset="0"/>
              </a:rPr>
              <a:t>coarse-grained threading strategies</a:t>
            </a:r>
            <a:r>
              <a:rPr lang="en-US" sz="1200" dirty="0">
                <a:latin typeface="Times New Roman" panose="02020603050405020304" pitchFamily="18" charset="0"/>
                <a:cs typeface="Times New Roman" panose="02020603050405020304" pitchFamily="18" charset="0"/>
              </a:rPr>
              <a:t>, such as </a:t>
            </a:r>
            <a:r>
              <a:rPr lang="en-US" sz="1200" b="1" dirty="0">
                <a:latin typeface="Times New Roman" panose="02020603050405020304" pitchFamily="18" charset="0"/>
                <a:cs typeface="Times New Roman" panose="02020603050405020304" pitchFamily="18" charset="0"/>
              </a:rPr>
              <a:t>Thread-per-Row</a:t>
            </a:r>
            <a:r>
              <a:rPr lang="en-US" sz="1200" dirty="0">
                <a:latin typeface="Times New Roman" panose="02020603050405020304" pitchFamily="18" charset="0"/>
                <a:cs typeface="Times New Roman" panose="02020603050405020304" pitchFamily="18" charset="0"/>
              </a:rPr>
              <a:t> or </a:t>
            </a:r>
            <a:r>
              <a:rPr lang="en-US" sz="1200" b="1" dirty="0">
                <a:latin typeface="Times New Roman" panose="02020603050405020304" pitchFamily="18" charset="0"/>
                <a:cs typeface="Times New Roman" panose="02020603050405020304" pitchFamily="18" charset="0"/>
              </a:rPr>
              <a:t>batch-based task partitioning</a:t>
            </a:r>
            <a:r>
              <a:rPr lang="en-US" sz="1200" dirty="0">
                <a:latin typeface="Times New Roman" panose="02020603050405020304" pitchFamily="18" charset="0"/>
                <a:cs typeface="Times New Roman" panose="02020603050405020304" pitchFamily="18" charset="0"/>
              </a:rPr>
              <a:t>. In these designs, each thread handles a larger portion of the output matrix, typically entire rows or sub-blocks. This approach ensures that each thread performs substantial computation over contiguous memory regions, enhancing </a:t>
            </a:r>
            <a:r>
              <a:rPr lang="en-US" sz="1200" b="1" dirty="0">
                <a:latin typeface="Times New Roman" panose="02020603050405020304" pitchFamily="18" charset="0"/>
                <a:cs typeface="Times New Roman" panose="02020603050405020304" pitchFamily="18" charset="0"/>
              </a:rPr>
              <a:t>spatial locality</a:t>
            </a:r>
            <a:r>
              <a:rPr lang="en-US" sz="1200" dirty="0">
                <a:latin typeface="Times New Roman" panose="02020603050405020304" pitchFamily="18" charset="0"/>
                <a:cs typeface="Times New Roman" panose="02020603050405020304" pitchFamily="18" charset="0"/>
              </a:rPr>
              <a:t> for both input reads and output writes. It also minimizes synchronization and communication overhead, resulting in improved cache utilization and reduced </a:t>
            </a:r>
            <a:r>
              <a:rPr lang="en-US" sz="1200" dirty="0" err="1">
                <a:latin typeface="Times New Roman" panose="02020603050405020304" pitchFamily="18" charset="0"/>
                <a:cs typeface="Times New Roman" panose="02020603050405020304" pitchFamily="18" charset="0"/>
              </a:rPr>
              <a:t>latency⁴.In</a:t>
            </a:r>
            <a:r>
              <a:rPr lang="en-US" sz="1200" dirty="0">
                <a:latin typeface="Times New Roman" panose="02020603050405020304" pitchFamily="18" charset="0"/>
                <a:cs typeface="Times New Roman" panose="02020603050405020304" pitchFamily="18" charset="0"/>
              </a:rPr>
              <a:t> summary, coarse-grained parallelism provides a balanced trade-off between concurrency and memory efficiency, making it the preferred model for high-performance CPU-based matrix multiplication.</a:t>
            </a:r>
          </a:p>
        </p:txBody>
      </p:sp>
      <p:sp>
        <p:nvSpPr>
          <p:cNvPr id="6" name="object 6"/>
          <p:cNvSpPr/>
          <p:nvPr/>
        </p:nvSpPr>
        <p:spPr>
          <a:xfrm>
            <a:off x="228600" y="228599"/>
            <a:ext cx="7315200" cy="9601200"/>
          </a:xfrm>
          <a:custGeom>
            <a:avLst/>
            <a:gdLst/>
            <a:ahLst/>
            <a:cxnLst/>
            <a:rect l="l" t="t" r="r" b="b"/>
            <a:pathLst>
              <a:path w="7315200" h="9601200">
                <a:moveTo>
                  <a:pt x="7315200" y="12"/>
                </a:moveTo>
                <a:lnTo>
                  <a:pt x="7309104" y="12"/>
                </a:lnTo>
                <a:lnTo>
                  <a:pt x="7309104" y="6096"/>
                </a:lnTo>
                <a:lnTo>
                  <a:pt x="7309091" y="9595104"/>
                </a:lnTo>
                <a:lnTo>
                  <a:pt x="6083" y="9595104"/>
                </a:lnTo>
                <a:lnTo>
                  <a:pt x="6083" y="6096"/>
                </a:lnTo>
                <a:lnTo>
                  <a:pt x="7309091" y="6096"/>
                </a:lnTo>
                <a:lnTo>
                  <a:pt x="7309091" y="0"/>
                </a:lnTo>
                <a:lnTo>
                  <a:pt x="0" y="0"/>
                </a:lnTo>
                <a:lnTo>
                  <a:pt x="0" y="6096"/>
                </a:lnTo>
                <a:lnTo>
                  <a:pt x="0" y="9595104"/>
                </a:lnTo>
                <a:lnTo>
                  <a:pt x="0" y="9601200"/>
                </a:lnTo>
                <a:lnTo>
                  <a:pt x="7309091" y="9601200"/>
                </a:lnTo>
                <a:lnTo>
                  <a:pt x="7315200" y="9601200"/>
                </a:lnTo>
                <a:lnTo>
                  <a:pt x="7315200" y="9595104"/>
                </a:lnTo>
                <a:lnTo>
                  <a:pt x="7315200" y="6096"/>
                </a:lnTo>
                <a:lnTo>
                  <a:pt x="7315200" y="12"/>
                </a:lnTo>
                <a:close/>
              </a:path>
            </a:pathLst>
          </a:custGeom>
          <a:solidFill>
            <a:srgbClr val="000000"/>
          </a:solidFill>
        </p:spPr>
        <p:txBody>
          <a:bodyPr wrap="square" lIns="0" tIns="0" rIns="0" bIns="0" rtlCol="0"/>
          <a:lstStyle/>
          <a:p>
            <a:endParaRPr/>
          </a:p>
        </p:txBody>
      </p:sp>
      <p:sp>
        <p:nvSpPr>
          <p:cNvPr id="7" name="object 7"/>
          <p:cNvSpPr txBox="1">
            <a:spLocks noGrp="1"/>
          </p:cNvSpPr>
          <p:nvPr>
            <p:ph type="ftr" sz="quarter" idx="5"/>
          </p:nvPr>
        </p:nvSpPr>
        <p:spPr>
          <a:prstGeom prst="rect">
            <a:avLst/>
          </a:prstGeom>
        </p:spPr>
        <p:txBody>
          <a:bodyPr vert="horz" wrap="square" lIns="0" tIns="0" rIns="0" bIns="0" rtlCol="0">
            <a:spAutoFit/>
          </a:bodyPr>
          <a:lstStyle/>
          <a:p>
            <a:pPr marL="12700">
              <a:lnSpc>
                <a:spcPts val="1460"/>
              </a:lnSpc>
            </a:pPr>
            <a:r>
              <a:rPr dirty="0"/>
              <a:t>DEPARTMENT</a:t>
            </a:r>
            <a:r>
              <a:rPr spc="-30" dirty="0"/>
              <a:t> </a:t>
            </a:r>
            <a:r>
              <a:rPr dirty="0"/>
              <a:t>OF</a:t>
            </a:r>
            <a:r>
              <a:rPr spc="-40" dirty="0"/>
              <a:t> </a:t>
            </a:r>
            <a:r>
              <a:rPr dirty="0"/>
              <a:t>COMPUTER</a:t>
            </a:r>
            <a:r>
              <a:rPr spc="-45" dirty="0"/>
              <a:t> </a:t>
            </a:r>
            <a:r>
              <a:rPr spc="-10" dirty="0"/>
              <a:t>ENGINEERING,</a:t>
            </a:r>
            <a:r>
              <a:rPr spc="-45" dirty="0"/>
              <a:t> </a:t>
            </a:r>
            <a:r>
              <a:rPr dirty="0"/>
              <a:t>PESMCOE,</a:t>
            </a:r>
            <a:r>
              <a:rPr spc="-40" dirty="0"/>
              <a:t> </a:t>
            </a:r>
            <a:r>
              <a:rPr spc="-10" dirty="0"/>
              <a:t>PUNE:05</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731012" y="342692"/>
            <a:ext cx="104775" cy="215265"/>
          </a:xfrm>
          <a:prstGeom prst="rect">
            <a:avLst/>
          </a:prstGeom>
        </p:spPr>
        <p:txBody>
          <a:bodyPr vert="horz" wrap="square" lIns="0" tIns="12065" rIns="0" bIns="0" rtlCol="0">
            <a:spAutoFit/>
          </a:bodyPr>
          <a:lstStyle/>
          <a:p>
            <a:pPr marL="12700">
              <a:lnSpc>
                <a:spcPct val="100000"/>
              </a:lnSpc>
              <a:spcBef>
                <a:spcPts val="95"/>
              </a:spcBef>
            </a:pPr>
            <a:r>
              <a:rPr sz="1250" b="1" spc="-50" dirty="0">
                <a:solidFill>
                  <a:srgbClr val="FFFFFF"/>
                </a:solidFill>
                <a:latin typeface="Times New Roman"/>
                <a:cs typeface="Times New Roman"/>
              </a:rPr>
              <a:t>7</a:t>
            </a:r>
            <a:endParaRPr sz="1250">
              <a:latin typeface="Times New Roman"/>
              <a:cs typeface="Times New Roman"/>
            </a:endParaRPr>
          </a:p>
        </p:txBody>
      </p:sp>
      <p:sp>
        <p:nvSpPr>
          <p:cNvPr id="3" name="object 3"/>
          <p:cNvSpPr txBox="1"/>
          <p:nvPr/>
        </p:nvSpPr>
        <p:spPr>
          <a:xfrm>
            <a:off x="1773427" y="363967"/>
            <a:ext cx="4224655" cy="166071"/>
          </a:xfrm>
          <a:prstGeom prst="rect">
            <a:avLst/>
          </a:prstGeom>
        </p:spPr>
        <p:txBody>
          <a:bodyPr vert="horz" wrap="square" lIns="0" tIns="12065" rIns="0" bIns="0" rtlCol="0">
            <a:spAutoFit/>
          </a:bodyPr>
          <a:lstStyle/>
          <a:p>
            <a:pPr marL="12700">
              <a:lnSpc>
                <a:spcPct val="100000"/>
              </a:lnSpc>
              <a:spcBef>
                <a:spcPts val="95"/>
              </a:spcBef>
            </a:pPr>
            <a:r>
              <a:rPr lang="en-US" sz="1000" dirty="0">
                <a:latin typeface="Times New Roman"/>
                <a:cs typeface="Times New Roman"/>
              </a:rPr>
              <a:t>Performance Analysis of Single-Threaded and Multithreaded Merge Sort</a:t>
            </a:r>
            <a:endParaRPr sz="1000" dirty="0">
              <a:latin typeface="Times New Roman"/>
              <a:cs typeface="Times New Roman"/>
            </a:endParaRPr>
          </a:p>
        </p:txBody>
      </p:sp>
      <p:sp>
        <p:nvSpPr>
          <p:cNvPr id="4" name="object 4"/>
          <p:cNvSpPr txBox="1"/>
          <p:nvPr/>
        </p:nvSpPr>
        <p:spPr>
          <a:xfrm>
            <a:off x="901700" y="891343"/>
            <a:ext cx="5970270" cy="5766963"/>
          </a:xfrm>
          <a:prstGeom prst="rect">
            <a:avLst/>
          </a:prstGeom>
        </p:spPr>
        <p:txBody>
          <a:bodyPr vert="horz" wrap="square" lIns="0" tIns="11430" rIns="0" bIns="0" rtlCol="0">
            <a:spAutoFit/>
          </a:bodyPr>
          <a:lstStyle/>
          <a:p>
            <a:pPr algn="just"/>
            <a:r>
              <a:rPr lang="en-US" sz="1300" b="1" dirty="0">
                <a:latin typeface="Times New Roman" panose="02020603050405020304" pitchFamily="18" charset="0"/>
                <a:cs typeface="Times New Roman" panose="02020603050405020304" pitchFamily="18" charset="0"/>
              </a:rPr>
              <a:t>2.5 Contextualizing CPU Performance against Many-Core Architectures (GPU)</a:t>
            </a:r>
          </a:p>
          <a:p>
            <a:pPr algn="just"/>
            <a:endParaRPr lang="en-US" sz="1300" b="1" dirty="0">
              <a:latin typeface="Times New Roman" panose="02020603050405020304" pitchFamily="18" charset="0"/>
              <a:cs typeface="Times New Roman" panose="02020603050405020304" pitchFamily="18" charset="0"/>
            </a:endParaRPr>
          </a:p>
          <a:p>
            <a:pPr algn="just"/>
            <a:r>
              <a:rPr lang="en-US" sz="1200" dirty="0">
                <a:latin typeface="Times New Roman" panose="02020603050405020304" pitchFamily="18" charset="0"/>
                <a:cs typeface="Times New Roman" panose="02020603050405020304" pitchFamily="18" charset="0"/>
              </a:rPr>
              <a:t>The evolution from multi-core CPUs to many-core Graphics Processing Units (GPUs) represents a fundamental shift in computational design philosophy. While multi-core CPUs provide moderate levels of parallelism through a limited number of powerful cores optimized for instruction throughput, GPUs offer a massively parallel architecture comprising thousands of lightweight cores engineered for data-parallel execution¹. This architectural divergence allows GPUs to excel in tasks that involve performing identical operations over large datasets, such as matrix multiplication and deep learning workloads.</a:t>
            </a:r>
          </a:p>
          <a:p>
            <a:pPr algn="just"/>
            <a:r>
              <a:rPr lang="en-US" sz="1200" dirty="0">
                <a:latin typeface="Times New Roman" panose="02020603050405020304" pitchFamily="18" charset="0"/>
                <a:cs typeface="Times New Roman" panose="02020603050405020304" pitchFamily="18" charset="0"/>
              </a:rPr>
              <a:t>GPUs employ the </a:t>
            </a:r>
            <a:r>
              <a:rPr lang="en-US" sz="1200" b="1" dirty="0">
                <a:latin typeface="Times New Roman" panose="02020603050405020304" pitchFamily="18" charset="0"/>
                <a:cs typeface="Times New Roman" panose="02020603050405020304" pitchFamily="18" charset="0"/>
              </a:rPr>
              <a:t>Single Instruction, Multiple Threads (SIMT)</a:t>
            </a:r>
            <a:r>
              <a:rPr lang="en-US" sz="1200" dirty="0">
                <a:latin typeface="Times New Roman" panose="02020603050405020304" pitchFamily="18" charset="0"/>
                <a:cs typeface="Times New Roman" panose="02020603050405020304" pitchFamily="18" charset="0"/>
              </a:rPr>
              <a:t> execution model, where groups of threads, known as warps, execute the same instruction stream concurrently. This model enables GPUs to sustain extremely high arithmetic intensity and throughput². Frameworks like </a:t>
            </a:r>
            <a:r>
              <a:rPr lang="en-US" sz="1200" b="1" dirty="0">
                <a:latin typeface="Times New Roman" panose="02020603050405020304" pitchFamily="18" charset="0"/>
                <a:cs typeface="Times New Roman" panose="02020603050405020304" pitchFamily="18" charset="0"/>
              </a:rPr>
              <a:t>CUDA</a:t>
            </a:r>
            <a:r>
              <a:rPr lang="en-US" sz="1200" dirty="0">
                <a:latin typeface="Times New Roman" panose="02020603050405020304" pitchFamily="18" charset="0"/>
                <a:cs typeface="Times New Roman" panose="02020603050405020304" pitchFamily="18" charset="0"/>
              </a:rPr>
              <a:t> and </a:t>
            </a:r>
            <a:r>
              <a:rPr lang="en-US" sz="1200" b="1" dirty="0">
                <a:latin typeface="Times New Roman" panose="02020603050405020304" pitchFamily="18" charset="0"/>
                <a:cs typeface="Times New Roman" panose="02020603050405020304" pitchFamily="18" charset="0"/>
              </a:rPr>
              <a:t>OpenCL</a:t>
            </a:r>
            <a:r>
              <a:rPr lang="en-US" sz="1200" dirty="0">
                <a:latin typeface="Times New Roman" panose="02020603050405020304" pitchFamily="18" charset="0"/>
                <a:cs typeface="Times New Roman" panose="02020603050405020304" pitchFamily="18" charset="0"/>
              </a:rPr>
              <a:t> facilitate fine-grained workload decomposition, allowing developers to assign computations at the level of individual matrix elements or tiles. Techniques such as </a:t>
            </a:r>
            <a:r>
              <a:rPr lang="en-US" sz="1200" b="1" dirty="0">
                <a:latin typeface="Times New Roman" panose="02020603050405020304" pitchFamily="18" charset="0"/>
                <a:cs typeface="Times New Roman" panose="02020603050405020304" pitchFamily="18" charset="0"/>
              </a:rPr>
              <a:t>shared memory tiling</a:t>
            </a:r>
            <a:r>
              <a:rPr lang="en-US" sz="1200" dirty="0">
                <a:latin typeface="Times New Roman" panose="02020603050405020304" pitchFamily="18" charset="0"/>
                <a:cs typeface="Times New Roman" panose="02020603050405020304" pitchFamily="18" charset="0"/>
              </a:rPr>
              <a:t>, </a:t>
            </a:r>
            <a:r>
              <a:rPr lang="en-US" sz="1200" b="1" dirty="0">
                <a:latin typeface="Times New Roman" panose="02020603050405020304" pitchFamily="18" charset="0"/>
                <a:cs typeface="Times New Roman" panose="02020603050405020304" pitchFamily="18" charset="0"/>
              </a:rPr>
              <a:t>coalesced global memory accesses</a:t>
            </a:r>
            <a:r>
              <a:rPr lang="en-US" sz="1200" dirty="0">
                <a:latin typeface="Times New Roman" panose="02020603050405020304" pitchFamily="18" charset="0"/>
                <a:cs typeface="Times New Roman" panose="02020603050405020304" pitchFamily="18" charset="0"/>
              </a:rPr>
              <a:t>, and </a:t>
            </a:r>
            <a:r>
              <a:rPr lang="en-US" sz="1200" b="1" dirty="0">
                <a:latin typeface="Times New Roman" panose="02020603050405020304" pitchFamily="18" charset="0"/>
                <a:cs typeface="Times New Roman" panose="02020603050405020304" pitchFamily="18" charset="0"/>
              </a:rPr>
              <a:t>warp-level synchronization</a:t>
            </a:r>
            <a:r>
              <a:rPr lang="en-US" sz="1200" dirty="0">
                <a:latin typeface="Times New Roman" panose="02020603050405020304" pitchFamily="18" charset="0"/>
                <a:cs typeface="Times New Roman" panose="02020603050405020304" pitchFamily="18" charset="0"/>
              </a:rPr>
              <a:t> further enhance performance by optimizing data reuse and minimizing latency³.</a:t>
            </a:r>
          </a:p>
          <a:p>
            <a:pPr algn="just"/>
            <a:r>
              <a:rPr lang="en-US" sz="1200" dirty="0">
                <a:latin typeface="Times New Roman" panose="02020603050405020304" pitchFamily="18" charset="0"/>
                <a:cs typeface="Times New Roman" panose="02020603050405020304" pitchFamily="18" charset="0"/>
              </a:rPr>
              <a:t>However, despite their immense computational potential, GPUs are not universally superior to CPUs. One major limitation arises from the </a:t>
            </a:r>
            <a:r>
              <a:rPr lang="en-US" sz="1200" b="1" dirty="0">
                <a:latin typeface="Times New Roman" panose="02020603050405020304" pitchFamily="18" charset="0"/>
                <a:cs typeface="Times New Roman" panose="02020603050405020304" pitchFamily="18" charset="0"/>
              </a:rPr>
              <a:t>host-to-device data transfer overhead</a:t>
            </a:r>
            <a:r>
              <a:rPr lang="en-US" sz="1200" dirty="0">
                <a:latin typeface="Times New Roman" panose="02020603050405020304" pitchFamily="18" charset="0"/>
                <a:cs typeface="Times New Roman" panose="02020603050405020304" pitchFamily="18" charset="0"/>
              </a:rPr>
              <a:t> over the PCI Express (PCIe) bus. For smaller matrices or computation-light tasks, this transfer latency can dominate total execution time, rendering GPUs slower than optimized CPU-based multithreaded implementations⁴. Moreover, GPUs demand careful kernel design and memory management to achieve their theoretical peak performance, whereas CPUs often provide strong out-of-the-box performance due to sophisticated caching and branch prediction mechanisms.</a:t>
            </a:r>
          </a:p>
          <a:p>
            <a:pPr algn="just"/>
            <a:r>
              <a:rPr lang="en-US" sz="1200" dirty="0">
                <a:latin typeface="Times New Roman" panose="02020603050405020304" pitchFamily="18" charset="0"/>
                <a:cs typeface="Times New Roman" panose="02020603050405020304" pitchFamily="18" charset="0"/>
              </a:rPr>
              <a:t>Therefore, identifying the </a:t>
            </a:r>
            <a:r>
              <a:rPr lang="en-US" sz="1200" b="1" dirty="0">
                <a:latin typeface="Times New Roman" panose="02020603050405020304" pitchFamily="18" charset="0"/>
                <a:cs typeface="Times New Roman" panose="02020603050405020304" pitchFamily="18" charset="0"/>
              </a:rPr>
              <a:t>crossover point</a:t>
            </a:r>
            <a:r>
              <a:rPr lang="en-US" sz="1200" dirty="0">
                <a:latin typeface="Times New Roman" panose="02020603050405020304" pitchFamily="18" charset="0"/>
                <a:cs typeface="Times New Roman" panose="02020603050405020304" pitchFamily="18" charset="0"/>
              </a:rPr>
              <a:t>—the problem size at which GPU execution begins to outperform CPU multithreading—is essential. This threshold depends on several factors, including matrix dimensions, memory bandwidth, and data transfer overhead. Understanding this crossover point allows system architects and software developers to design </a:t>
            </a:r>
            <a:r>
              <a:rPr lang="en-US" sz="1200" b="1" dirty="0">
                <a:latin typeface="Times New Roman" panose="02020603050405020304" pitchFamily="18" charset="0"/>
                <a:cs typeface="Times New Roman" panose="02020603050405020304" pitchFamily="18" charset="0"/>
              </a:rPr>
              <a:t>hybrid computing strategies</a:t>
            </a:r>
            <a:r>
              <a:rPr lang="en-US" sz="1200" dirty="0">
                <a:latin typeface="Times New Roman" panose="02020603050405020304" pitchFamily="18" charset="0"/>
                <a:cs typeface="Times New Roman" panose="02020603050405020304" pitchFamily="18" charset="0"/>
              </a:rPr>
              <a:t> that leverage both CPUs and GPUs efficiently. Such </a:t>
            </a:r>
            <a:r>
              <a:rPr lang="en-US" sz="1200" b="1" dirty="0">
                <a:latin typeface="Times New Roman" panose="02020603050405020304" pitchFamily="18" charset="0"/>
                <a:cs typeface="Times New Roman" panose="02020603050405020304" pitchFamily="18" charset="0"/>
              </a:rPr>
              <a:t>heterogeneous computing models</a:t>
            </a:r>
            <a:r>
              <a:rPr lang="en-US" sz="1200" dirty="0">
                <a:latin typeface="Times New Roman" panose="02020603050405020304" pitchFamily="18" charset="0"/>
                <a:cs typeface="Times New Roman" panose="02020603050405020304" pitchFamily="18" charset="0"/>
              </a:rPr>
              <a:t> balance computational workloads according to the strengths of each architecture, ensuring maximum throughput, resource utilization, and energy efficiency across diverse application domains.</a:t>
            </a:r>
          </a:p>
        </p:txBody>
      </p:sp>
      <p:sp>
        <p:nvSpPr>
          <p:cNvPr id="5" name="object 5"/>
          <p:cNvSpPr/>
          <p:nvPr/>
        </p:nvSpPr>
        <p:spPr>
          <a:xfrm>
            <a:off x="228600" y="228599"/>
            <a:ext cx="7315200" cy="9601200"/>
          </a:xfrm>
          <a:custGeom>
            <a:avLst/>
            <a:gdLst/>
            <a:ahLst/>
            <a:cxnLst/>
            <a:rect l="l" t="t" r="r" b="b"/>
            <a:pathLst>
              <a:path w="7315200" h="9601200">
                <a:moveTo>
                  <a:pt x="7315200" y="12"/>
                </a:moveTo>
                <a:lnTo>
                  <a:pt x="7309104" y="12"/>
                </a:lnTo>
                <a:lnTo>
                  <a:pt x="7309104" y="6096"/>
                </a:lnTo>
                <a:lnTo>
                  <a:pt x="7309091" y="9595104"/>
                </a:lnTo>
                <a:lnTo>
                  <a:pt x="6083" y="9595104"/>
                </a:lnTo>
                <a:lnTo>
                  <a:pt x="6083" y="6096"/>
                </a:lnTo>
                <a:lnTo>
                  <a:pt x="7309091" y="6096"/>
                </a:lnTo>
                <a:lnTo>
                  <a:pt x="7309091" y="0"/>
                </a:lnTo>
                <a:lnTo>
                  <a:pt x="0" y="0"/>
                </a:lnTo>
                <a:lnTo>
                  <a:pt x="0" y="6096"/>
                </a:lnTo>
                <a:lnTo>
                  <a:pt x="0" y="9595104"/>
                </a:lnTo>
                <a:lnTo>
                  <a:pt x="0" y="9601200"/>
                </a:lnTo>
                <a:lnTo>
                  <a:pt x="7309091" y="9601200"/>
                </a:lnTo>
                <a:lnTo>
                  <a:pt x="7315200" y="9601200"/>
                </a:lnTo>
                <a:lnTo>
                  <a:pt x="7315200" y="9595104"/>
                </a:lnTo>
                <a:lnTo>
                  <a:pt x="7315200" y="6096"/>
                </a:lnTo>
                <a:lnTo>
                  <a:pt x="7315200" y="12"/>
                </a:lnTo>
                <a:close/>
              </a:path>
            </a:pathLst>
          </a:custGeom>
          <a:solidFill>
            <a:srgbClr val="000000"/>
          </a:solidFill>
        </p:spPr>
        <p:txBody>
          <a:bodyPr wrap="square" lIns="0" tIns="0" rIns="0" bIns="0" rtlCol="0"/>
          <a:lstStyle/>
          <a:p>
            <a:endParaRPr/>
          </a:p>
        </p:txBody>
      </p:sp>
      <p:sp>
        <p:nvSpPr>
          <p:cNvPr id="6" name="object 6"/>
          <p:cNvSpPr txBox="1">
            <a:spLocks noGrp="1"/>
          </p:cNvSpPr>
          <p:nvPr>
            <p:ph type="ftr" sz="quarter" idx="5"/>
          </p:nvPr>
        </p:nvSpPr>
        <p:spPr>
          <a:prstGeom prst="rect">
            <a:avLst/>
          </a:prstGeom>
        </p:spPr>
        <p:txBody>
          <a:bodyPr vert="horz" wrap="square" lIns="0" tIns="0" rIns="0" bIns="0" rtlCol="0">
            <a:spAutoFit/>
          </a:bodyPr>
          <a:lstStyle/>
          <a:p>
            <a:pPr marL="12700">
              <a:lnSpc>
                <a:spcPts val="1460"/>
              </a:lnSpc>
            </a:pPr>
            <a:r>
              <a:rPr dirty="0"/>
              <a:t>DEPARTMENT</a:t>
            </a:r>
            <a:r>
              <a:rPr spc="-30" dirty="0"/>
              <a:t> </a:t>
            </a:r>
            <a:r>
              <a:rPr dirty="0"/>
              <a:t>OF</a:t>
            </a:r>
            <a:r>
              <a:rPr spc="-40" dirty="0"/>
              <a:t> </a:t>
            </a:r>
            <a:r>
              <a:rPr dirty="0"/>
              <a:t>COMPUTER</a:t>
            </a:r>
            <a:r>
              <a:rPr spc="-45" dirty="0"/>
              <a:t> </a:t>
            </a:r>
            <a:r>
              <a:rPr spc="-10" dirty="0"/>
              <a:t>ENGINEERING,</a:t>
            </a:r>
            <a:r>
              <a:rPr spc="-45" dirty="0"/>
              <a:t> </a:t>
            </a:r>
            <a:r>
              <a:rPr dirty="0"/>
              <a:t>PESMCOE,</a:t>
            </a:r>
            <a:r>
              <a:rPr spc="-40" dirty="0"/>
              <a:t> </a:t>
            </a:r>
            <a:r>
              <a:rPr spc="-10" dirty="0"/>
              <a:t>PUNE:05</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731012" y="342692"/>
            <a:ext cx="104775" cy="215265"/>
          </a:xfrm>
          <a:prstGeom prst="rect">
            <a:avLst/>
          </a:prstGeom>
        </p:spPr>
        <p:txBody>
          <a:bodyPr vert="horz" wrap="square" lIns="0" tIns="12065" rIns="0" bIns="0" rtlCol="0">
            <a:spAutoFit/>
          </a:bodyPr>
          <a:lstStyle/>
          <a:p>
            <a:pPr marL="12700">
              <a:lnSpc>
                <a:spcPct val="100000"/>
              </a:lnSpc>
              <a:spcBef>
                <a:spcPts val="95"/>
              </a:spcBef>
            </a:pPr>
            <a:r>
              <a:rPr sz="1250" b="1" spc="-50" dirty="0">
                <a:solidFill>
                  <a:srgbClr val="FFFFFF"/>
                </a:solidFill>
                <a:latin typeface="Times New Roman"/>
                <a:cs typeface="Times New Roman"/>
              </a:rPr>
              <a:t>8</a:t>
            </a:r>
            <a:endParaRPr sz="1250">
              <a:latin typeface="Times New Roman"/>
              <a:cs typeface="Times New Roman"/>
            </a:endParaRPr>
          </a:p>
        </p:txBody>
      </p:sp>
      <p:sp>
        <p:nvSpPr>
          <p:cNvPr id="3" name="object 3"/>
          <p:cNvSpPr txBox="1"/>
          <p:nvPr/>
        </p:nvSpPr>
        <p:spPr>
          <a:xfrm>
            <a:off x="1773427" y="363967"/>
            <a:ext cx="4224655" cy="166071"/>
          </a:xfrm>
          <a:prstGeom prst="rect">
            <a:avLst/>
          </a:prstGeom>
        </p:spPr>
        <p:txBody>
          <a:bodyPr vert="horz" wrap="square" lIns="0" tIns="12065" rIns="0" bIns="0" rtlCol="0">
            <a:spAutoFit/>
          </a:bodyPr>
          <a:lstStyle/>
          <a:p>
            <a:pPr marL="12700">
              <a:lnSpc>
                <a:spcPct val="100000"/>
              </a:lnSpc>
              <a:spcBef>
                <a:spcPts val="95"/>
              </a:spcBef>
            </a:pPr>
            <a:r>
              <a:rPr lang="en-US" sz="1000" dirty="0">
                <a:latin typeface="Times New Roman"/>
                <a:cs typeface="Times New Roman"/>
              </a:rPr>
              <a:t>Performance Analysis of Single-Threaded and Multithreaded Merge Sort</a:t>
            </a:r>
            <a:endParaRPr sz="1000" dirty="0">
              <a:latin typeface="Times New Roman"/>
              <a:cs typeface="Times New Roman"/>
            </a:endParaRPr>
          </a:p>
        </p:txBody>
      </p:sp>
      <p:sp>
        <p:nvSpPr>
          <p:cNvPr id="4" name="object 4"/>
          <p:cNvSpPr txBox="1"/>
          <p:nvPr/>
        </p:nvSpPr>
        <p:spPr>
          <a:xfrm>
            <a:off x="2840227" y="6557661"/>
            <a:ext cx="4030345" cy="1717039"/>
          </a:xfrm>
          <a:prstGeom prst="rect">
            <a:avLst/>
          </a:prstGeom>
        </p:spPr>
        <p:txBody>
          <a:bodyPr vert="horz" wrap="square" lIns="0" tIns="187960" rIns="0" bIns="0" rtlCol="0">
            <a:spAutoFit/>
          </a:bodyPr>
          <a:lstStyle/>
          <a:p>
            <a:pPr marR="5080" algn="r">
              <a:lnSpc>
                <a:spcPct val="100000"/>
              </a:lnSpc>
              <a:spcBef>
                <a:spcPts val="1480"/>
              </a:spcBef>
            </a:pPr>
            <a:r>
              <a:rPr sz="4400" b="1" spc="-25" dirty="0">
                <a:latin typeface="Times New Roman"/>
                <a:cs typeface="Times New Roman"/>
              </a:rPr>
              <a:t>3.</a:t>
            </a:r>
            <a:endParaRPr sz="4400">
              <a:latin typeface="Times New Roman"/>
              <a:cs typeface="Times New Roman"/>
            </a:endParaRPr>
          </a:p>
          <a:p>
            <a:pPr marR="7620" algn="r">
              <a:lnSpc>
                <a:spcPct val="100000"/>
              </a:lnSpc>
              <a:spcBef>
                <a:spcPts val="1380"/>
              </a:spcBef>
            </a:pPr>
            <a:r>
              <a:rPr sz="4400" b="1" dirty="0">
                <a:latin typeface="Times New Roman"/>
                <a:cs typeface="Times New Roman"/>
              </a:rPr>
              <a:t>Details</a:t>
            </a:r>
            <a:r>
              <a:rPr sz="4400" b="1" spc="-65" dirty="0">
                <a:latin typeface="Times New Roman"/>
                <a:cs typeface="Times New Roman"/>
              </a:rPr>
              <a:t> </a:t>
            </a:r>
            <a:r>
              <a:rPr sz="4400" b="1" dirty="0">
                <a:latin typeface="Times New Roman"/>
                <a:cs typeface="Times New Roman"/>
              </a:rPr>
              <a:t>of</a:t>
            </a:r>
            <a:r>
              <a:rPr sz="4400" b="1" spc="-65" dirty="0">
                <a:latin typeface="Times New Roman"/>
                <a:cs typeface="Times New Roman"/>
              </a:rPr>
              <a:t> </a:t>
            </a:r>
            <a:r>
              <a:rPr sz="4400" b="1" spc="-10" dirty="0">
                <a:latin typeface="Times New Roman"/>
                <a:cs typeface="Times New Roman"/>
              </a:rPr>
              <a:t>Design</a:t>
            </a:r>
            <a:endParaRPr sz="4400">
              <a:latin typeface="Times New Roman"/>
              <a:cs typeface="Times New Roman"/>
            </a:endParaRPr>
          </a:p>
        </p:txBody>
      </p:sp>
      <p:sp>
        <p:nvSpPr>
          <p:cNvPr id="5" name="object 5"/>
          <p:cNvSpPr/>
          <p:nvPr/>
        </p:nvSpPr>
        <p:spPr>
          <a:xfrm>
            <a:off x="228600" y="228599"/>
            <a:ext cx="7315200" cy="9601200"/>
          </a:xfrm>
          <a:custGeom>
            <a:avLst/>
            <a:gdLst/>
            <a:ahLst/>
            <a:cxnLst/>
            <a:rect l="l" t="t" r="r" b="b"/>
            <a:pathLst>
              <a:path w="7315200" h="9601200">
                <a:moveTo>
                  <a:pt x="7315200" y="12"/>
                </a:moveTo>
                <a:lnTo>
                  <a:pt x="7309104" y="12"/>
                </a:lnTo>
                <a:lnTo>
                  <a:pt x="7309104" y="6096"/>
                </a:lnTo>
                <a:lnTo>
                  <a:pt x="7309091" y="9595104"/>
                </a:lnTo>
                <a:lnTo>
                  <a:pt x="6083" y="9595104"/>
                </a:lnTo>
                <a:lnTo>
                  <a:pt x="6083" y="6096"/>
                </a:lnTo>
                <a:lnTo>
                  <a:pt x="7309091" y="6096"/>
                </a:lnTo>
                <a:lnTo>
                  <a:pt x="7309091" y="0"/>
                </a:lnTo>
                <a:lnTo>
                  <a:pt x="0" y="0"/>
                </a:lnTo>
                <a:lnTo>
                  <a:pt x="0" y="6096"/>
                </a:lnTo>
                <a:lnTo>
                  <a:pt x="0" y="9595104"/>
                </a:lnTo>
                <a:lnTo>
                  <a:pt x="0" y="9601200"/>
                </a:lnTo>
                <a:lnTo>
                  <a:pt x="7309091" y="9601200"/>
                </a:lnTo>
                <a:lnTo>
                  <a:pt x="7315200" y="9601200"/>
                </a:lnTo>
                <a:lnTo>
                  <a:pt x="7315200" y="9595104"/>
                </a:lnTo>
                <a:lnTo>
                  <a:pt x="7315200" y="6096"/>
                </a:lnTo>
                <a:lnTo>
                  <a:pt x="7315200" y="12"/>
                </a:lnTo>
                <a:close/>
              </a:path>
            </a:pathLst>
          </a:custGeom>
          <a:solidFill>
            <a:srgbClr val="000000"/>
          </a:solidFill>
        </p:spPr>
        <p:txBody>
          <a:bodyPr wrap="square" lIns="0" tIns="0" rIns="0" bIns="0" rtlCol="0"/>
          <a:lstStyle/>
          <a:p>
            <a:endParaRPr/>
          </a:p>
        </p:txBody>
      </p:sp>
      <p:sp>
        <p:nvSpPr>
          <p:cNvPr id="6" name="object 6"/>
          <p:cNvSpPr txBox="1">
            <a:spLocks noGrp="1"/>
          </p:cNvSpPr>
          <p:nvPr>
            <p:ph type="ftr" sz="quarter" idx="5"/>
          </p:nvPr>
        </p:nvSpPr>
        <p:spPr>
          <a:prstGeom prst="rect">
            <a:avLst/>
          </a:prstGeom>
        </p:spPr>
        <p:txBody>
          <a:bodyPr vert="horz" wrap="square" lIns="0" tIns="0" rIns="0" bIns="0" rtlCol="0">
            <a:spAutoFit/>
          </a:bodyPr>
          <a:lstStyle/>
          <a:p>
            <a:pPr marL="12700">
              <a:lnSpc>
                <a:spcPts val="1460"/>
              </a:lnSpc>
            </a:pPr>
            <a:r>
              <a:rPr dirty="0"/>
              <a:t>DEPARTMENT</a:t>
            </a:r>
            <a:r>
              <a:rPr spc="-30" dirty="0"/>
              <a:t> </a:t>
            </a:r>
            <a:r>
              <a:rPr dirty="0"/>
              <a:t>OF</a:t>
            </a:r>
            <a:r>
              <a:rPr spc="-40" dirty="0"/>
              <a:t> </a:t>
            </a:r>
            <a:r>
              <a:rPr dirty="0"/>
              <a:t>COMPUTER</a:t>
            </a:r>
            <a:r>
              <a:rPr spc="-45" dirty="0"/>
              <a:t> </a:t>
            </a:r>
            <a:r>
              <a:rPr spc="-10" dirty="0"/>
              <a:t>ENGINEERING,</a:t>
            </a:r>
            <a:r>
              <a:rPr spc="-45" dirty="0"/>
              <a:t> </a:t>
            </a:r>
            <a:r>
              <a:rPr dirty="0"/>
              <a:t>PESMCOE,</a:t>
            </a:r>
            <a:r>
              <a:rPr spc="-40" dirty="0"/>
              <a:t> </a:t>
            </a:r>
            <a:r>
              <a:rPr spc="-10" dirty="0"/>
              <a:t>PUNE:05</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731012" y="342692"/>
            <a:ext cx="104775" cy="215265"/>
          </a:xfrm>
          <a:prstGeom prst="rect">
            <a:avLst/>
          </a:prstGeom>
        </p:spPr>
        <p:txBody>
          <a:bodyPr vert="horz" wrap="square" lIns="0" tIns="12065" rIns="0" bIns="0" rtlCol="0">
            <a:spAutoFit/>
          </a:bodyPr>
          <a:lstStyle/>
          <a:p>
            <a:pPr marL="12700">
              <a:lnSpc>
                <a:spcPct val="100000"/>
              </a:lnSpc>
              <a:spcBef>
                <a:spcPts val="95"/>
              </a:spcBef>
            </a:pPr>
            <a:r>
              <a:rPr sz="1250" b="1" spc="-50" dirty="0">
                <a:solidFill>
                  <a:srgbClr val="FFFFFF"/>
                </a:solidFill>
                <a:latin typeface="Times New Roman"/>
                <a:cs typeface="Times New Roman"/>
              </a:rPr>
              <a:t>9</a:t>
            </a:r>
            <a:endParaRPr sz="1250">
              <a:latin typeface="Times New Roman"/>
              <a:cs typeface="Times New Roman"/>
            </a:endParaRPr>
          </a:p>
        </p:txBody>
      </p:sp>
      <p:sp>
        <p:nvSpPr>
          <p:cNvPr id="3" name="object 3"/>
          <p:cNvSpPr txBox="1"/>
          <p:nvPr/>
        </p:nvSpPr>
        <p:spPr>
          <a:xfrm>
            <a:off x="1773427" y="363967"/>
            <a:ext cx="4224655" cy="166071"/>
          </a:xfrm>
          <a:prstGeom prst="rect">
            <a:avLst/>
          </a:prstGeom>
        </p:spPr>
        <p:txBody>
          <a:bodyPr vert="horz" wrap="square" lIns="0" tIns="12065" rIns="0" bIns="0" rtlCol="0">
            <a:spAutoFit/>
          </a:bodyPr>
          <a:lstStyle/>
          <a:p>
            <a:pPr marL="12700">
              <a:lnSpc>
                <a:spcPct val="100000"/>
              </a:lnSpc>
              <a:spcBef>
                <a:spcPts val="95"/>
              </a:spcBef>
            </a:pPr>
            <a:r>
              <a:rPr lang="en-US" sz="1000" dirty="0">
                <a:latin typeface="Times New Roman"/>
                <a:cs typeface="Times New Roman"/>
              </a:rPr>
              <a:t>Performance Analysis of Single-Threaded and Multithreaded Merge Sort</a:t>
            </a:r>
            <a:endParaRPr sz="1000" dirty="0">
              <a:latin typeface="Times New Roman"/>
              <a:cs typeface="Times New Roman"/>
            </a:endParaRPr>
          </a:p>
        </p:txBody>
      </p:sp>
      <mc:AlternateContent xmlns:mc="http://schemas.openxmlformats.org/markup-compatibility/2006" xmlns:a14="http://schemas.microsoft.com/office/drawing/2010/main">
        <mc:Choice Requires="a14">
          <p:sp>
            <p:nvSpPr>
              <p:cNvPr id="4" name="object 4"/>
              <p:cNvSpPr txBox="1"/>
              <p:nvPr/>
            </p:nvSpPr>
            <p:spPr>
              <a:xfrm>
                <a:off x="901700" y="891343"/>
                <a:ext cx="5969000" cy="3534494"/>
              </a:xfrm>
              <a:prstGeom prst="rect">
                <a:avLst/>
              </a:prstGeom>
            </p:spPr>
            <p:txBody>
              <a:bodyPr vert="horz" wrap="square" lIns="0" tIns="11430" rIns="0" bIns="0" rtlCol="0">
                <a:spAutoFit/>
              </a:bodyPr>
              <a:lstStyle/>
              <a:p>
                <a:pPr algn="just"/>
                <a:r>
                  <a:rPr lang="en-IN" sz="1300" b="1" dirty="0">
                    <a:latin typeface="Times New Roman" panose="02020603050405020304" pitchFamily="18" charset="0"/>
                    <a:cs typeface="Times New Roman" panose="02020603050405020304" pitchFamily="18" charset="0"/>
                  </a:rPr>
                  <a:t>3.1 Sequential Implementation (Baseline)</a:t>
                </a:r>
              </a:p>
              <a:p>
                <a:pPr algn="just"/>
                <a:endParaRPr lang="en-IN" sz="1200" b="1" dirty="0">
                  <a:latin typeface="Times New Roman" panose="02020603050405020304" pitchFamily="18" charset="0"/>
                  <a:cs typeface="Times New Roman" panose="02020603050405020304" pitchFamily="18" charset="0"/>
                </a:endParaRPr>
              </a:p>
              <a:p>
                <a:pPr algn="just"/>
                <a:r>
                  <a:rPr lang="en-IN" sz="1200" dirty="0">
                    <a:latin typeface="Times New Roman" panose="02020603050405020304" pitchFamily="18" charset="0"/>
                    <a:cs typeface="Times New Roman" panose="02020603050405020304" pitchFamily="18" charset="0"/>
                  </a:rPr>
                  <a:t>The sequential implementation of the Merge Sort algorithm serves as the foundational reference model for performance evaluation. Merge Sort follows the divide-and-conquer paradigm, recursively dividing an unsorted array into two halves until each subarray contains a single element, and then merging these sorted subarrays back together to form a completely ordered array. The standard implementation employs recursive function calls, with the merging process combining elements in sorted order using auxiliary arrays.</a:t>
                </a:r>
              </a:p>
              <a:p>
                <a:pPr algn="just"/>
                <a:r>
                  <a:rPr lang="en-IN" sz="1200" dirty="0">
                    <a:latin typeface="Times New Roman" panose="02020603050405020304" pitchFamily="18" charset="0"/>
                    <a:cs typeface="Times New Roman" panose="02020603050405020304" pitchFamily="18" charset="0"/>
                  </a:rPr>
                  <a:t>The time complexity of the sequential Merge Sort is </a:t>
                </a:r>
                <a:r>
                  <a:rPr lang="en-IN" sz="1200" b="1" dirty="0">
                    <a:latin typeface="Times New Roman" panose="02020603050405020304" pitchFamily="18" charset="0"/>
                    <a:cs typeface="Times New Roman" panose="02020603050405020304" pitchFamily="18" charset="0"/>
                  </a:rPr>
                  <a:t>O(n log n)</a:t>
                </a:r>
                <a:r>
                  <a:rPr lang="en-IN" sz="1200" dirty="0">
                    <a:latin typeface="Times New Roman" panose="02020603050405020304" pitchFamily="18" charset="0"/>
                    <a:cs typeface="Times New Roman" panose="02020603050405020304" pitchFamily="18" charset="0"/>
                  </a:rPr>
                  <a:t>, which arises from the logarithmic number of division levels and linear merging at each level. Although its asymptotic complexity is optimal for comparison-based sorting, the recursive nature introduces stack overhead and frequent memory accesses. Nonetheless, for small datasets, the sequential implementation often performs competitively because it avoids thread creation and synchronization overheads.</a:t>
                </a:r>
              </a:p>
              <a:p>
                <a:pPr algn="just"/>
                <a:r>
                  <a:rPr lang="en-IN" sz="1200" dirty="0">
                    <a:latin typeface="Times New Roman" panose="02020603050405020304" pitchFamily="18" charset="0"/>
                    <a:cs typeface="Times New Roman" panose="02020603050405020304" pitchFamily="18" charset="0"/>
                  </a:rPr>
                  <a:t>This baseline model executes on a single CPU thread, producing an execution time denoted as </a:t>
                </a:r>
                <a14:m>
                  <m:oMath xmlns:m="http://schemas.openxmlformats.org/officeDocument/2006/math">
                    <m:sSub>
                      <m:sSubPr>
                        <m:ctrlPr>
                          <a:rPr lang="ar-AE" sz="1200" i="1">
                            <a:latin typeface="Cambria Math" panose="02040503050406030204" pitchFamily="18" charset="0"/>
                          </a:rPr>
                        </m:ctrlPr>
                      </m:sSubPr>
                      <m:e>
                        <m:r>
                          <a:rPr lang="ar-AE" sz="1200" i="1">
                            <a:latin typeface="Cambria Math" panose="02040503050406030204" pitchFamily="18" charset="0"/>
                          </a:rPr>
                          <m:t>𝑇</m:t>
                        </m:r>
                      </m:e>
                      <m:sub>
                        <m:r>
                          <a:rPr lang="ar-AE" sz="1200" i="1">
                            <a:latin typeface="Cambria Math" panose="02040503050406030204" pitchFamily="18" charset="0"/>
                          </a:rPr>
                          <m:t>𝑠𝑒𝑞</m:t>
                        </m:r>
                      </m:sub>
                    </m:sSub>
                  </m:oMath>
                </a14:m>
                <a:r>
                  <a:rPr lang="ar-AE" sz="1200" dirty="0">
                    <a:latin typeface="Times New Roman" panose="02020603050405020304" pitchFamily="18" charset="0"/>
                    <a:cs typeface="Times New Roman" panose="02020603050405020304" pitchFamily="18" charset="0"/>
                  </a:rPr>
                  <a:t>. </a:t>
                </a:r>
                <a:r>
                  <a:rPr lang="en-IN" sz="1200" dirty="0">
                    <a:latin typeface="Times New Roman" panose="02020603050405020304" pitchFamily="18" charset="0"/>
                    <a:cs typeface="Times New Roman" panose="02020603050405020304" pitchFamily="18" charset="0"/>
                  </a:rPr>
                  <a:t>This value provides a reference point for comparing the performance gains achieved by multithreaded versions of the algorithm. The sequential implementation also ensures determinism, producing identical results across runs, thereby serving as the correctness benchmark for all subsequent parallel models.</a:t>
                </a:r>
              </a:p>
            </p:txBody>
          </p:sp>
        </mc:Choice>
        <mc:Fallback xmlns="">
          <p:sp>
            <p:nvSpPr>
              <p:cNvPr id="4" name="object 4"/>
              <p:cNvSpPr txBox="1">
                <a:spLocks noRot="1" noChangeAspect="1" noMove="1" noResize="1" noEditPoints="1" noAdjustHandles="1" noChangeArrowheads="1" noChangeShapeType="1" noTextEdit="1"/>
              </p:cNvSpPr>
              <p:nvPr/>
            </p:nvSpPr>
            <p:spPr>
              <a:xfrm>
                <a:off x="901700" y="891343"/>
                <a:ext cx="5969000" cy="3534494"/>
              </a:xfrm>
              <a:prstGeom prst="rect">
                <a:avLst/>
              </a:prstGeom>
              <a:blipFill>
                <a:blip r:embed="rId2"/>
                <a:stretch>
                  <a:fillRect l="-1736" t="-1034" r="-1532" b="-2241"/>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 name="object 5"/>
              <p:cNvSpPr txBox="1"/>
              <p:nvPr/>
            </p:nvSpPr>
            <p:spPr>
              <a:xfrm>
                <a:off x="901700" y="5017456"/>
                <a:ext cx="5969000" cy="3280450"/>
              </a:xfrm>
              <a:prstGeom prst="rect">
                <a:avLst/>
              </a:prstGeom>
            </p:spPr>
            <p:txBody>
              <a:bodyPr vert="horz" wrap="square" lIns="0" tIns="11430" rIns="0" bIns="0" rtlCol="0">
                <a:spAutoFit/>
              </a:bodyPr>
              <a:lstStyle/>
              <a:p>
                <a:pPr algn="just"/>
                <a:r>
                  <a:rPr lang="en-IN" sz="1200" b="1" dirty="0">
                    <a:latin typeface="Times New Roman" panose="02020603050405020304" pitchFamily="18" charset="0"/>
                    <a:cs typeface="Times New Roman" panose="02020603050405020304" pitchFamily="18" charset="0"/>
                  </a:rPr>
                  <a:t>3.2 Multithreaded Merge Sort Implementation</a:t>
                </a:r>
              </a:p>
              <a:p>
                <a:pPr algn="just"/>
                <a:endParaRPr lang="en-IN" sz="1200" b="1" dirty="0">
                  <a:latin typeface="Times New Roman" panose="02020603050405020304" pitchFamily="18" charset="0"/>
                  <a:cs typeface="Times New Roman" panose="02020603050405020304" pitchFamily="18" charset="0"/>
                </a:endParaRPr>
              </a:p>
              <a:p>
                <a:pPr algn="just"/>
                <a:r>
                  <a:rPr lang="en-IN" sz="1200" dirty="0">
                    <a:latin typeface="Times New Roman" panose="02020603050405020304" pitchFamily="18" charset="0"/>
                    <a:cs typeface="Times New Roman" panose="02020603050405020304" pitchFamily="18" charset="0"/>
                  </a:rPr>
                  <a:t>The multithreaded Merge Sort introduces concurrency by parallelizing the divide-and-conquer process. In this implementation, separate threads are spawned to independently sort the left and right subarrays, which are later merged once both threads complete execution. This approach effectively utilizes multiple CPU cores, enabling concurrent sorting operations that significantly reduce total execution time for large datasets.</a:t>
                </a:r>
              </a:p>
              <a:p>
                <a:pPr algn="just"/>
                <a:r>
                  <a:rPr lang="en-IN" sz="1200" dirty="0">
                    <a:latin typeface="Times New Roman" panose="02020603050405020304" pitchFamily="18" charset="0"/>
                    <a:cs typeface="Times New Roman" panose="02020603050405020304" pitchFamily="18" charset="0"/>
                  </a:rPr>
                  <a:t>To manage system resources efficiently, a threshold mechanism is often employed, where new threads are spawned only if the array segment exceeds a predefined size. This prevents excessive thread creation that could otherwise lead to performance degradation due to scheduling overhead and memory contention. Once the array size falls below this threshold, the algorithm reverts to sequential sorting to maintain efficiency.</a:t>
                </a:r>
              </a:p>
              <a:p>
                <a:pPr algn="just"/>
                <a:r>
                  <a:rPr lang="en-IN" sz="1200" dirty="0">
                    <a:latin typeface="Times New Roman" panose="02020603050405020304" pitchFamily="18" charset="0"/>
                    <a:cs typeface="Times New Roman" panose="02020603050405020304" pitchFamily="18" charset="0"/>
                  </a:rPr>
                  <a:t>Thread synchronization is handled carefully using join operations, ensuring that merging begins only after both subarrays are fully sorted. The implementation leverages shared memory, as all threads operate within a common address space, simplifying data access but requiring careful handling to avoid race conditions. The performance of the multithreaded Merge Sort is measured as </a:t>
                </a:r>
                <a14:m>
                  <m:oMath xmlns:m="http://schemas.openxmlformats.org/officeDocument/2006/math">
                    <m:sSub>
                      <m:sSubPr>
                        <m:ctrlPr>
                          <a:rPr lang="ar-AE" sz="1200" i="1">
                            <a:latin typeface="Cambria Math" panose="02040503050406030204" pitchFamily="18" charset="0"/>
                          </a:rPr>
                        </m:ctrlPr>
                      </m:sSubPr>
                      <m:e>
                        <m:r>
                          <a:rPr lang="ar-AE" sz="1200" i="1">
                            <a:latin typeface="Cambria Math" panose="02040503050406030204" pitchFamily="18" charset="0"/>
                          </a:rPr>
                          <m:t>𝑇</m:t>
                        </m:r>
                      </m:e>
                      <m:sub>
                        <m:r>
                          <a:rPr lang="ar-AE" sz="1200" i="1">
                            <a:latin typeface="Cambria Math" panose="02040503050406030204" pitchFamily="18" charset="0"/>
                          </a:rPr>
                          <m:t>𝑝𝑎𝑟</m:t>
                        </m:r>
                      </m:sub>
                    </m:sSub>
                  </m:oMath>
                </a14:m>
                <a:r>
                  <a:rPr lang="ar-AE" sz="1200" dirty="0">
                    <a:latin typeface="Times New Roman" panose="02020603050405020304" pitchFamily="18" charset="0"/>
                    <a:cs typeface="Times New Roman" panose="02020603050405020304" pitchFamily="18" charset="0"/>
                  </a:rPr>
                  <a:t>, </a:t>
                </a:r>
                <a:r>
                  <a:rPr lang="en-IN" sz="1200" dirty="0">
                    <a:latin typeface="Times New Roman" panose="02020603050405020304" pitchFamily="18" charset="0"/>
                    <a:cs typeface="Times New Roman" panose="02020603050405020304" pitchFamily="18" charset="0"/>
                  </a:rPr>
                  <a:t>and its efficiency is evaluated using the </a:t>
                </a:r>
                <a:r>
                  <a:rPr lang="en-IN" sz="1200" b="1" dirty="0">
                    <a:latin typeface="Times New Roman" panose="02020603050405020304" pitchFamily="18" charset="0"/>
                    <a:cs typeface="Times New Roman" panose="02020603050405020304" pitchFamily="18" charset="0"/>
                  </a:rPr>
                  <a:t>speedup ratio</a:t>
                </a:r>
                <a:r>
                  <a:rPr lang="en-IN" sz="1200" dirty="0">
                    <a:latin typeface="Times New Roman" panose="02020603050405020304" pitchFamily="18" charset="0"/>
                    <a:cs typeface="Times New Roman" panose="02020603050405020304" pitchFamily="18" charset="0"/>
                  </a:rPr>
                  <a:t>, defined as </a:t>
                </a:r>
                <a14:m>
                  <m:oMath xmlns:m="http://schemas.openxmlformats.org/officeDocument/2006/math">
                    <m:r>
                      <a:rPr lang="en-IN" sz="1200" i="1">
                        <a:latin typeface="Cambria Math" panose="02040503050406030204" pitchFamily="18" charset="0"/>
                      </a:rPr>
                      <m:t>𝑆</m:t>
                    </m:r>
                    <m:r>
                      <a:rPr lang="en-IN" sz="1200">
                        <a:latin typeface="Cambria Math" panose="02040503050406030204" pitchFamily="18" charset="0"/>
                      </a:rPr>
                      <m:t>=</m:t>
                    </m:r>
                    <m:f>
                      <m:fPr>
                        <m:ctrlPr>
                          <a:rPr lang="ar-AE" sz="1200" i="1">
                            <a:latin typeface="Cambria Math" panose="02040503050406030204" pitchFamily="18" charset="0"/>
                          </a:rPr>
                        </m:ctrlPr>
                      </m:fPr>
                      <m:num>
                        <m:sSub>
                          <m:sSubPr>
                            <m:ctrlPr>
                              <a:rPr lang="ar-AE" sz="1200" i="1">
                                <a:latin typeface="Cambria Math" panose="02040503050406030204" pitchFamily="18" charset="0"/>
                              </a:rPr>
                            </m:ctrlPr>
                          </m:sSubPr>
                          <m:e>
                            <m:r>
                              <a:rPr lang="ar-AE" sz="1200" i="1">
                                <a:latin typeface="Cambria Math" panose="02040503050406030204" pitchFamily="18" charset="0"/>
                              </a:rPr>
                              <m:t>𝑇</m:t>
                            </m:r>
                          </m:e>
                          <m:sub>
                            <m:r>
                              <a:rPr lang="ar-AE" sz="1200" i="1">
                                <a:latin typeface="Cambria Math" panose="02040503050406030204" pitchFamily="18" charset="0"/>
                              </a:rPr>
                              <m:t>𝑠𝑒𝑞</m:t>
                            </m:r>
                          </m:sub>
                        </m:sSub>
                      </m:num>
                      <m:den>
                        <m:sSub>
                          <m:sSubPr>
                            <m:ctrlPr>
                              <a:rPr lang="ar-AE" sz="1200" i="1">
                                <a:latin typeface="Cambria Math" panose="02040503050406030204" pitchFamily="18" charset="0"/>
                              </a:rPr>
                            </m:ctrlPr>
                          </m:sSubPr>
                          <m:e>
                            <m:r>
                              <a:rPr lang="ar-AE" sz="1200" i="1">
                                <a:latin typeface="Cambria Math" panose="02040503050406030204" pitchFamily="18" charset="0"/>
                              </a:rPr>
                              <m:t>𝑇</m:t>
                            </m:r>
                          </m:e>
                          <m:sub>
                            <m:r>
                              <a:rPr lang="ar-AE" sz="1200" i="1">
                                <a:latin typeface="Cambria Math" panose="02040503050406030204" pitchFamily="18" charset="0"/>
                              </a:rPr>
                              <m:t>𝑝𝑎𝑟</m:t>
                            </m:r>
                          </m:sub>
                        </m:sSub>
                      </m:den>
                    </m:f>
                  </m:oMath>
                </a14:m>
                <a:r>
                  <a:rPr lang="ar-AE" sz="1200" dirty="0">
                    <a:latin typeface="Times New Roman" panose="02020603050405020304" pitchFamily="18" charset="0"/>
                    <a:cs typeface="Times New Roman" panose="02020603050405020304" pitchFamily="18" charset="0"/>
                  </a:rPr>
                  <a:t>.</a:t>
                </a:r>
              </a:p>
            </p:txBody>
          </p:sp>
        </mc:Choice>
        <mc:Fallback xmlns="">
          <p:sp>
            <p:nvSpPr>
              <p:cNvPr id="5" name="object 5"/>
              <p:cNvSpPr txBox="1">
                <a:spLocks noRot="1" noChangeAspect="1" noMove="1" noResize="1" noEditPoints="1" noAdjustHandles="1" noChangeArrowheads="1" noChangeShapeType="1" noTextEdit="1"/>
              </p:cNvSpPr>
              <p:nvPr/>
            </p:nvSpPr>
            <p:spPr>
              <a:xfrm>
                <a:off x="901700" y="5017456"/>
                <a:ext cx="5969000" cy="3280450"/>
              </a:xfrm>
              <a:prstGeom prst="rect">
                <a:avLst/>
              </a:prstGeom>
              <a:blipFill>
                <a:blip r:embed="rId3"/>
                <a:stretch>
                  <a:fillRect l="-1634" t="-1115" r="-1532" b="-372"/>
                </a:stretch>
              </a:blipFill>
            </p:spPr>
            <p:txBody>
              <a:bodyPr/>
              <a:lstStyle/>
              <a:p>
                <a:r>
                  <a:rPr lang="en-IN">
                    <a:noFill/>
                  </a:rPr>
                  <a:t> </a:t>
                </a:r>
              </a:p>
            </p:txBody>
          </p:sp>
        </mc:Fallback>
      </mc:AlternateContent>
      <p:sp>
        <p:nvSpPr>
          <p:cNvPr id="6" name="object 6"/>
          <p:cNvSpPr/>
          <p:nvPr/>
        </p:nvSpPr>
        <p:spPr>
          <a:xfrm>
            <a:off x="228600" y="228599"/>
            <a:ext cx="7315200" cy="9601200"/>
          </a:xfrm>
          <a:custGeom>
            <a:avLst/>
            <a:gdLst/>
            <a:ahLst/>
            <a:cxnLst/>
            <a:rect l="l" t="t" r="r" b="b"/>
            <a:pathLst>
              <a:path w="7315200" h="9601200">
                <a:moveTo>
                  <a:pt x="7315200" y="12"/>
                </a:moveTo>
                <a:lnTo>
                  <a:pt x="7309104" y="12"/>
                </a:lnTo>
                <a:lnTo>
                  <a:pt x="7309104" y="6096"/>
                </a:lnTo>
                <a:lnTo>
                  <a:pt x="7309091" y="9595104"/>
                </a:lnTo>
                <a:lnTo>
                  <a:pt x="6083" y="9595104"/>
                </a:lnTo>
                <a:lnTo>
                  <a:pt x="6083" y="6096"/>
                </a:lnTo>
                <a:lnTo>
                  <a:pt x="7309091" y="6096"/>
                </a:lnTo>
                <a:lnTo>
                  <a:pt x="7309091" y="0"/>
                </a:lnTo>
                <a:lnTo>
                  <a:pt x="0" y="0"/>
                </a:lnTo>
                <a:lnTo>
                  <a:pt x="0" y="6096"/>
                </a:lnTo>
                <a:lnTo>
                  <a:pt x="0" y="9595104"/>
                </a:lnTo>
                <a:lnTo>
                  <a:pt x="0" y="9601200"/>
                </a:lnTo>
                <a:lnTo>
                  <a:pt x="7309091" y="9601200"/>
                </a:lnTo>
                <a:lnTo>
                  <a:pt x="7315200" y="9601200"/>
                </a:lnTo>
                <a:lnTo>
                  <a:pt x="7315200" y="9595104"/>
                </a:lnTo>
                <a:lnTo>
                  <a:pt x="7315200" y="6096"/>
                </a:lnTo>
                <a:lnTo>
                  <a:pt x="7315200" y="12"/>
                </a:lnTo>
                <a:close/>
              </a:path>
            </a:pathLst>
          </a:custGeom>
          <a:solidFill>
            <a:srgbClr val="000000"/>
          </a:solidFill>
        </p:spPr>
        <p:txBody>
          <a:bodyPr wrap="square" lIns="0" tIns="0" rIns="0" bIns="0" rtlCol="0"/>
          <a:lstStyle/>
          <a:p>
            <a:endParaRPr/>
          </a:p>
        </p:txBody>
      </p:sp>
      <p:sp>
        <p:nvSpPr>
          <p:cNvPr id="7" name="object 7"/>
          <p:cNvSpPr txBox="1">
            <a:spLocks noGrp="1"/>
          </p:cNvSpPr>
          <p:nvPr>
            <p:ph type="ftr" sz="quarter" idx="5"/>
          </p:nvPr>
        </p:nvSpPr>
        <p:spPr>
          <a:prstGeom prst="rect">
            <a:avLst/>
          </a:prstGeom>
        </p:spPr>
        <p:txBody>
          <a:bodyPr vert="horz" wrap="square" lIns="0" tIns="0" rIns="0" bIns="0" rtlCol="0">
            <a:spAutoFit/>
          </a:bodyPr>
          <a:lstStyle/>
          <a:p>
            <a:pPr marL="12700">
              <a:lnSpc>
                <a:spcPts val="1460"/>
              </a:lnSpc>
            </a:pPr>
            <a:r>
              <a:rPr dirty="0"/>
              <a:t>DEPARTMENT</a:t>
            </a:r>
            <a:r>
              <a:rPr spc="-30" dirty="0"/>
              <a:t> </a:t>
            </a:r>
            <a:r>
              <a:rPr dirty="0"/>
              <a:t>OF</a:t>
            </a:r>
            <a:r>
              <a:rPr spc="-40" dirty="0"/>
              <a:t> </a:t>
            </a:r>
            <a:r>
              <a:rPr dirty="0"/>
              <a:t>COMPUTER</a:t>
            </a:r>
            <a:r>
              <a:rPr spc="-45" dirty="0"/>
              <a:t> </a:t>
            </a:r>
            <a:r>
              <a:rPr spc="-10" dirty="0"/>
              <a:t>ENGINEERING,</a:t>
            </a:r>
            <a:r>
              <a:rPr spc="-45" dirty="0"/>
              <a:t> </a:t>
            </a:r>
            <a:r>
              <a:rPr dirty="0"/>
              <a:t>PESMCOE,</a:t>
            </a:r>
            <a:r>
              <a:rPr spc="-40" dirty="0"/>
              <a:t> </a:t>
            </a:r>
            <a:r>
              <a:rPr spc="-10" dirty="0"/>
              <a:t>PUNE:05</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651763" y="342692"/>
            <a:ext cx="184150" cy="215265"/>
          </a:xfrm>
          <a:prstGeom prst="rect">
            <a:avLst/>
          </a:prstGeom>
        </p:spPr>
        <p:txBody>
          <a:bodyPr vert="horz" wrap="square" lIns="0" tIns="12065" rIns="0" bIns="0" rtlCol="0">
            <a:spAutoFit/>
          </a:bodyPr>
          <a:lstStyle/>
          <a:p>
            <a:pPr marL="12700">
              <a:lnSpc>
                <a:spcPct val="100000"/>
              </a:lnSpc>
              <a:spcBef>
                <a:spcPts val="95"/>
              </a:spcBef>
            </a:pPr>
            <a:r>
              <a:rPr sz="1250" b="1" spc="-25" dirty="0">
                <a:solidFill>
                  <a:srgbClr val="FFFFFF"/>
                </a:solidFill>
                <a:latin typeface="Times New Roman"/>
                <a:cs typeface="Times New Roman"/>
              </a:rPr>
              <a:t>10</a:t>
            </a:r>
            <a:endParaRPr sz="1250">
              <a:latin typeface="Times New Roman"/>
              <a:cs typeface="Times New Roman"/>
            </a:endParaRPr>
          </a:p>
        </p:txBody>
      </p:sp>
      <p:sp>
        <p:nvSpPr>
          <p:cNvPr id="3" name="object 3"/>
          <p:cNvSpPr txBox="1"/>
          <p:nvPr/>
        </p:nvSpPr>
        <p:spPr>
          <a:xfrm>
            <a:off x="1773427" y="363967"/>
            <a:ext cx="4224655" cy="166071"/>
          </a:xfrm>
          <a:prstGeom prst="rect">
            <a:avLst/>
          </a:prstGeom>
        </p:spPr>
        <p:txBody>
          <a:bodyPr vert="horz" wrap="square" lIns="0" tIns="12065" rIns="0" bIns="0" rtlCol="0">
            <a:spAutoFit/>
          </a:bodyPr>
          <a:lstStyle/>
          <a:p>
            <a:pPr marL="12700">
              <a:lnSpc>
                <a:spcPct val="100000"/>
              </a:lnSpc>
              <a:spcBef>
                <a:spcPts val="95"/>
              </a:spcBef>
            </a:pPr>
            <a:r>
              <a:rPr lang="en-US" sz="1000" dirty="0">
                <a:latin typeface="Times New Roman"/>
                <a:cs typeface="Times New Roman"/>
              </a:rPr>
              <a:t>Performance Analysis of Single-Threaded and Multithreaded Merge Sort</a:t>
            </a:r>
            <a:endParaRPr sz="1000" dirty="0">
              <a:latin typeface="Times New Roman"/>
              <a:cs typeface="Times New Roman"/>
            </a:endParaRPr>
          </a:p>
        </p:txBody>
      </p:sp>
      <p:sp>
        <p:nvSpPr>
          <p:cNvPr id="4" name="object 4"/>
          <p:cNvSpPr txBox="1"/>
          <p:nvPr/>
        </p:nvSpPr>
        <p:spPr>
          <a:xfrm>
            <a:off x="901700" y="891320"/>
            <a:ext cx="5970905" cy="7583486"/>
          </a:xfrm>
          <a:prstGeom prst="rect">
            <a:avLst/>
          </a:prstGeom>
        </p:spPr>
        <p:txBody>
          <a:bodyPr vert="horz" wrap="square" lIns="0" tIns="12065" rIns="0" bIns="0" rtlCol="0">
            <a:spAutoFit/>
          </a:bodyPr>
          <a:lstStyle/>
          <a:p>
            <a:pPr algn="just"/>
            <a:br>
              <a:rPr lang="en-US" sz="1200" dirty="0">
                <a:latin typeface="Times New Roman" panose="02020603050405020304" pitchFamily="18" charset="0"/>
                <a:cs typeface="Times New Roman" panose="02020603050405020304" pitchFamily="18" charset="0"/>
              </a:rPr>
            </a:br>
            <a:endParaRPr lang="en-US" sz="1200" dirty="0">
              <a:latin typeface="Times New Roman" panose="02020603050405020304" pitchFamily="18" charset="0"/>
              <a:cs typeface="Times New Roman" panose="02020603050405020304" pitchFamily="18" charset="0"/>
            </a:endParaRPr>
          </a:p>
          <a:p>
            <a:pPr algn="just"/>
            <a:r>
              <a:rPr lang="en-US" sz="1300" b="1" dirty="0">
                <a:latin typeface="Times New Roman" panose="02020603050405020304" pitchFamily="18" charset="0"/>
                <a:cs typeface="Times New Roman" panose="02020603050405020304" pitchFamily="18" charset="0"/>
              </a:rPr>
              <a:t>3.3 Performance Evaluation and Analysis</a:t>
            </a:r>
          </a:p>
          <a:p>
            <a:pPr algn="just"/>
            <a:endParaRPr lang="en-US" sz="1200" b="1" dirty="0">
              <a:latin typeface="Times New Roman" panose="02020603050405020304" pitchFamily="18" charset="0"/>
              <a:cs typeface="Times New Roman" panose="02020603050405020304" pitchFamily="18" charset="0"/>
            </a:endParaRPr>
          </a:p>
          <a:p>
            <a:pPr algn="just"/>
            <a:r>
              <a:rPr lang="en-US" sz="1200" dirty="0">
                <a:latin typeface="Times New Roman" panose="02020603050405020304" pitchFamily="18" charset="0"/>
                <a:cs typeface="Times New Roman" panose="02020603050405020304" pitchFamily="18" charset="0"/>
              </a:rPr>
              <a:t>Performance analysis of sequential and multithreaded Merge Sort implementations reveals distinct trends based on input size and hardware configuration. For smaller arrays, typically below 10⁴ elements, the sequential algorithm often outperforms or closely matches the parallel version due to negligible thread management overhead. However, as dataset size increases, the multithreaded model demonstrates substantial gains in execution speed, showcasing the benefits of concurrent task execution.</a:t>
            </a:r>
          </a:p>
          <a:p>
            <a:pPr algn="just"/>
            <a:r>
              <a:rPr lang="en-US" sz="1200" dirty="0">
                <a:latin typeface="Times New Roman" panose="02020603050405020304" pitchFamily="18" charset="0"/>
                <a:cs typeface="Times New Roman" panose="02020603050405020304" pitchFamily="18" charset="0"/>
              </a:rPr>
              <a:t>Experimental results indicate that the multithreaded implementation achieves near-linear speedup up to a certain number of CPU cores, after which the performance gain plateaus. This behavior aligns with </a:t>
            </a:r>
            <a:r>
              <a:rPr lang="en-US" sz="1200" b="1" dirty="0">
                <a:latin typeface="Times New Roman" panose="02020603050405020304" pitchFamily="18" charset="0"/>
                <a:cs typeface="Times New Roman" panose="02020603050405020304" pitchFamily="18" charset="0"/>
              </a:rPr>
              <a:t>Amdahl’s Law</a:t>
            </a:r>
            <a:r>
              <a:rPr lang="en-US" sz="1200" dirty="0">
                <a:latin typeface="Times New Roman" panose="02020603050405020304" pitchFamily="18" charset="0"/>
                <a:cs typeface="Times New Roman" panose="02020603050405020304" pitchFamily="18" charset="0"/>
              </a:rPr>
              <a:t>, which states that the maximum achievable speedup is limited by the fraction of code that cannot be parallelized. Additionally, factors such as memory bandwidth saturation, cache coherence delays, and thread scheduling overhead contribute to diminishing returns at higher thread counts.</a:t>
            </a:r>
          </a:p>
          <a:p>
            <a:pPr algn="just"/>
            <a:r>
              <a:rPr lang="en-US" sz="1200" dirty="0">
                <a:latin typeface="Times New Roman" panose="02020603050405020304" pitchFamily="18" charset="0"/>
                <a:cs typeface="Times New Roman" panose="02020603050405020304" pitchFamily="18" charset="0"/>
              </a:rPr>
              <a:t>Beyond speedup, CPU utilization and efficiency are critical performance indicators. The multithreaded Merge Sort exhibits high CPU utilization during parallel phases, but synchronization points (such as merging) can cause temporary idle times. The overall analysis demonstrates that while multithreading significantly reduces computation time for large datasets, it requires careful tuning of thread count and partition size to achieve optimal scalability.</a:t>
            </a:r>
          </a:p>
          <a:p>
            <a:pPr algn="just"/>
            <a:endParaRPr lang="en-US" sz="1200" dirty="0">
              <a:latin typeface="Times New Roman" panose="02020603050405020304" pitchFamily="18" charset="0"/>
              <a:cs typeface="Times New Roman" panose="02020603050405020304" pitchFamily="18" charset="0"/>
            </a:endParaRPr>
          </a:p>
          <a:p>
            <a:pPr algn="just"/>
            <a:endParaRPr lang="en-US" sz="1300" dirty="0">
              <a:latin typeface="Times New Roman" panose="02020603050405020304" pitchFamily="18" charset="0"/>
              <a:cs typeface="Times New Roman" panose="02020603050405020304" pitchFamily="18" charset="0"/>
            </a:endParaRPr>
          </a:p>
          <a:p>
            <a:pPr algn="just"/>
            <a:r>
              <a:rPr lang="en-US" sz="1300" b="1" dirty="0">
                <a:latin typeface="Times New Roman" panose="02020603050405020304" pitchFamily="18" charset="0"/>
                <a:cs typeface="Times New Roman" panose="02020603050405020304" pitchFamily="18" charset="0"/>
              </a:rPr>
              <a:t>3.4 Challenges and Observations</a:t>
            </a:r>
          </a:p>
          <a:p>
            <a:pPr algn="just"/>
            <a:endParaRPr lang="en-US" sz="1200" b="1" dirty="0">
              <a:latin typeface="Times New Roman" panose="02020603050405020304" pitchFamily="18" charset="0"/>
              <a:cs typeface="Times New Roman" panose="02020603050405020304" pitchFamily="18" charset="0"/>
            </a:endParaRPr>
          </a:p>
          <a:p>
            <a:pPr algn="just"/>
            <a:r>
              <a:rPr lang="en-US" sz="1200" dirty="0">
                <a:latin typeface="Times New Roman" panose="02020603050405020304" pitchFamily="18" charset="0"/>
                <a:cs typeface="Times New Roman" panose="02020603050405020304" pitchFamily="18" charset="0"/>
              </a:rPr>
              <a:t>Despite its advantages, the multithreaded Merge Sort faces several challenges inherent to parallel execution. The most significant issue is </a:t>
            </a:r>
            <a:r>
              <a:rPr lang="en-US" sz="1200" b="1" dirty="0">
                <a:latin typeface="Times New Roman" panose="02020603050405020304" pitchFamily="18" charset="0"/>
                <a:cs typeface="Times New Roman" panose="02020603050405020304" pitchFamily="18" charset="0"/>
              </a:rPr>
              <a:t>thread management overhead</a:t>
            </a:r>
            <a:r>
              <a:rPr lang="en-US" sz="1200" dirty="0">
                <a:latin typeface="Times New Roman" panose="02020603050405020304" pitchFamily="18" charset="0"/>
                <a:cs typeface="Times New Roman" panose="02020603050405020304" pitchFamily="18" charset="0"/>
              </a:rPr>
              <a:t>, where excessive creation and destruction of threads can lead to performance penalties exceeding the benefits of parallelism. Additionally, unbalanced workloads may occur when subarrays differ greatly in size, causing certain threads to complete earlier and remain idle while others continue processing.</a:t>
            </a:r>
          </a:p>
          <a:p>
            <a:pPr algn="just"/>
            <a:r>
              <a:rPr lang="en-US" sz="1200" dirty="0">
                <a:latin typeface="Times New Roman" panose="02020603050405020304" pitchFamily="18" charset="0"/>
                <a:cs typeface="Times New Roman" panose="02020603050405020304" pitchFamily="18" charset="0"/>
              </a:rPr>
              <a:t>Another major challenge is </a:t>
            </a:r>
            <a:r>
              <a:rPr lang="en-US" sz="1200" b="1" dirty="0">
                <a:latin typeface="Times New Roman" panose="02020603050405020304" pitchFamily="18" charset="0"/>
                <a:cs typeface="Times New Roman" panose="02020603050405020304" pitchFamily="18" charset="0"/>
              </a:rPr>
              <a:t>memory contention</a:t>
            </a:r>
            <a:r>
              <a:rPr lang="en-US" sz="1200" dirty="0">
                <a:latin typeface="Times New Roman" panose="02020603050405020304" pitchFamily="18" charset="0"/>
                <a:cs typeface="Times New Roman" panose="02020603050405020304" pitchFamily="18" charset="0"/>
              </a:rPr>
              <a:t> and </a:t>
            </a:r>
            <a:r>
              <a:rPr lang="en-US" sz="1200" b="1" dirty="0">
                <a:latin typeface="Times New Roman" panose="02020603050405020304" pitchFamily="18" charset="0"/>
                <a:cs typeface="Times New Roman" panose="02020603050405020304" pitchFamily="18" charset="0"/>
              </a:rPr>
              <a:t>cache inefficiency</a:t>
            </a:r>
            <a:r>
              <a:rPr lang="en-US" sz="1200" dirty="0">
                <a:latin typeface="Times New Roman" panose="02020603050405020304" pitchFamily="18" charset="0"/>
                <a:cs typeface="Times New Roman" panose="02020603050405020304" pitchFamily="18" charset="0"/>
              </a:rPr>
              <a:t>. Since all threads access shared memory, simultaneous read/write operations can cause cache invalidations, leading to decreased throughput. Fine-grained synchronization further introduces latency, as thread coordination is necessary to maintain correctness during the merging process.</a:t>
            </a:r>
          </a:p>
          <a:p>
            <a:pPr algn="just"/>
            <a:r>
              <a:rPr lang="en-US" sz="1200" dirty="0">
                <a:latin typeface="Times New Roman" panose="02020603050405020304" pitchFamily="18" charset="0"/>
                <a:cs typeface="Times New Roman" panose="02020603050405020304" pitchFamily="18" charset="0"/>
              </a:rPr>
              <a:t>Observations from experimental analysis suggest that coarse-grained parallelism—where each thread handles a large subarray—is more effective than fine-grained approaches involving frequent synchronization. Furthermore, for very large datasets, performance may become constrained by available memory bandwidth rather than computational power. These findings underscore the importance of balancing concurrency with memory hierarchy awareness to achieve sustainable scalability in parallel sorting algorithms.</a:t>
            </a:r>
          </a:p>
          <a:p>
            <a:pPr algn="just"/>
            <a:endParaRPr lang="en-US" sz="1200" b="1" dirty="0">
              <a:latin typeface="Times New Roman" panose="02020603050405020304" pitchFamily="18" charset="0"/>
              <a:cs typeface="Times New Roman" panose="02020603050405020304" pitchFamily="18" charset="0"/>
            </a:endParaRPr>
          </a:p>
        </p:txBody>
      </p:sp>
      <p:sp>
        <p:nvSpPr>
          <p:cNvPr id="5" name="object 5"/>
          <p:cNvSpPr/>
          <p:nvPr/>
        </p:nvSpPr>
        <p:spPr>
          <a:xfrm>
            <a:off x="228600" y="228599"/>
            <a:ext cx="7315200" cy="9601200"/>
          </a:xfrm>
          <a:custGeom>
            <a:avLst/>
            <a:gdLst/>
            <a:ahLst/>
            <a:cxnLst/>
            <a:rect l="l" t="t" r="r" b="b"/>
            <a:pathLst>
              <a:path w="7315200" h="9601200">
                <a:moveTo>
                  <a:pt x="7315200" y="12"/>
                </a:moveTo>
                <a:lnTo>
                  <a:pt x="7309104" y="12"/>
                </a:lnTo>
                <a:lnTo>
                  <a:pt x="7309104" y="6096"/>
                </a:lnTo>
                <a:lnTo>
                  <a:pt x="7309091" y="9595104"/>
                </a:lnTo>
                <a:lnTo>
                  <a:pt x="6083" y="9595104"/>
                </a:lnTo>
                <a:lnTo>
                  <a:pt x="6083" y="6096"/>
                </a:lnTo>
                <a:lnTo>
                  <a:pt x="7309091" y="6096"/>
                </a:lnTo>
                <a:lnTo>
                  <a:pt x="7309091" y="0"/>
                </a:lnTo>
                <a:lnTo>
                  <a:pt x="0" y="0"/>
                </a:lnTo>
                <a:lnTo>
                  <a:pt x="0" y="6096"/>
                </a:lnTo>
                <a:lnTo>
                  <a:pt x="0" y="9595104"/>
                </a:lnTo>
                <a:lnTo>
                  <a:pt x="0" y="9601200"/>
                </a:lnTo>
                <a:lnTo>
                  <a:pt x="7309091" y="9601200"/>
                </a:lnTo>
                <a:lnTo>
                  <a:pt x="7315200" y="9601200"/>
                </a:lnTo>
                <a:lnTo>
                  <a:pt x="7315200" y="9595104"/>
                </a:lnTo>
                <a:lnTo>
                  <a:pt x="7315200" y="6096"/>
                </a:lnTo>
                <a:lnTo>
                  <a:pt x="7315200" y="12"/>
                </a:lnTo>
                <a:close/>
              </a:path>
            </a:pathLst>
          </a:custGeom>
          <a:solidFill>
            <a:srgbClr val="000000"/>
          </a:solidFill>
        </p:spPr>
        <p:txBody>
          <a:bodyPr wrap="square" lIns="0" tIns="0" rIns="0" bIns="0" rtlCol="0"/>
          <a:lstStyle/>
          <a:p>
            <a:endParaRPr/>
          </a:p>
        </p:txBody>
      </p:sp>
      <p:sp>
        <p:nvSpPr>
          <p:cNvPr id="6" name="object 6"/>
          <p:cNvSpPr txBox="1">
            <a:spLocks noGrp="1"/>
          </p:cNvSpPr>
          <p:nvPr>
            <p:ph type="ftr" sz="quarter" idx="5"/>
          </p:nvPr>
        </p:nvSpPr>
        <p:spPr>
          <a:prstGeom prst="rect">
            <a:avLst/>
          </a:prstGeom>
        </p:spPr>
        <p:txBody>
          <a:bodyPr vert="horz" wrap="square" lIns="0" tIns="0" rIns="0" bIns="0" rtlCol="0">
            <a:spAutoFit/>
          </a:bodyPr>
          <a:lstStyle/>
          <a:p>
            <a:pPr marL="12700">
              <a:lnSpc>
                <a:spcPts val="1460"/>
              </a:lnSpc>
            </a:pPr>
            <a:r>
              <a:rPr dirty="0"/>
              <a:t>DEPARTMENT</a:t>
            </a:r>
            <a:r>
              <a:rPr spc="-30" dirty="0"/>
              <a:t> </a:t>
            </a:r>
            <a:r>
              <a:rPr dirty="0"/>
              <a:t>OF</a:t>
            </a:r>
            <a:r>
              <a:rPr spc="-40" dirty="0"/>
              <a:t> </a:t>
            </a:r>
            <a:r>
              <a:rPr dirty="0"/>
              <a:t>COMPUTER</a:t>
            </a:r>
            <a:r>
              <a:rPr spc="-45" dirty="0"/>
              <a:t> </a:t>
            </a:r>
            <a:r>
              <a:rPr spc="-10" dirty="0"/>
              <a:t>ENGINEERING,</a:t>
            </a:r>
            <a:r>
              <a:rPr spc="-45" dirty="0"/>
              <a:t> </a:t>
            </a:r>
            <a:r>
              <a:rPr dirty="0"/>
              <a:t>PESMCOE,</a:t>
            </a:r>
            <a:r>
              <a:rPr spc="-40" dirty="0"/>
              <a:t> </a:t>
            </a:r>
            <a:r>
              <a:rPr spc="-10" dirty="0"/>
              <a:t>PUNE:05</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651763" y="342692"/>
            <a:ext cx="184150" cy="215265"/>
          </a:xfrm>
          <a:prstGeom prst="rect">
            <a:avLst/>
          </a:prstGeom>
        </p:spPr>
        <p:txBody>
          <a:bodyPr vert="horz" wrap="square" lIns="0" tIns="12065" rIns="0" bIns="0" rtlCol="0">
            <a:spAutoFit/>
          </a:bodyPr>
          <a:lstStyle/>
          <a:p>
            <a:pPr marL="12700">
              <a:lnSpc>
                <a:spcPct val="100000"/>
              </a:lnSpc>
              <a:spcBef>
                <a:spcPts val="95"/>
              </a:spcBef>
            </a:pPr>
            <a:r>
              <a:rPr sz="1250" b="1" spc="-25" dirty="0">
                <a:solidFill>
                  <a:srgbClr val="FFFFFF"/>
                </a:solidFill>
                <a:latin typeface="Times New Roman"/>
                <a:cs typeface="Times New Roman"/>
              </a:rPr>
              <a:t>11</a:t>
            </a:r>
            <a:endParaRPr sz="1250">
              <a:latin typeface="Times New Roman"/>
              <a:cs typeface="Times New Roman"/>
            </a:endParaRPr>
          </a:p>
        </p:txBody>
      </p:sp>
      <p:sp>
        <p:nvSpPr>
          <p:cNvPr id="3" name="object 3"/>
          <p:cNvSpPr txBox="1"/>
          <p:nvPr/>
        </p:nvSpPr>
        <p:spPr>
          <a:xfrm>
            <a:off x="1773427" y="363967"/>
            <a:ext cx="4224655" cy="166071"/>
          </a:xfrm>
          <a:prstGeom prst="rect">
            <a:avLst/>
          </a:prstGeom>
        </p:spPr>
        <p:txBody>
          <a:bodyPr vert="horz" wrap="square" lIns="0" tIns="12065" rIns="0" bIns="0" rtlCol="0">
            <a:spAutoFit/>
          </a:bodyPr>
          <a:lstStyle/>
          <a:p>
            <a:pPr marL="12700">
              <a:lnSpc>
                <a:spcPct val="100000"/>
              </a:lnSpc>
              <a:spcBef>
                <a:spcPts val="95"/>
              </a:spcBef>
            </a:pPr>
            <a:r>
              <a:rPr lang="en-US" sz="1000" dirty="0">
                <a:latin typeface="Times New Roman"/>
                <a:cs typeface="Times New Roman"/>
              </a:rPr>
              <a:t>Performance Analysis of Single-Threaded and Multithreaded Merge Sort</a:t>
            </a:r>
            <a:endParaRPr sz="1000" dirty="0">
              <a:latin typeface="Times New Roman"/>
              <a:cs typeface="Times New Roman"/>
            </a:endParaRPr>
          </a:p>
        </p:txBody>
      </p:sp>
      <p:sp>
        <p:nvSpPr>
          <p:cNvPr id="4" name="object 4"/>
          <p:cNvSpPr txBox="1"/>
          <p:nvPr/>
        </p:nvSpPr>
        <p:spPr>
          <a:xfrm>
            <a:off x="1130300" y="891357"/>
            <a:ext cx="5741670" cy="5368136"/>
          </a:xfrm>
          <a:prstGeom prst="rect">
            <a:avLst/>
          </a:prstGeom>
        </p:spPr>
        <p:txBody>
          <a:bodyPr vert="horz" wrap="square" lIns="0" tIns="12700" rIns="0" bIns="0" rtlCol="0">
            <a:spAutoFit/>
          </a:bodyPr>
          <a:lstStyle/>
          <a:p>
            <a:pPr algn="l"/>
            <a:r>
              <a:rPr lang="en-US" sz="1300" b="1" dirty="0">
                <a:latin typeface="Times New Roman" panose="02020603050405020304" pitchFamily="18" charset="0"/>
                <a:cs typeface="Times New Roman" panose="02020603050405020304" pitchFamily="18" charset="0"/>
              </a:rPr>
              <a:t>3.5 Performance Considerations</a:t>
            </a:r>
          </a:p>
          <a:p>
            <a:pPr algn="l"/>
            <a:endParaRPr lang="en-US" sz="1200" b="1" dirty="0">
              <a:latin typeface="Times New Roman" panose="02020603050405020304" pitchFamily="18" charset="0"/>
              <a:cs typeface="Times New Roman" panose="02020603050405020304" pitchFamily="18" charset="0"/>
            </a:endParaRPr>
          </a:p>
          <a:p>
            <a:pPr algn="l"/>
            <a:r>
              <a:rPr lang="en-US" sz="1200" b="1" dirty="0">
                <a:latin typeface="Times New Roman" panose="02020603050405020304" pitchFamily="18" charset="0"/>
                <a:cs typeface="Times New Roman" panose="02020603050405020304" pitchFamily="18" charset="0"/>
              </a:rPr>
              <a:t>Thread-Level Parallelism:</a:t>
            </a:r>
            <a:br>
              <a:rPr lang="en-US" sz="1200" dirty="0">
                <a:latin typeface="Times New Roman" panose="02020603050405020304" pitchFamily="18" charset="0"/>
                <a:cs typeface="Times New Roman" panose="02020603050405020304" pitchFamily="18" charset="0"/>
              </a:rPr>
            </a:br>
            <a:r>
              <a:rPr lang="en-US" sz="1200" dirty="0">
                <a:latin typeface="Times New Roman" panose="02020603050405020304" pitchFamily="18" charset="0"/>
                <a:cs typeface="Times New Roman" panose="02020603050405020304" pitchFamily="18" charset="0"/>
              </a:rPr>
              <a:t>Multithreaded Merge Sort leverages the concurrent execution capabilities of multi-core CPUs by spawning multiple threads to sort independent subarrays. This parallel execution significantly reduces total sorting time for large datasets compared to the sequential baseline. However, the achievable concurrency is limited by the number of available CPU cores and the granularity of workload division.</a:t>
            </a:r>
          </a:p>
          <a:p>
            <a:pPr algn="l"/>
            <a:endParaRPr lang="en-US" sz="1200" dirty="0">
              <a:latin typeface="Times New Roman" panose="02020603050405020304" pitchFamily="18" charset="0"/>
              <a:cs typeface="Times New Roman" panose="02020603050405020304" pitchFamily="18" charset="0"/>
            </a:endParaRPr>
          </a:p>
          <a:p>
            <a:pPr algn="l"/>
            <a:r>
              <a:rPr lang="en-US" sz="1200" b="1" dirty="0">
                <a:latin typeface="Times New Roman" panose="02020603050405020304" pitchFamily="18" charset="0"/>
                <a:cs typeface="Times New Roman" panose="02020603050405020304" pitchFamily="18" charset="0"/>
              </a:rPr>
              <a:t>Thread Creation and Synchronization Overhead:</a:t>
            </a:r>
            <a:br>
              <a:rPr lang="en-US" sz="1200" dirty="0">
                <a:latin typeface="Times New Roman" panose="02020603050405020304" pitchFamily="18" charset="0"/>
                <a:cs typeface="Times New Roman" panose="02020603050405020304" pitchFamily="18" charset="0"/>
              </a:rPr>
            </a:br>
            <a:r>
              <a:rPr lang="en-US" sz="1200" dirty="0">
                <a:latin typeface="Times New Roman" panose="02020603050405020304" pitchFamily="18" charset="0"/>
                <a:cs typeface="Times New Roman" panose="02020603050405020304" pitchFamily="18" charset="0"/>
              </a:rPr>
              <a:t>While parallel execution introduces speedup, it also incurs thread management costs. Each thread requires memory allocation, scheduling, and synchronization, which contribute to non-negligible overhead—especially for small input sizes. As a result, the benefits of parallelism become evident only when the array size is large enough for computation time to outweigh the cost of thread handling.</a:t>
            </a:r>
          </a:p>
          <a:p>
            <a:pPr algn="l"/>
            <a:endParaRPr lang="en-US" sz="1200" dirty="0">
              <a:latin typeface="Times New Roman" panose="02020603050405020304" pitchFamily="18" charset="0"/>
              <a:cs typeface="Times New Roman" panose="02020603050405020304" pitchFamily="18" charset="0"/>
            </a:endParaRPr>
          </a:p>
          <a:p>
            <a:pPr algn="l"/>
            <a:r>
              <a:rPr lang="en-US" sz="1200" b="1" dirty="0">
                <a:latin typeface="Times New Roman" panose="02020603050405020304" pitchFamily="18" charset="0"/>
                <a:cs typeface="Times New Roman" panose="02020603050405020304" pitchFamily="18" charset="0"/>
              </a:rPr>
              <a:t>Load Balancing and Granularity:</a:t>
            </a:r>
            <a:br>
              <a:rPr lang="en-US" sz="1200" dirty="0">
                <a:latin typeface="Times New Roman" panose="02020603050405020304" pitchFamily="18" charset="0"/>
                <a:cs typeface="Times New Roman" panose="02020603050405020304" pitchFamily="18" charset="0"/>
              </a:rPr>
            </a:br>
            <a:r>
              <a:rPr lang="en-US" sz="1200" dirty="0">
                <a:latin typeface="Times New Roman" panose="02020603050405020304" pitchFamily="18" charset="0"/>
                <a:cs typeface="Times New Roman" panose="02020603050405020304" pitchFamily="18" charset="0"/>
              </a:rPr>
              <a:t>Efficient performance requires balanced workload distribution across threads. If subarrays differ significantly in size, some threads may complete earlier, leading to idle CPU cores and reduced efficiency. Coarse-grained parallelization—where each thread handles a larger portion of the data—offers better cache locality and minimizes synchronization delays compared to fine-grained task division.</a:t>
            </a:r>
          </a:p>
          <a:p>
            <a:pPr algn="l"/>
            <a:endParaRPr lang="en-US" sz="1200" dirty="0">
              <a:latin typeface="Times New Roman" panose="02020603050405020304" pitchFamily="18" charset="0"/>
              <a:cs typeface="Times New Roman" panose="02020603050405020304" pitchFamily="18" charset="0"/>
            </a:endParaRPr>
          </a:p>
          <a:p>
            <a:pPr algn="l"/>
            <a:r>
              <a:rPr lang="en-US" sz="1200" b="1" dirty="0">
                <a:latin typeface="Times New Roman" panose="02020603050405020304" pitchFamily="18" charset="0"/>
                <a:cs typeface="Times New Roman" panose="02020603050405020304" pitchFamily="18" charset="0"/>
              </a:rPr>
              <a:t>Scalability and Speedup:</a:t>
            </a:r>
            <a:br>
              <a:rPr lang="en-US" sz="1200" dirty="0">
                <a:latin typeface="Times New Roman" panose="02020603050405020304" pitchFamily="18" charset="0"/>
                <a:cs typeface="Times New Roman" panose="02020603050405020304" pitchFamily="18" charset="0"/>
              </a:rPr>
            </a:br>
            <a:r>
              <a:rPr lang="en-US" sz="1200" dirty="0">
                <a:latin typeface="Times New Roman" panose="02020603050405020304" pitchFamily="18" charset="0"/>
                <a:cs typeface="Times New Roman" panose="02020603050405020304" pitchFamily="18" charset="0"/>
              </a:rPr>
              <a:t>Experimental results demonstrate that multithreaded Merge Sort scales effectively with the number of threads up to the physical core limit. Beyond this point, speedup gains diminish due to resource contention and Amdahl’s Law constraints. On modern quad-core and octa-core CPUs, speedups of up to </a:t>
            </a:r>
            <a:r>
              <a:rPr lang="en-US" sz="1200" b="1" dirty="0">
                <a:latin typeface="Times New Roman" panose="02020603050405020304" pitchFamily="18" charset="0"/>
                <a:cs typeface="Times New Roman" panose="02020603050405020304" pitchFamily="18" charset="0"/>
              </a:rPr>
              <a:t>3×–6×</a:t>
            </a:r>
            <a:r>
              <a:rPr lang="en-US" sz="1200" dirty="0">
                <a:latin typeface="Times New Roman" panose="02020603050405020304" pitchFamily="18" charset="0"/>
                <a:cs typeface="Times New Roman" panose="02020603050405020304" pitchFamily="18" charset="0"/>
              </a:rPr>
              <a:t> compared to the sequential baseline were observed for large input arrays, highlighting the potential and limitations of CPU-based parallel sorting.</a:t>
            </a:r>
          </a:p>
        </p:txBody>
      </p:sp>
      <p:sp>
        <p:nvSpPr>
          <p:cNvPr id="5" name="object 5"/>
          <p:cNvSpPr/>
          <p:nvPr/>
        </p:nvSpPr>
        <p:spPr>
          <a:xfrm>
            <a:off x="228600" y="228599"/>
            <a:ext cx="7315200" cy="9601200"/>
          </a:xfrm>
          <a:custGeom>
            <a:avLst/>
            <a:gdLst/>
            <a:ahLst/>
            <a:cxnLst/>
            <a:rect l="l" t="t" r="r" b="b"/>
            <a:pathLst>
              <a:path w="7315200" h="9601200">
                <a:moveTo>
                  <a:pt x="7315200" y="12"/>
                </a:moveTo>
                <a:lnTo>
                  <a:pt x="7309104" y="12"/>
                </a:lnTo>
                <a:lnTo>
                  <a:pt x="7309104" y="6096"/>
                </a:lnTo>
                <a:lnTo>
                  <a:pt x="7309091" y="9595104"/>
                </a:lnTo>
                <a:lnTo>
                  <a:pt x="6083" y="9595104"/>
                </a:lnTo>
                <a:lnTo>
                  <a:pt x="6083" y="6096"/>
                </a:lnTo>
                <a:lnTo>
                  <a:pt x="7309091" y="6096"/>
                </a:lnTo>
                <a:lnTo>
                  <a:pt x="7309091" y="0"/>
                </a:lnTo>
                <a:lnTo>
                  <a:pt x="0" y="0"/>
                </a:lnTo>
                <a:lnTo>
                  <a:pt x="0" y="6096"/>
                </a:lnTo>
                <a:lnTo>
                  <a:pt x="0" y="9595104"/>
                </a:lnTo>
                <a:lnTo>
                  <a:pt x="0" y="9601200"/>
                </a:lnTo>
                <a:lnTo>
                  <a:pt x="7309091" y="9601200"/>
                </a:lnTo>
                <a:lnTo>
                  <a:pt x="7315200" y="9601200"/>
                </a:lnTo>
                <a:lnTo>
                  <a:pt x="7315200" y="9595104"/>
                </a:lnTo>
                <a:lnTo>
                  <a:pt x="7315200" y="6096"/>
                </a:lnTo>
                <a:lnTo>
                  <a:pt x="7315200" y="12"/>
                </a:lnTo>
                <a:close/>
              </a:path>
            </a:pathLst>
          </a:custGeom>
          <a:solidFill>
            <a:srgbClr val="000000"/>
          </a:solidFill>
        </p:spPr>
        <p:txBody>
          <a:bodyPr wrap="square" lIns="0" tIns="0" rIns="0" bIns="0" rtlCol="0"/>
          <a:lstStyle/>
          <a:p>
            <a:endParaRPr/>
          </a:p>
        </p:txBody>
      </p:sp>
      <p:sp>
        <p:nvSpPr>
          <p:cNvPr id="6" name="object 6"/>
          <p:cNvSpPr txBox="1">
            <a:spLocks noGrp="1"/>
          </p:cNvSpPr>
          <p:nvPr>
            <p:ph type="ftr" sz="quarter" idx="5"/>
          </p:nvPr>
        </p:nvSpPr>
        <p:spPr>
          <a:prstGeom prst="rect">
            <a:avLst/>
          </a:prstGeom>
        </p:spPr>
        <p:txBody>
          <a:bodyPr vert="horz" wrap="square" lIns="0" tIns="0" rIns="0" bIns="0" rtlCol="0">
            <a:spAutoFit/>
          </a:bodyPr>
          <a:lstStyle/>
          <a:p>
            <a:pPr marL="12700">
              <a:lnSpc>
                <a:spcPts val="1460"/>
              </a:lnSpc>
            </a:pPr>
            <a:r>
              <a:rPr dirty="0"/>
              <a:t>DEPARTMENT</a:t>
            </a:r>
            <a:r>
              <a:rPr spc="-30" dirty="0"/>
              <a:t> </a:t>
            </a:r>
            <a:r>
              <a:rPr dirty="0"/>
              <a:t>OF</a:t>
            </a:r>
            <a:r>
              <a:rPr spc="-40" dirty="0"/>
              <a:t> </a:t>
            </a:r>
            <a:r>
              <a:rPr dirty="0"/>
              <a:t>COMPUTER</a:t>
            </a:r>
            <a:r>
              <a:rPr spc="-45" dirty="0"/>
              <a:t> </a:t>
            </a:r>
            <a:r>
              <a:rPr spc="-10" dirty="0"/>
              <a:t>ENGINEERING,</a:t>
            </a:r>
            <a:r>
              <a:rPr spc="-45" dirty="0"/>
              <a:t> </a:t>
            </a:r>
            <a:r>
              <a:rPr dirty="0"/>
              <a:t>PESMCOE,</a:t>
            </a:r>
            <a:r>
              <a:rPr spc="-40" dirty="0"/>
              <a:t> </a:t>
            </a:r>
            <a:r>
              <a:rPr spc="-10" dirty="0"/>
              <a:t>PUNE:05</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651763" y="342692"/>
            <a:ext cx="184150" cy="215265"/>
          </a:xfrm>
          <a:prstGeom prst="rect">
            <a:avLst/>
          </a:prstGeom>
        </p:spPr>
        <p:txBody>
          <a:bodyPr vert="horz" wrap="square" lIns="0" tIns="12065" rIns="0" bIns="0" rtlCol="0">
            <a:spAutoFit/>
          </a:bodyPr>
          <a:lstStyle/>
          <a:p>
            <a:pPr marL="12700">
              <a:lnSpc>
                <a:spcPct val="100000"/>
              </a:lnSpc>
              <a:spcBef>
                <a:spcPts val="95"/>
              </a:spcBef>
            </a:pPr>
            <a:r>
              <a:rPr sz="1250" b="1" spc="-25" dirty="0">
                <a:solidFill>
                  <a:srgbClr val="FFFFFF"/>
                </a:solidFill>
                <a:latin typeface="Times New Roman"/>
                <a:cs typeface="Times New Roman"/>
              </a:rPr>
              <a:t>12</a:t>
            </a:r>
            <a:endParaRPr sz="1250">
              <a:latin typeface="Times New Roman"/>
              <a:cs typeface="Times New Roman"/>
            </a:endParaRPr>
          </a:p>
        </p:txBody>
      </p:sp>
      <p:sp>
        <p:nvSpPr>
          <p:cNvPr id="3" name="object 3"/>
          <p:cNvSpPr txBox="1"/>
          <p:nvPr/>
        </p:nvSpPr>
        <p:spPr>
          <a:xfrm>
            <a:off x="1773427" y="363967"/>
            <a:ext cx="4224655" cy="166071"/>
          </a:xfrm>
          <a:prstGeom prst="rect">
            <a:avLst/>
          </a:prstGeom>
        </p:spPr>
        <p:txBody>
          <a:bodyPr vert="horz" wrap="square" lIns="0" tIns="12065" rIns="0" bIns="0" rtlCol="0">
            <a:spAutoFit/>
          </a:bodyPr>
          <a:lstStyle/>
          <a:p>
            <a:pPr marL="12700">
              <a:lnSpc>
                <a:spcPct val="100000"/>
              </a:lnSpc>
              <a:spcBef>
                <a:spcPts val="95"/>
              </a:spcBef>
            </a:pPr>
            <a:r>
              <a:rPr lang="en-US" sz="1000" dirty="0">
                <a:latin typeface="Times New Roman"/>
                <a:cs typeface="Times New Roman"/>
              </a:rPr>
              <a:t>Performance Analysis of Single-Threaded and Multithreaded Merge Sort</a:t>
            </a:r>
            <a:endParaRPr sz="1000" dirty="0">
              <a:latin typeface="Times New Roman"/>
              <a:cs typeface="Times New Roman"/>
            </a:endParaRPr>
          </a:p>
        </p:txBody>
      </p:sp>
      <p:sp>
        <p:nvSpPr>
          <p:cNvPr id="4" name="object 4"/>
          <p:cNvSpPr txBox="1"/>
          <p:nvPr/>
        </p:nvSpPr>
        <p:spPr>
          <a:xfrm>
            <a:off x="1582927" y="6048644"/>
            <a:ext cx="5287645" cy="2310130"/>
          </a:xfrm>
          <a:prstGeom prst="rect">
            <a:avLst/>
          </a:prstGeom>
        </p:spPr>
        <p:txBody>
          <a:bodyPr vert="horz" wrap="square" lIns="0" tIns="137795" rIns="0" bIns="0" rtlCol="0">
            <a:spAutoFit/>
          </a:bodyPr>
          <a:lstStyle/>
          <a:p>
            <a:pPr marR="5080" algn="r">
              <a:lnSpc>
                <a:spcPct val="100000"/>
              </a:lnSpc>
              <a:spcBef>
                <a:spcPts val="1085"/>
              </a:spcBef>
            </a:pPr>
            <a:r>
              <a:rPr sz="4400" b="1" spc="-25" dirty="0">
                <a:latin typeface="Times New Roman"/>
                <a:cs typeface="Times New Roman"/>
              </a:rPr>
              <a:t>4.</a:t>
            </a:r>
            <a:endParaRPr sz="4400" dirty="0">
              <a:latin typeface="Times New Roman"/>
              <a:cs typeface="Times New Roman"/>
            </a:endParaRPr>
          </a:p>
          <a:p>
            <a:pPr marR="13335" algn="r">
              <a:lnSpc>
                <a:spcPct val="100000"/>
              </a:lnSpc>
              <a:spcBef>
                <a:spcPts val="980"/>
              </a:spcBef>
            </a:pPr>
            <a:r>
              <a:rPr sz="4400" b="1" dirty="0">
                <a:latin typeface="Times New Roman"/>
                <a:cs typeface="Times New Roman"/>
              </a:rPr>
              <a:t>Performance</a:t>
            </a:r>
            <a:r>
              <a:rPr sz="4400" b="1" spc="-140" dirty="0">
                <a:latin typeface="Times New Roman"/>
                <a:cs typeface="Times New Roman"/>
              </a:rPr>
              <a:t> </a:t>
            </a:r>
            <a:r>
              <a:rPr sz="4400" b="1" spc="-10" dirty="0">
                <a:latin typeface="Times New Roman"/>
                <a:cs typeface="Times New Roman"/>
              </a:rPr>
              <a:t>Analysis</a:t>
            </a:r>
            <a:endParaRPr sz="4400" dirty="0">
              <a:latin typeface="Times New Roman"/>
              <a:cs typeface="Times New Roman"/>
            </a:endParaRPr>
          </a:p>
          <a:p>
            <a:pPr marR="7620" algn="r">
              <a:lnSpc>
                <a:spcPct val="100000"/>
              </a:lnSpc>
              <a:spcBef>
                <a:spcPts val="180"/>
              </a:spcBef>
            </a:pPr>
            <a:r>
              <a:rPr sz="4400" b="1" dirty="0">
                <a:latin typeface="Times New Roman"/>
                <a:cs typeface="Times New Roman"/>
              </a:rPr>
              <a:t>and</a:t>
            </a:r>
            <a:r>
              <a:rPr sz="4400" b="1" spc="-80" dirty="0">
                <a:latin typeface="Times New Roman"/>
                <a:cs typeface="Times New Roman"/>
              </a:rPr>
              <a:t> </a:t>
            </a:r>
            <a:r>
              <a:rPr sz="4400" b="1" spc="-10" dirty="0">
                <a:latin typeface="Times New Roman"/>
                <a:cs typeface="Times New Roman"/>
              </a:rPr>
              <a:t>Results</a:t>
            </a:r>
            <a:endParaRPr sz="4400" dirty="0">
              <a:latin typeface="Times New Roman"/>
              <a:cs typeface="Times New Roman"/>
            </a:endParaRPr>
          </a:p>
        </p:txBody>
      </p:sp>
      <p:sp>
        <p:nvSpPr>
          <p:cNvPr id="5" name="object 5"/>
          <p:cNvSpPr/>
          <p:nvPr/>
        </p:nvSpPr>
        <p:spPr>
          <a:xfrm>
            <a:off x="228600" y="228599"/>
            <a:ext cx="7315200" cy="9601200"/>
          </a:xfrm>
          <a:custGeom>
            <a:avLst/>
            <a:gdLst/>
            <a:ahLst/>
            <a:cxnLst/>
            <a:rect l="l" t="t" r="r" b="b"/>
            <a:pathLst>
              <a:path w="7315200" h="9601200">
                <a:moveTo>
                  <a:pt x="7315200" y="12"/>
                </a:moveTo>
                <a:lnTo>
                  <a:pt x="7309104" y="12"/>
                </a:lnTo>
                <a:lnTo>
                  <a:pt x="7309104" y="6096"/>
                </a:lnTo>
                <a:lnTo>
                  <a:pt x="7309091" y="9595104"/>
                </a:lnTo>
                <a:lnTo>
                  <a:pt x="6083" y="9595104"/>
                </a:lnTo>
                <a:lnTo>
                  <a:pt x="6083" y="6096"/>
                </a:lnTo>
                <a:lnTo>
                  <a:pt x="7309091" y="6096"/>
                </a:lnTo>
                <a:lnTo>
                  <a:pt x="7309091" y="0"/>
                </a:lnTo>
                <a:lnTo>
                  <a:pt x="0" y="0"/>
                </a:lnTo>
                <a:lnTo>
                  <a:pt x="0" y="6096"/>
                </a:lnTo>
                <a:lnTo>
                  <a:pt x="0" y="9595104"/>
                </a:lnTo>
                <a:lnTo>
                  <a:pt x="0" y="9601200"/>
                </a:lnTo>
                <a:lnTo>
                  <a:pt x="7309091" y="9601200"/>
                </a:lnTo>
                <a:lnTo>
                  <a:pt x="7315200" y="9601200"/>
                </a:lnTo>
                <a:lnTo>
                  <a:pt x="7315200" y="9595104"/>
                </a:lnTo>
                <a:lnTo>
                  <a:pt x="7315200" y="6096"/>
                </a:lnTo>
                <a:lnTo>
                  <a:pt x="7315200" y="12"/>
                </a:lnTo>
                <a:close/>
              </a:path>
            </a:pathLst>
          </a:custGeom>
          <a:solidFill>
            <a:srgbClr val="000000"/>
          </a:solidFill>
        </p:spPr>
        <p:txBody>
          <a:bodyPr wrap="square" lIns="0" tIns="0" rIns="0" bIns="0" rtlCol="0"/>
          <a:lstStyle/>
          <a:p>
            <a:endParaRPr/>
          </a:p>
        </p:txBody>
      </p:sp>
      <p:sp>
        <p:nvSpPr>
          <p:cNvPr id="6" name="object 6"/>
          <p:cNvSpPr txBox="1">
            <a:spLocks noGrp="1"/>
          </p:cNvSpPr>
          <p:nvPr>
            <p:ph type="ftr" sz="quarter" idx="5"/>
          </p:nvPr>
        </p:nvSpPr>
        <p:spPr>
          <a:prstGeom prst="rect">
            <a:avLst/>
          </a:prstGeom>
        </p:spPr>
        <p:txBody>
          <a:bodyPr vert="horz" wrap="square" lIns="0" tIns="0" rIns="0" bIns="0" rtlCol="0">
            <a:spAutoFit/>
          </a:bodyPr>
          <a:lstStyle/>
          <a:p>
            <a:pPr marL="12700">
              <a:lnSpc>
                <a:spcPts val="1460"/>
              </a:lnSpc>
            </a:pPr>
            <a:r>
              <a:rPr dirty="0"/>
              <a:t>DEPARTMENT</a:t>
            </a:r>
            <a:r>
              <a:rPr spc="-30" dirty="0"/>
              <a:t> </a:t>
            </a:r>
            <a:r>
              <a:rPr dirty="0"/>
              <a:t>OF</a:t>
            </a:r>
            <a:r>
              <a:rPr spc="-40" dirty="0"/>
              <a:t> </a:t>
            </a:r>
            <a:r>
              <a:rPr dirty="0"/>
              <a:t>COMPUTER</a:t>
            </a:r>
            <a:r>
              <a:rPr spc="-45" dirty="0"/>
              <a:t> </a:t>
            </a:r>
            <a:r>
              <a:rPr spc="-10" dirty="0"/>
              <a:t>ENGINEERING,</a:t>
            </a:r>
            <a:r>
              <a:rPr spc="-45" dirty="0"/>
              <a:t> </a:t>
            </a:r>
            <a:r>
              <a:rPr dirty="0"/>
              <a:t>PESMCOE,</a:t>
            </a:r>
            <a:r>
              <a:rPr spc="-40" dirty="0"/>
              <a:t> </a:t>
            </a:r>
            <a:r>
              <a:rPr spc="-10" dirty="0"/>
              <a:t>PUNE:05</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651763" y="342692"/>
            <a:ext cx="184150" cy="215265"/>
          </a:xfrm>
          <a:prstGeom prst="rect">
            <a:avLst/>
          </a:prstGeom>
        </p:spPr>
        <p:txBody>
          <a:bodyPr vert="horz" wrap="square" lIns="0" tIns="12065" rIns="0" bIns="0" rtlCol="0">
            <a:spAutoFit/>
          </a:bodyPr>
          <a:lstStyle/>
          <a:p>
            <a:pPr marL="12700">
              <a:lnSpc>
                <a:spcPct val="100000"/>
              </a:lnSpc>
              <a:spcBef>
                <a:spcPts val="95"/>
              </a:spcBef>
            </a:pPr>
            <a:r>
              <a:rPr sz="1250" b="1" spc="-25" dirty="0">
                <a:solidFill>
                  <a:srgbClr val="FFFFFF"/>
                </a:solidFill>
                <a:latin typeface="Times New Roman"/>
                <a:cs typeface="Times New Roman"/>
              </a:rPr>
              <a:t>13</a:t>
            </a:r>
            <a:endParaRPr sz="1250">
              <a:latin typeface="Times New Roman"/>
              <a:cs typeface="Times New Roman"/>
            </a:endParaRPr>
          </a:p>
        </p:txBody>
      </p:sp>
      <p:sp>
        <p:nvSpPr>
          <p:cNvPr id="3" name="object 3"/>
          <p:cNvSpPr txBox="1"/>
          <p:nvPr/>
        </p:nvSpPr>
        <p:spPr>
          <a:xfrm>
            <a:off x="1773427" y="363967"/>
            <a:ext cx="4224655" cy="166071"/>
          </a:xfrm>
          <a:prstGeom prst="rect">
            <a:avLst/>
          </a:prstGeom>
        </p:spPr>
        <p:txBody>
          <a:bodyPr vert="horz" wrap="square" lIns="0" tIns="12065" rIns="0" bIns="0" rtlCol="0">
            <a:spAutoFit/>
          </a:bodyPr>
          <a:lstStyle/>
          <a:p>
            <a:pPr marL="12700">
              <a:lnSpc>
                <a:spcPct val="100000"/>
              </a:lnSpc>
              <a:spcBef>
                <a:spcPts val="95"/>
              </a:spcBef>
            </a:pPr>
            <a:r>
              <a:rPr lang="en-US" sz="1000" dirty="0">
                <a:latin typeface="Times New Roman"/>
                <a:cs typeface="Times New Roman"/>
              </a:rPr>
              <a:t>Performance Analysis of Single-Threaded and Multithreaded Merge Sort</a:t>
            </a:r>
            <a:endParaRPr sz="1000" dirty="0">
              <a:latin typeface="Times New Roman"/>
              <a:cs typeface="Times New Roman"/>
            </a:endParaRPr>
          </a:p>
        </p:txBody>
      </p:sp>
      <mc:AlternateContent xmlns:mc="http://schemas.openxmlformats.org/markup-compatibility/2006" xmlns:a14="http://schemas.microsoft.com/office/drawing/2010/main">
        <mc:Choice Requires="a14">
          <p:sp>
            <p:nvSpPr>
              <p:cNvPr id="4" name="object 4"/>
              <p:cNvSpPr txBox="1"/>
              <p:nvPr/>
            </p:nvSpPr>
            <p:spPr>
              <a:xfrm>
                <a:off x="901700" y="891343"/>
                <a:ext cx="5969635" cy="8410957"/>
              </a:xfrm>
              <a:prstGeom prst="rect">
                <a:avLst/>
              </a:prstGeom>
            </p:spPr>
            <p:txBody>
              <a:bodyPr vert="horz" wrap="square" lIns="0" tIns="11430" rIns="0" bIns="0" rtlCol="0">
                <a:spAutoFit/>
              </a:bodyPr>
              <a:lstStyle/>
              <a:p>
                <a:pPr algn="l"/>
                <a:r>
                  <a:rPr lang="en-IN" sz="1300" b="1" dirty="0">
                    <a:latin typeface="Times New Roman" panose="02020603050405020304" pitchFamily="18" charset="0"/>
                    <a:cs typeface="Times New Roman" panose="02020603050405020304" pitchFamily="18" charset="0"/>
                  </a:rPr>
                  <a:t>4.1 Comparative Analysis and Performance Evaluation</a:t>
                </a:r>
              </a:p>
              <a:p>
                <a:pPr algn="just"/>
                <a:endParaRPr lang="en-IN" sz="1300" b="1" dirty="0">
                  <a:latin typeface="Times New Roman" panose="02020603050405020304" pitchFamily="18" charset="0"/>
                  <a:cs typeface="Times New Roman" panose="02020603050405020304" pitchFamily="18" charset="0"/>
                </a:endParaRPr>
              </a:p>
              <a:p>
                <a:pPr algn="just"/>
                <a:r>
                  <a:rPr lang="en-IN" sz="1200" dirty="0">
                    <a:latin typeface="Times New Roman" panose="02020603050405020304" pitchFamily="18" charset="0"/>
                    <a:cs typeface="Times New Roman" panose="02020603050405020304" pitchFamily="18" charset="0"/>
                  </a:rPr>
                  <a:t>To evaluate the performance of the Merge Sort and Multithreaded Merge Sort algorithms, both implementations were benchmarked on datasets of varying sizes ranging from 1,000 to 1,000,000 elements. The objective was to </a:t>
                </a:r>
                <a:r>
                  <a:rPr lang="en-IN" sz="1200" dirty="0" err="1">
                    <a:latin typeface="Times New Roman" panose="02020603050405020304" pitchFamily="18" charset="0"/>
                    <a:cs typeface="Times New Roman" panose="02020603050405020304" pitchFamily="18" charset="0"/>
                  </a:rPr>
                  <a:t>analyze</a:t>
                </a:r>
                <a:r>
                  <a:rPr lang="en-IN" sz="1200" dirty="0">
                    <a:latin typeface="Times New Roman" panose="02020603050405020304" pitchFamily="18" charset="0"/>
                    <a:cs typeface="Times New Roman" panose="02020603050405020304" pitchFamily="18" charset="0"/>
                  </a:rPr>
                  <a:t> execution time, speedup, and efficiency for different input sizes, thereby identifying the advantages and limitations of parallelism in sorting operations.</a:t>
                </a:r>
              </a:p>
              <a:p>
                <a:pPr algn="just"/>
                <a:r>
                  <a:rPr lang="en-IN" sz="1200" dirty="0">
                    <a:latin typeface="Times New Roman" panose="02020603050405020304" pitchFamily="18" charset="0"/>
                    <a:cs typeface="Times New Roman" panose="02020603050405020304" pitchFamily="18" charset="0"/>
                  </a:rPr>
                  <a:t>Execution time (T) was measured using high-precision system timers, considering only the core sorting phase. The parallel version utilized multiple threads created using Python’s threading or </a:t>
                </a:r>
                <a:r>
                  <a:rPr lang="en-IN" sz="1200" dirty="0" err="1">
                    <a:latin typeface="Times New Roman" panose="02020603050405020304" pitchFamily="18" charset="0"/>
                    <a:cs typeface="Times New Roman" panose="02020603050405020304" pitchFamily="18" charset="0"/>
                  </a:rPr>
                  <a:t>concurrent.futures</a:t>
                </a:r>
                <a:r>
                  <a:rPr lang="en-IN" sz="1200" dirty="0">
                    <a:latin typeface="Times New Roman" panose="02020603050405020304" pitchFamily="18" charset="0"/>
                    <a:cs typeface="Times New Roman" panose="02020603050405020304" pitchFamily="18" charset="0"/>
                  </a:rPr>
                  <a:t> modules, depending on system capability. The number of threads was varied in proportion to the available CPU cores to observe the scalability trend.</a:t>
                </a:r>
              </a:p>
              <a:p>
                <a:pPr algn="just"/>
                <a:r>
                  <a:rPr lang="en-IN" sz="1200" dirty="0">
                    <a:latin typeface="Times New Roman" panose="02020603050405020304" pitchFamily="18" charset="0"/>
                    <a:cs typeface="Times New Roman" panose="02020603050405020304" pitchFamily="18" charset="0"/>
                  </a:rPr>
                  <a:t>Speedup (S) and Efficiency (E) were calculated as:</a:t>
                </a:r>
              </a:p>
              <a:p>
                <a:pPr algn="just"/>
                <a14:m>
                  <m:oMathPara xmlns:m="http://schemas.openxmlformats.org/officeDocument/2006/math">
                    <m:oMathParaPr>
                      <m:jc m:val="centerGroup"/>
                    </m:oMathParaPr>
                    <m:oMath xmlns:m="http://schemas.openxmlformats.org/officeDocument/2006/math">
                      <m:r>
                        <a:rPr lang="en-IN" sz="1200" i="1">
                          <a:latin typeface="Cambria Math" panose="02040503050406030204" pitchFamily="18" charset="0"/>
                        </a:rPr>
                        <m:t>𝑆</m:t>
                      </m:r>
                      <m:r>
                        <a:rPr lang="en-IN" sz="1200">
                          <a:latin typeface="Cambria Math" panose="02040503050406030204" pitchFamily="18" charset="0"/>
                        </a:rPr>
                        <m:t>=</m:t>
                      </m:r>
                      <m:f>
                        <m:fPr>
                          <m:ctrlPr>
                            <a:rPr lang="ar-AE" sz="1200" i="1">
                              <a:latin typeface="Cambria Math" panose="02040503050406030204" pitchFamily="18" charset="0"/>
                            </a:rPr>
                          </m:ctrlPr>
                        </m:fPr>
                        <m:num>
                          <m:sSub>
                            <m:sSubPr>
                              <m:ctrlPr>
                                <a:rPr lang="ar-AE" sz="1200" i="1">
                                  <a:latin typeface="Cambria Math" panose="02040503050406030204" pitchFamily="18" charset="0"/>
                                </a:rPr>
                              </m:ctrlPr>
                            </m:sSubPr>
                            <m:e>
                              <m:r>
                                <a:rPr lang="ar-AE" sz="1200" i="1">
                                  <a:latin typeface="Cambria Math" panose="02040503050406030204" pitchFamily="18" charset="0"/>
                                </a:rPr>
                                <m:t>𝑇</m:t>
                              </m:r>
                            </m:e>
                            <m:sub>
                              <m:r>
                                <a:rPr lang="ar-AE" sz="1200" i="1">
                                  <a:latin typeface="Cambria Math" panose="02040503050406030204" pitchFamily="18" charset="0"/>
                                </a:rPr>
                                <m:t>𝑠𝑒𝑞</m:t>
                              </m:r>
                            </m:sub>
                          </m:sSub>
                        </m:num>
                        <m:den>
                          <m:sSub>
                            <m:sSubPr>
                              <m:ctrlPr>
                                <a:rPr lang="ar-AE" sz="1200" i="1">
                                  <a:latin typeface="Cambria Math" panose="02040503050406030204" pitchFamily="18" charset="0"/>
                                </a:rPr>
                              </m:ctrlPr>
                            </m:sSubPr>
                            <m:e>
                              <m:r>
                                <a:rPr lang="ar-AE" sz="1200" i="1">
                                  <a:latin typeface="Cambria Math" panose="02040503050406030204" pitchFamily="18" charset="0"/>
                                </a:rPr>
                                <m:t>𝑇</m:t>
                              </m:r>
                            </m:e>
                            <m:sub>
                              <m:r>
                                <a:rPr lang="ar-AE" sz="1200" i="1">
                                  <a:latin typeface="Cambria Math" panose="02040503050406030204" pitchFamily="18" charset="0"/>
                                </a:rPr>
                                <m:t>𝑝𝑎𝑟𝑎𝑙𝑙𝑒𝑙</m:t>
                              </m:r>
                            </m:sub>
                          </m:sSub>
                        </m:den>
                      </m:f>
                      <m:r>
                        <a:rPr lang="ar-AE" sz="1200">
                          <a:latin typeface="Cambria Math" panose="02040503050406030204" pitchFamily="18" charset="0"/>
                        </a:rPr>
                        <m:t> </m:t>
                      </m:r>
                      <m:r>
                        <m:rPr>
                          <m:nor/>
                        </m:rPr>
                        <a:rPr lang="en-IN" sz="1200" i="1">
                          <a:latin typeface="Times New Roman" panose="02020603050405020304" pitchFamily="18" charset="0"/>
                          <a:cs typeface="Times New Roman" panose="02020603050405020304" pitchFamily="18" charset="0"/>
                        </a:rPr>
                        <m:t>and</m:t>
                      </m:r>
                      <m:r>
                        <a:rPr lang="en-IN" sz="1200">
                          <a:latin typeface="Cambria Math" panose="02040503050406030204" pitchFamily="18" charset="0"/>
                        </a:rPr>
                        <m:t> </m:t>
                      </m:r>
                      <m:r>
                        <a:rPr lang="en-IN" sz="1200" i="1">
                          <a:latin typeface="Cambria Math" panose="02040503050406030204" pitchFamily="18" charset="0"/>
                        </a:rPr>
                        <m:t>𝐸</m:t>
                      </m:r>
                      <m:r>
                        <a:rPr lang="en-IN" sz="1200">
                          <a:latin typeface="Cambria Math" panose="02040503050406030204" pitchFamily="18" charset="0"/>
                        </a:rPr>
                        <m:t>=</m:t>
                      </m:r>
                      <m:f>
                        <m:fPr>
                          <m:ctrlPr>
                            <a:rPr lang="ar-AE" sz="1200" i="1">
                              <a:latin typeface="Cambria Math" panose="02040503050406030204" pitchFamily="18" charset="0"/>
                            </a:rPr>
                          </m:ctrlPr>
                        </m:fPr>
                        <m:num>
                          <m:r>
                            <a:rPr lang="ar-AE" sz="1200" i="1">
                              <a:latin typeface="Cambria Math" panose="02040503050406030204" pitchFamily="18" charset="0"/>
                            </a:rPr>
                            <m:t>𝑆</m:t>
                          </m:r>
                        </m:num>
                        <m:den>
                          <m:sSub>
                            <m:sSubPr>
                              <m:ctrlPr>
                                <a:rPr lang="ar-AE" sz="1200" i="1">
                                  <a:latin typeface="Cambria Math" panose="02040503050406030204" pitchFamily="18" charset="0"/>
                                </a:rPr>
                              </m:ctrlPr>
                            </m:sSubPr>
                            <m:e>
                              <m:r>
                                <a:rPr lang="ar-AE" sz="1200" i="1">
                                  <a:latin typeface="Cambria Math" panose="02040503050406030204" pitchFamily="18" charset="0"/>
                                </a:rPr>
                                <m:t>𝑁</m:t>
                              </m:r>
                            </m:e>
                            <m:sub>
                              <m:r>
                                <a:rPr lang="ar-AE" sz="1200" i="1">
                                  <a:latin typeface="Cambria Math" panose="02040503050406030204" pitchFamily="18" charset="0"/>
                                </a:rPr>
                                <m:t>𝑡</m:t>
                              </m:r>
                              <m:r>
                                <a:rPr lang="ar-AE" sz="1200" i="1">
                                  <a:latin typeface="Cambria Math" panose="02040503050406030204" pitchFamily="18" charset="0"/>
                                </a:rPr>
                                <m:t>h</m:t>
                              </m:r>
                              <m:r>
                                <a:rPr lang="ar-AE" sz="1200" i="1">
                                  <a:latin typeface="Cambria Math" panose="02040503050406030204" pitchFamily="18" charset="0"/>
                                </a:rPr>
                                <m:t>𝑟𝑒𝑎𝑑𝑠</m:t>
                              </m:r>
                            </m:sub>
                          </m:sSub>
                        </m:den>
                      </m:f>
                    </m:oMath>
                  </m:oMathPara>
                </a14:m>
                <a:endParaRPr lang="ar-AE" sz="1200" b="0" dirty="0">
                  <a:latin typeface="Times New Roman" panose="02020603050405020304" pitchFamily="18" charset="0"/>
                  <a:cs typeface="Times New Roman" panose="02020603050405020304" pitchFamily="18" charset="0"/>
                </a:endParaRPr>
              </a:p>
              <a:p>
                <a:pPr algn="just"/>
                <a:r>
                  <a:rPr lang="en-IN" sz="1200" dirty="0">
                    <a:latin typeface="Times New Roman" panose="02020603050405020304" pitchFamily="18" charset="0"/>
                    <a:cs typeface="Times New Roman" panose="02020603050405020304" pitchFamily="18" charset="0"/>
                  </a:rPr>
                  <a:t>where </a:t>
                </a:r>
                <a14:m>
                  <m:oMath xmlns:m="http://schemas.openxmlformats.org/officeDocument/2006/math">
                    <m:sSub>
                      <m:sSubPr>
                        <m:ctrlPr>
                          <a:rPr lang="ar-AE" sz="1200" i="1">
                            <a:latin typeface="Cambria Math" panose="02040503050406030204" pitchFamily="18" charset="0"/>
                          </a:rPr>
                        </m:ctrlPr>
                      </m:sSubPr>
                      <m:e>
                        <m:r>
                          <a:rPr lang="ar-AE" sz="1200" i="1">
                            <a:latin typeface="Cambria Math" panose="02040503050406030204" pitchFamily="18" charset="0"/>
                          </a:rPr>
                          <m:t>𝑇</m:t>
                        </m:r>
                      </m:e>
                      <m:sub>
                        <m:r>
                          <a:rPr lang="ar-AE" sz="1200" i="1">
                            <a:latin typeface="Cambria Math" panose="02040503050406030204" pitchFamily="18" charset="0"/>
                          </a:rPr>
                          <m:t>𝑠𝑒𝑞</m:t>
                        </m:r>
                      </m:sub>
                    </m:sSub>
                  </m:oMath>
                </a14:m>
                <a:r>
                  <a:rPr lang="en-IN" sz="1200" dirty="0">
                    <a:latin typeface="Times New Roman" panose="02020603050405020304" pitchFamily="18" charset="0"/>
                    <a:cs typeface="Times New Roman" panose="02020603050405020304" pitchFamily="18" charset="0"/>
                  </a:rPr>
                  <a:t>is the execution time of sequential merge sort, </a:t>
                </a:r>
                <a14:m>
                  <m:oMath xmlns:m="http://schemas.openxmlformats.org/officeDocument/2006/math">
                    <m:sSub>
                      <m:sSubPr>
                        <m:ctrlPr>
                          <a:rPr lang="ar-AE" sz="1200" i="1">
                            <a:latin typeface="Cambria Math" panose="02040503050406030204" pitchFamily="18" charset="0"/>
                          </a:rPr>
                        </m:ctrlPr>
                      </m:sSubPr>
                      <m:e>
                        <m:r>
                          <a:rPr lang="ar-AE" sz="1200" i="1">
                            <a:latin typeface="Cambria Math" panose="02040503050406030204" pitchFamily="18" charset="0"/>
                          </a:rPr>
                          <m:t>𝑇</m:t>
                        </m:r>
                      </m:e>
                      <m:sub>
                        <m:r>
                          <a:rPr lang="ar-AE" sz="1200" i="1">
                            <a:latin typeface="Cambria Math" panose="02040503050406030204" pitchFamily="18" charset="0"/>
                          </a:rPr>
                          <m:t>𝑝𝑎𝑟𝑎𝑙𝑙𝑒𝑙</m:t>
                        </m:r>
                      </m:sub>
                    </m:sSub>
                  </m:oMath>
                </a14:m>
                <a:r>
                  <a:rPr lang="en-IN" sz="1200" dirty="0">
                    <a:latin typeface="Times New Roman" panose="02020603050405020304" pitchFamily="18" charset="0"/>
                    <a:cs typeface="Times New Roman" panose="02020603050405020304" pitchFamily="18" charset="0"/>
                  </a:rPr>
                  <a:t>is that of the multithreaded merge sort, and </a:t>
                </a:r>
                <a14:m>
                  <m:oMath xmlns:m="http://schemas.openxmlformats.org/officeDocument/2006/math">
                    <m:sSub>
                      <m:sSubPr>
                        <m:ctrlPr>
                          <a:rPr lang="ar-AE" sz="1200" i="1">
                            <a:latin typeface="Cambria Math" panose="02040503050406030204" pitchFamily="18" charset="0"/>
                          </a:rPr>
                        </m:ctrlPr>
                      </m:sSubPr>
                      <m:e>
                        <m:r>
                          <a:rPr lang="ar-AE" sz="1200" i="1">
                            <a:latin typeface="Cambria Math" panose="02040503050406030204" pitchFamily="18" charset="0"/>
                          </a:rPr>
                          <m:t>𝑁</m:t>
                        </m:r>
                      </m:e>
                      <m:sub>
                        <m:r>
                          <a:rPr lang="ar-AE" sz="1200" i="1">
                            <a:latin typeface="Cambria Math" panose="02040503050406030204" pitchFamily="18" charset="0"/>
                          </a:rPr>
                          <m:t>𝑡</m:t>
                        </m:r>
                        <m:r>
                          <a:rPr lang="ar-AE" sz="1200" i="1">
                            <a:latin typeface="Cambria Math" panose="02040503050406030204" pitchFamily="18" charset="0"/>
                          </a:rPr>
                          <m:t>h</m:t>
                        </m:r>
                        <m:r>
                          <a:rPr lang="ar-AE" sz="1200" i="1">
                            <a:latin typeface="Cambria Math" panose="02040503050406030204" pitchFamily="18" charset="0"/>
                          </a:rPr>
                          <m:t>𝑟𝑒𝑎𝑑𝑠</m:t>
                        </m:r>
                      </m:sub>
                    </m:sSub>
                  </m:oMath>
                </a14:m>
                <a:r>
                  <a:rPr lang="en-IN" sz="1200" dirty="0">
                    <a:latin typeface="Times New Roman" panose="02020603050405020304" pitchFamily="18" charset="0"/>
                    <a:cs typeface="Times New Roman" panose="02020603050405020304" pitchFamily="18" charset="0"/>
                  </a:rPr>
                  <a:t>is the number of CPU cores used.</a:t>
                </a:r>
              </a:p>
              <a:p>
                <a:pPr algn="l"/>
                <a:endParaRPr lang="en-IN" sz="1200" dirty="0">
                  <a:latin typeface="Times New Roman" panose="02020603050405020304" pitchFamily="18" charset="0"/>
                  <a:cs typeface="Times New Roman" panose="02020603050405020304" pitchFamily="18" charset="0"/>
                </a:endParaRPr>
              </a:p>
              <a:p>
                <a:pPr algn="l"/>
                <a:r>
                  <a:rPr lang="en-IN" sz="1300" b="1" dirty="0">
                    <a:latin typeface="Times New Roman" panose="02020603050405020304" pitchFamily="18" charset="0"/>
                    <a:cs typeface="Times New Roman" panose="02020603050405020304" pitchFamily="18" charset="0"/>
                  </a:rPr>
                  <a:t>4.1.1 Observed Performance Trends</a:t>
                </a:r>
              </a:p>
              <a:p>
                <a:pPr algn="l"/>
                <a:endParaRPr lang="en-IN" sz="1200" b="1" dirty="0">
                  <a:latin typeface="Times New Roman" panose="02020603050405020304" pitchFamily="18" charset="0"/>
                  <a:cs typeface="Times New Roman" panose="02020603050405020304" pitchFamily="18" charset="0"/>
                </a:endParaRPr>
              </a:p>
              <a:p>
                <a:pPr algn="l"/>
                <a:r>
                  <a:rPr lang="en-IN" sz="1200" b="1" dirty="0">
                    <a:latin typeface="Times New Roman" panose="02020603050405020304" pitchFamily="18" charset="0"/>
                    <a:cs typeface="Times New Roman" panose="02020603050405020304" pitchFamily="18" charset="0"/>
                  </a:rPr>
                  <a:t>Sequential Merge Sort:</a:t>
                </a:r>
                <a:br>
                  <a:rPr lang="en-IN" sz="1200" dirty="0">
                    <a:latin typeface="Times New Roman" panose="02020603050405020304" pitchFamily="18" charset="0"/>
                    <a:cs typeface="Times New Roman" panose="02020603050405020304" pitchFamily="18" charset="0"/>
                  </a:rPr>
                </a:br>
                <a:r>
                  <a:rPr lang="en-IN" sz="1200" dirty="0">
                    <a:latin typeface="Times New Roman" panose="02020603050405020304" pitchFamily="18" charset="0"/>
                    <a:cs typeface="Times New Roman" panose="02020603050405020304" pitchFamily="18" charset="0"/>
                  </a:rPr>
                  <a:t>The sequential implementation showed consistent performance across all dataset sizes, scaling approximately with </a:t>
                </a:r>
                <a14:m>
                  <m:oMath xmlns:m="http://schemas.openxmlformats.org/officeDocument/2006/math">
                    <m:r>
                      <a:rPr lang="en-IN" sz="1200" i="1">
                        <a:latin typeface="Cambria Math" panose="02040503050406030204" pitchFamily="18" charset="0"/>
                      </a:rPr>
                      <m:t>𝑂</m:t>
                    </m:r>
                    <m:d>
                      <m:dPr>
                        <m:ctrlPr>
                          <a:rPr lang="ar-AE" sz="1200" i="1">
                            <a:latin typeface="Cambria Math" panose="02040503050406030204" pitchFamily="18" charset="0"/>
                          </a:rPr>
                        </m:ctrlPr>
                      </m:dPr>
                      <m:e>
                        <m:r>
                          <a:rPr lang="ar-AE" sz="1200" i="1">
                            <a:latin typeface="Cambria Math" panose="02040503050406030204" pitchFamily="18" charset="0"/>
                          </a:rPr>
                          <m:t>𝑛</m:t>
                        </m:r>
                        <m:func>
                          <m:funcPr>
                            <m:ctrlPr>
                              <a:rPr lang="ar-AE" sz="1200" i="1">
                                <a:latin typeface="Cambria Math" panose="02040503050406030204" pitchFamily="18" charset="0"/>
                              </a:rPr>
                            </m:ctrlPr>
                          </m:funcPr>
                          <m:fName>
                            <m:r>
                              <m:rPr>
                                <m:sty m:val="p"/>
                              </m:rPr>
                              <a:rPr lang="en-IN" sz="1200">
                                <a:latin typeface="Cambria Math" panose="02040503050406030204" pitchFamily="18" charset="0"/>
                              </a:rPr>
                              <m:t>log</m:t>
                            </m:r>
                          </m:fName>
                          <m:e>
                            <m:r>
                              <a:rPr lang="ar-AE" sz="1200" i="1">
                                <a:latin typeface="Cambria Math" panose="02040503050406030204" pitchFamily="18" charset="0"/>
                              </a:rPr>
                              <m:t>𝑛</m:t>
                            </m:r>
                          </m:e>
                        </m:func>
                      </m:e>
                    </m:d>
                  </m:oMath>
                </a14:m>
                <a:r>
                  <a:rPr lang="en-IN" sz="1200" dirty="0">
                    <a:latin typeface="Times New Roman" panose="02020603050405020304" pitchFamily="18" charset="0"/>
                    <a:cs typeface="Times New Roman" panose="02020603050405020304" pitchFamily="18" charset="0"/>
                  </a:rPr>
                  <a:t>complexity. For smaller datasets (less than 10,000 elements), the sequential version outperformed the multithreaded one because thread creation and synchronization overhead outweighed the benefits of parallelism. As the input size increased, the sequential execution time grew linearly with respect to the logarithmic factor of input size, demonstrating predictable CPU-bound </a:t>
                </a:r>
                <a:r>
                  <a:rPr lang="en-IN" sz="1200" dirty="0" err="1">
                    <a:latin typeface="Times New Roman" panose="02020603050405020304" pitchFamily="18" charset="0"/>
                    <a:cs typeface="Times New Roman" panose="02020603050405020304" pitchFamily="18" charset="0"/>
                  </a:rPr>
                  <a:t>behavior</a:t>
                </a:r>
                <a:r>
                  <a:rPr lang="en-IN" sz="1200" dirty="0">
                    <a:latin typeface="Times New Roman" panose="02020603050405020304" pitchFamily="18" charset="0"/>
                    <a:cs typeface="Times New Roman" panose="02020603050405020304" pitchFamily="18" charset="0"/>
                  </a:rPr>
                  <a:t>.</a:t>
                </a:r>
              </a:p>
              <a:p>
                <a:pPr algn="l"/>
                <a:endParaRPr lang="en-IN" sz="1200" dirty="0">
                  <a:latin typeface="Times New Roman" panose="02020603050405020304" pitchFamily="18" charset="0"/>
                  <a:cs typeface="Times New Roman" panose="02020603050405020304" pitchFamily="18" charset="0"/>
                </a:endParaRPr>
              </a:p>
              <a:p>
                <a:pPr algn="l"/>
                <a:r>
                  <a:rPr lang="en-IN" sz="1200" b="1" dirty="0">
                    <a:latin typeface="Times New Roman" panose="02020603050405020304" pitchFamily="18" charset="0"/>
                    <a:cs typeface="Times New Roman" panose="02020603050405020304" pitchFamily="18" charset="0"/>
                  </a:rPr>
                  <a:t>Multithreaded Merge Sort:</a:t>
                </a:r>
                <a:br>
                  <a:rPr lang="en-IN" sz="1200" dirty="0">
                    <a:latin typeface="Times New Roman" panose="02020603050405020304" pitchFamily="18" charset="0"/>
                    <a:cs typeface="Times New Roman" panose="02020603050405020304" pitchFamily="18" charset="0"/>
                  </a:rPr>
                </a:br>
                <a:r>
                  <a:rPr lang="en-IN" sz="1200" dirty="0">
                    <a:latin typeface="Times New Roman" panose="02020603050405020304" pitchFamily="18" charset="0"/>
                    <a:cs typeface="Times New Roman" panose="02020603050405020304" pitchFamily="18" charset="0"/>
                  </a:rPr>
                  <a:t>The multithreaded version exhibited significant speedup for larger datasets (above 50,000 elements), where parallel merging effectively utilized multiple cores. The maximum observed speedup was approximately 3.5× on a quad-core CPU and 6× on an octa-core system. However, performance saturated beyond a certain thread count due to synchronization overhead and cache contention. For smaller datasets, thread management overhead caused minor slowdowns compared to the sequential version.</a:t>
                </a:r>
              </a:p>
              <a:p>
                <a:pPr algn="l"/>
                <a:endParaRPr lang="en-IN" sz="1200" dirty="0">
                  <a:latin typeface="Times New Roman" panose="02020603050405020304" pitchFamily="18" charset="0"/>
                  <a:cs typeface="Times New Roman" panose="02020603050405020304" pitchFamily="18" charset="0"/>
                </a:endParaRPr>
              </a:p>
              <a:p>
                <a:r>
                  <a:rPr lang="en-US" sz="1300" b="1" dirty="0">
                    <a:latin typeface="Times New Roman" panose="02020603050405020304" pitchFamily="18" charset="0"/>
                    <a:cs typeface="Times New Roman" panose="02020603050405020304" pitchFamily="18" charset="0"/>
                  </a:rPr>
                  <a:t>4.1.2 Crossover Point Analysis</a:t>
                </a:r>
              </a:p>
              <a:p>
                <a:endParaRPr lang="en-US" sz="1300" b="1" dirty="0">
                  <a:latin typeface="Times New Roman" panose="02020603050405020304" pitchFamily="18" charset="0"/>
                  <a:cs typeface="Times New Roman" panose="02020603050405020304" pitchFamily="18" charset="0"/>
                </a:endParaRPr>
              </a:p>
              <a:p>
                <a:r>
                  <a:rPr lang="en-US" sz="1200" dirty="0">
                    <a:latin typeface="Times New Roman" panose="02020603050405020304" pitchFamily="18" charset="0"/>
                    <a:cs typeface="Times New Roman" panose="02020603050405020304" pitchFamily="18" charset="0"/>
                  </a:rPr>
                  <a:t>The crossover point refers to the dataset size beyond which the multithreaded merge sort consistently outperforms the sequential implementation. Experimental results indicate that the crossover occurs between 20,000 and 50,000 elements. Below this range, the cost of thread creation and inter-thread communication negates performance gains. Beyond this point, multithreaded sorting achieves superior performance as threads efficiently divide and conquer larger chunks of data in parallel, reducing overall sorting time.</a:t>
                </a:r>
              </a:p>
              <a:p>
                <a:pPr algn="l"/>
                <a:endParaRPr lang="en-IN" sz="1200" dirty="0">
                  <a:latin typeface="Times New Roman" panose="02020603050405020304" pitchFamily="18" charset="0"/>
                  <a:cs typeface="Times New Roman" panose="02020603050405020304" pitchFamily="18" charset="0"/>
                </a:endParaRPr>
              </a:p>
              <a:p>
                <a:pPr algn="l"/>
                <a:endParaRPr lang="en-IN" sz="1200" dirty="0">
                  <a:latin typeface="Times New Roman" panose="02020603050405020304" pitchFamily="18" charset="0"/>
                  <a:cs typeface="Times New Roman" panose="02020603050405020304" pitchFamily="18" charset="0"/>
                </a:endParaRPr>
              </a:p>
            </p:txBody>
          </p:sp>
        </mc:Choice>
        <mc:Fallback xmlns="">
          <p:sp>
            <p:nvSpPr>
              <p:cNvPr id="4" name="object 4"/>
              <p:cNvSpPr txBox="1">
                <a:spLocks noRot="1" noChangeAspect="1" noMove="1" noResize="1" noEditPoints="1" noAdjustHandles="1" noChangeArrowheads="1" noChangeShapeType="1" noTextEdit="1"/>
              </p:cNvSpPr>
              <p:nvPr/>
            </p:nvSpPr>
            <p:spPr>
              <a:xfrm>
                <a:off x="901700" y="891343"/>
                <a:ext cx="5969635" cy="8410957"/>
              </a:xfrm>
              <a:prstGeom prst="rect">
                <a:avLst/>
              </a:prstGeom>
              <a:blipFill>
                <a:blip r:embed="rId2"/>
                <a:stretch>
                  <a:fillRect l="-1736" t="-435" r="-1634"/>
                </a:stretch>
              </a:blipFill>
            </p:spPr>
            <p:txBody>
              <a:bodyPr/>
              <a:lstStyle/>
              <a:p>
                <a:r>
                  <a:rPr lang="en-IN">
                    <a:noFill/>
                  </a:rPr>
                  <a:t> </a:t>
                </a:r>
              </a:p>
            </p:txBody>
          </p:sp>
        </mc:Fallback>
      </mc:AlternateContent>
      <p:sp>
        <p:nvSpPr>
          <p:cNvPr id="5" name="object 5"/>
          <p:cNvSpPr/>
          <p:nvPr/>
        </p:nvSpPr>
        <p:spPr>
          <a:xfrm>
            <a:off x="228600" y="228599"/>
            <a:ext cx="7315200" cy="9601200"/>
          </a:xfrm>
          <a:custGeom>
            <a:avLst/>
            <a:gdLst/>
            <a:ahLst/>
            <a:cxnLst/>
            <a:rect l="l" t="t" r="r" b="b"/>
            <a:pathLst>
              <a:path w="7315200" h="9601200">
                <a:moveTo>
                  <a:pt x="7315200" y="12"/>
                </a:moveTo>
                <a:lnTo>
                  <a:pt x="7309104" y="12"/>
                </a:lnTo>
                <a:lnTo>
                  <a:pt x="7309104" y="6096"/>
                </a:lnTo>
                <a:lnTo>
                  <a:pt x="7309091" y="9595104"/>
                </a:lnTo>
                <a:lnTo>
                  <a:pt x="6083" y="9595104"/>
                </a:lnTo>
                <a:lnTo>
                  <a:pt x="6083" y="6096"/>
                </a:lnTo>
                <a:lnTo>
                  <a:pt x="7309091" y="6096"/>
                </a:lnTo>
                <a:lnTo>
                  <a:pt x="7309091" y="0"/>
                </a:lnTo>
                <a:lnTo>
                  <a:pt x="0" y="0"/>
                </a:lnTo>
                <a:lnTo>
                  <a:pt x="0" y="6096"/>
                </a:lnTo>
                <a:lnTo>
                  <a:pt x="0" y="9595104"/>
                </a:lnTo>
                <a:lnTo>
                  <a:pt x="0" y="9601200"/>
                </a:lnTo>
                <a:lnTo>
                  <a:pt x="7309091" y="9601200"/>
                </a:lnTo>
                <a:lnTo>
                  <a:pt x="7315200" y="9601200"/>
                </a:lnTo>
                <a:lnTo>
                  <a:pt x="7315200" y="9595104"/>
                </a:lnTo>
                <a:lnTo>
                  <a:pt x="7315200" y="6096"/>
                </a:lnTo>
                <a:lnTo>
                  <a:pt x="7315200" y="12"/>
                </a:lnTo>
                <a:close/>
              </a:path>
            </a:pathLst>
          </a:custGeom>
          <a:solidFill>
            <a:srgbClr val="000000"/>
          </a:solidFill>
        </p:spPr>
        <p:txBody>
          <a:bodyPr wrap="square" lIns="0" tIns="0" rIns="0" bIns="0" rtlCol="0"/>
          <a:lstStyle/>
          <a:p>
            <a:endParaRPr/>
          </a:p>
        </p:txBody>
      </p:sp>
      <p:sp>
        <p:nvSpPr>
          <p:cNvPr id="6" name="object 6"/>
          <p:cNvSpPr txBox="1">
            <a:spLocks noGrp="1"/>
          </p:cNvSpPr>
          <p:nvPr>
            <p:ph type="ftr" sz="quarter" idx="5"/>
          </p:nvPr>
        </p:nvSpPr>
        <p:spPr>
          <a:prstGeom prst="rect">
            <a:avLst/>
          </a:prstGeom>
        </p:spPr>
        <p:txBody>
          <a:bodyPr vert="horz" wrap="square" lIns="0" tIns="0" rIns="0" bIns="0" rtlCol="0">
            <a:spAutoFit/>
          </a:bodyPr>
          <a:lstStyle/>
          <a:p>
            <a:pPr marL="12700">
              <a:lnSpc>
                <a:spcPts val="1460"/>
              </a:lnSpc>
            </a:pPr>
            <a:r>
              <a:rPr dirty="0"/>
              <a:t>DEPARTMENT</a:t>
            </a:r>
            <a:r>
              <a:rPr spc="-30" dirty="0"/>
              <a:t> </a:t>
            </a:r>
            <a:r>
              <a:rPr dirty="0"/>
              <a:t>OF</a:t>
            </a:r>
            <a:r>
              <a:rPr spc="-40" dirty="0"/>
              <a:t> </a:t>
            </a:r>
            <a:r>
              <a:rPr dirty="0"/>
              <a:t>COMPUTER</a:t>
            </a:r>
            <a:r>
              <a:rPr spc="-45" dirty="0"/>
              <a:t> </a:t>
            </a:r>
            <a:r>
              <a:rPr spc="-10" dirty="0"/>
              <a:t>ENGINEERING,</a:t>
            </a:r>
            <a:r>
              <a:rPr spc="-45" dirty="0"/>
              <a:t> </a:t>
            </a:r>
            <a:r>
              <a:rPr dirty="0"/>
              <a:t>PESMCOE,</a:t>
            </a:r>
            <a:r>
              <a:rPr spc="-40" dirty="0"/>
              <a:t> </a:t>
            </a:r>
            <a:r>
              <a:rPr spc="-10" dirty="0"/>
              <a:t>PUNE:05</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651763" y="342692"/>
            <a:ext cx="184150" cy="215265"/>
          </a:xfrm>
          <a:prstGeom prst="rect">
            <a:avLst/>
          </a:prstGeom>
        </p:spPr>
        <p:txBody>
          <a:bodyPr vert="horz" wrap="square" lIns="0" tIns="12065" rIns="0" bIns="0" rtlCol="0">
            <a:spAutoFit/>
          </a:bodyPr>
          <a:lstStyle/>
          <a:p>
            <a:pPr marL="12700">
              <a:lnSpc>
                <a:spcPct val="100000"/>
              </a:lnSpc>
              <a:spcBef>
                <a:spcPts val="95"/>
              </a:spcBef>
            </a:pPr>
            <a:r>
              <a:rPr sz="1250" b="1" spc="-25" dirty="0">
                <a:solidFill>
                  <a:srgbClr val="FFFFFF"/>
                </a:solidFill>
                <a:latin typeface="Times New Roman"/>
                <a:cs typeface="Times New Roman"/>
              </a:rPr>
              <a:t>14</a:t>
            </a:r>
            <a:endParaRPr sz="1250">
              <a:latin typeface="Times New Roman"/>
              <a:cs typeface="Times New Roman"/>
            </a:endParaRPr>
          </a:p>
        </p:txBody>
      </p:sp>
      <p:sp>
        <p:nvSpPr>
          <p:cNvPr id="3" name="object 3"/>
          <p:cNvSpPr txBox="1"/>
          <p:nvPr/>
        </p:nvSpPr>
        <p:spPr>
          <a:xfrm>
            <a:off x="1773427" y="363967"/>
            <a:ext cx="4224655" cy="166071"/>
          </a:xfrm>
          <a:prstGeom prst="rect">
            <a:avLst/>
          </a:prstGeom>
        </p:spPr>
        <p:txBody>
          <a:bodyPr vert="horz" wrap="square" lIns="0" tIns="12065" rIns="0" bIns="0" rtlCol="0">
            <a:spAutoFit/>
          </a:bodyPr>
          <a:lstStyle/>
          <a:p>
            <a:pPr marL="12700">
              <a:lnSpc>
                <a:spcPct val="100000"/>
              </a:lnSpc>
              <a:spcBef>
                <a:spcPts val="95"/>
              </a:spcBef>
            </a:pPr>
            <a:r>
              <a:rPr lang="en-US" sz="1000" dirty="0">
                <a:latin typeface="Times New Roman"/>
                <a:cs typeface="Times New Roman"/>
              </a:rPr>
              <a:t>Performance Analysis of Single-Threaded and Multithreaded Merge Sort</a:t>
            </a:r>
            <a:endParaRPr sz="1000" dirty="0">
              <a:latin typeface="Times New Roman"/>
              <a:cs typeface="Times New Roman"/>
            </a:endParaRPr>
          </a:p>
        </p:txBody>
      </p:sp>
      <mc:AlternateContent xmlns:mc="http://schemas.openxmlformats.org/markup-compatibility/2006" xmlns:a14="http://schemas.microsoft.com/office/drawing/2010/main">
        <mc:Choice Requires="a14">
          <p:sp>
            <p:nvSpPr>
              <p:cNvPr id="4" name="object 4"/>
              <p:cNvSpPr txBox="1"/>
              <p:nvPr/>
            </p:nvSpPr>
            <p:spPr>
              <a:xfrm>
                <a:off x="1130300" y="891320"/>
                <a:ext cx="5739765" cy="6183103"/>
              </a:xfrm>
              <a:prstGeom prst="rect">
                <a:avLst/>
              </a:prstGeom>
            </p:spPr>
            <p:txBody>
              <a:bodyPr vert="horz" wrap="square" lIns="0" tIns="12065" rIns="0" bIns="0" rtlCol="0">
                <a:spAutoFit/>
              </a:bodyPr>
              <a:lstStyle/>
              <a:p>
                <a:r>
                  <a:rPr lang="en-IN" sz="1300" b="1" dirty="0">
                    <a:latin typeface="Times New Roman" panose="02020603050405020304" pitchFamily="18" charset="0"/>
                    <a:cs typeface="Times New Roman" panose="02020603050405020304" pitchFamily="18" charset="0"/>
                  </a:rPr>
                  <a:t>4.1.3 Comparative Insights</a:t>
                </a:r>
              </a:p>
              <a:p>
                <a:endParaRPr lang="en-IN" sz="1300" b="1" dirty="0">
                  <a:latin typeface="Times New Roman" panose="02020603050405020304" pitchFamily="18" charset="0"/>
                  <a:cs typeface="Times New Roman" panose="02020603050405020304" pitchFamily="18" charset="0"/>
                </a:endParaRPr>
              </a:p>
              <a:p>
                <a:r>
                  <a:rPr lang="en-IN" sz="1200" b="1" dirty="0">
                    <a:latin typeface="Times New Roman" panose="02020603050405020304" pitchFamily="18" charset="0"/>
                    <a:cs typeface="Times New Roman" panose="02020603050405020304" pitchFamily="18" charset="0"/>
                  </a:rPr>
                  <a:t>Algorithmic Complexity:</a:t>
                </a:r>
                <a:br>
                  <a:rPr lang="en-IN" sz="1200" dirty="0">
                    <a:latin typeface="Times New Roman" panose="02020603050405020304" pitchFamily="18" charset="0"/>
                    <a:cs typeface="Times New Roman" panose="02020603050405020304" pitchFamily="18" charset="0"/>
                  </a:rPr>
                </a:br>
                <a:r>
                  <a:rPr lang="en-IN" sz="1200" dirty="0">
                    <a:latin typeface="Times New Roman" panose="02020603050405020304" pitchFamily="18" charset="0"/>
                    <a:cs typeface="Times New Roman" panose="02020603050405020304" pitchFamily="18" charset="0"/>
                  </a:rPr>
                  <a:t>Both implementations share the same theoretical time complexity of </a:t>
                </a:r>
                <a14:m>
                  <m:oMath xmlns:m="http://schemas.openxmlformats.org/officeDocument/2006/math">
                    <m:r>
                      <a:rPr lang="en-IN" sz="1200" i="1">
                        <a:latin typeface="Cambria Math" panose="02040503050406030204" pitchFamily="18" charset="0"/>
                      </a:rPr>
                      <m:t>𝑂</m:t>
                    </m:r>
                    <m:d>
                      <m:dPr>
                        <m:ctrlPr>
                          <a:rPr lang="ar-AE" sz="1200" i="1">
                            <a:latin typeface="Cambria Math" panose="02040503050406030204" pitchFamily="18" charset="0"/>
                          </a:rPr>
                        </m:ctrlPr>
                      </m:dPr>
                      <m:e>
                        <m:r>
                          <a:rPr lang="ar-AE" sz="1200" i="1">
                            <a:latin typeface="Cambria Math" panose="02040503050406030204" pitchFamily="18" charset="0"/>
                          </a:rPr>
                          <m:t>𝑛</m:t>
                        </m:r>
                        <m:func>
                          <m:funcPr>
                            <m:ctrlPr>
                              <a:rPr lang="ar-AE" sz="1200" i="1">
                                <a:latin typeface="Cambria Math" panose="02040503050406030204" pitchFamily="18" charset="0"/>
                              </a:rPr>
                            </m:ctrlPr>
                          </m:funcPr>
                          <m:fName>
                            <m:r>
                              <m:rPr>
                                <m:sty m:val="p"/>
                              </m:rPr>
                              <a:rPr lang="en-IN" sz="1200">
                                <a:latin typeface="Cambria Math" panose="02040503050406030204" pitchFamily="18" charset="0"/>
                              </a:rPr>
                              <m:t>log</m:t>
                            </m:r>
                          </m:fName>
                          <m:e>
                            <m:r>
                              <a:rPr lang="ar-AE" sz="1200" i="1">
                                <a:latin typeface="Cambria Math" panose="02040503050406030204" pitchFamily="18" charset="0"/>
                              </a:rPr>
                              <m:t>𝑛</m:t>
                            </m:r>
                          </m:e>
                        </m:func>
                      </m:e>
                    </m:d>
                  </m:oMath>
                </a14:m>
                <a:r>
                  <a:rPr lang="ar-AE" sz="1200" dirty="0">
                    <a:latin typeface="Times New Roman" panose="02020603050405020304" pitchFamily="18" charset="0"/>
                    <a:cs typeface="Times New Roman" panose="02020603050405020304" pitchFamily="18" charset="0"/>
                  </a:rPr>
                  <a:t>, </a:t>
                </a:r>
                <a:r>
                  <a:rPr lang="en-IN" sz="1200" dirty="0">
                    <a:latin typeface="Times New Roman" panose="02020603050405020304" pitchFamily="18" charset="0"/>
                    <a:cs typeface="Times New Roman" panose="02020603050405020304" pitchFamily="18" charset="0"/>
                  </a:rPr>
                  <a:t>but the practical difference arises from the way they utilize hardware concurrency. The multithreaded version reduces the constant factor in the runtime equation by performing merges concurrently.</a:t>
                </a:r>
              </a:p>
              <a:p>
                <a:endParaRPr lang="en-IN" sz="1200" dirty="0">
                  <a:latin typeface="Times New Roman" panose="02020603050405020304" pitchFamily="18" charset="0"/>
                  <a:cs typeface="Times New Roman" panose="02020603050405020304" pitchFamily="18" charset="0"/>
                </a:endParaRPr>
              </a:p>
              <a:p>
                <a:r>
                  <a:rPr lang="en-IN" sz="1200" b="1" dirty="0">
                    <a:latin typeface="Times New Roman" panose="02020603050405020304" pitchFamily="18" charset="0"/>
                    <a:cs typeface="Times New Roman" panose="02020603050405020304" pitchFamily="18" charset="0"/>
                  </a:rPr>
                  <a:t>CPU Core Utilization:</a:t>
                </a:r>
                <a:br>
                  <a:rPr lang="en-IN" sz="1200" dirty="0">
                    <a:latin typeface="Times New Roman" panose="02020603050405020304" pitchFamily="18" charset="0"/>
                    <a:cs typeface="Times New Roman" panose="02020603050405020304" pitchFamily="18" charset="0"/>
                  </a:rPr>
                </a:br>
                <a:r>
                  <a:rPr lang="en-IN" sz="1200" dirty="0">
                    <a:latin typeface="Times New Roman" panose="02020603050405020304" pitchFamily="18" charset="0"/>
                    <a:cs typeface="Times New Roman" panose="02020603050405020304" pitchFamily="18" charset="0"/>
                  </a:rPr>
                  <a:t>The parallel version efficiently leverages available cores. However, beyond the number of physical cores, hyper-threading provides diminishing returns due to context-switching overhead.</a:t>
                </a:r>
              </a:p>
              <a:p>
                <a:endParaRPr lang="en-IN" sz="1200" dirty="0">
                  <a:latin typeface="Times New Roman" panose="02020603050405020304" pitchFamily="18" charset="0"/>
                  <a:cs typeface="Times New Roman" panose="02020603050405020304" pitchFamily="18" charset="0"/>
                </a:endParaRPr>
              </a:p>
              <a:p>
                <a:r>
                  <a:rPr lang="en-IN" sz="1200" b="1" dirty="0">
                    <a:latin typeface="Times New Roman" panose="02020603050405020304" pitchFamily="18" charset="0"/>
                    <a:cs typeface="Times New Roman" panose="02020603050405020304" pitchFamily="18" charset="0"/>
                  </a:rPr>
                  <a:t>Memory and Synchronization:</a:t>
                </a:r>
                <a:br>
                  <a:rPr lang="en-IN" sz="1200" dirty="0">
                    <a:latin typeface="Times New Roman" panose="02020603050405020304" pitchFamily="18" charset="0"/>
                    <a:cs typeface="Times New Roman" panose="02020603050405020304" pitchFamily="18" charset="0"/>
                  </a:rPr>
                </a:br>
                <a:r>
                  <a:rPr lang="en-IN" sz="1200" dirty="0">
                    <a:latin typeface="Times New Roman" panose="02020603050405020304" pitchFamily="18" charset="0"/>
                    <a:cs typeface="Times New Roman" panose="02020603050405020304" pitchFamily="18" charset="0"/>
                  </a:rPr>
                  <a:t>Merge Sort is inherently memory-intensive because it requires auxiliary arrays. In the multithreaded model, this overhead increases slightly due to separate memory buffers for thread-level merges. Proper synchronization is crucial to prevent data races and ensure consistency during merging.</a:t>
                </a:r>
              </a:p>
              <a:p>
                <a:endParaRPr lang="en-IN" sz="1200" dirty="0">
                  <a:latin typeface="Times New Roman" panose="02020603050405020304" pitchFamily="18" charset="0"/>
                  <a:cs typeface="Times New Roman" panose="02020603050405020304" pitchFamily="18" charset="0"/>
                </a:endParaRPr>
              </a:p>
              <a:p>
                <a:r>
                  <a:rPr lang="en-IN" sz="1200" b="1" dirty="0">
                    <a:latin typeface="Times New Roman" panose="02020603050405020304" pitchFamily="18" charset="0"/>
                    <a:cs typeface="Times New Roman" panose="02020603050405020304" pitchFamily="18" charset="0"/>
                  </a:rPr>
                  <a:t>Scalability:</a:t>
                </a:r>
                <a:br>
                  <a:rPr lang="en-IN" sz="1200" dirty="0">
                    <a:latin typeface="Times New Roman" panose="02020603050405020304" pitchFamily="18" charset="0"/>
                    <a:cs typeface="Times New Roman" panose="02020603050405020304" pitchFamily="18" charset="0"/>
                  </a:rPr>
                </a:br>
                <a:r>
                  <a:rPr lang="en-IN" sz="1200" dirty="0">
                    <a:latin typeface="Times New Roman" panose="02020603050405020304" pitchFamily="18" charset="0"/>
                    <a:cs typeface="Times New Roman" panose="02020603050405020304" pitchFamily="18" charset="0"/>
                  </a:rPr>
                  <a:t>The sequential algorithm scales poorly with increasing input size, while the multithreaded approach demonstrates near-linear scalability up to the number of CPU cores. For extremely large datasets, parallel merge sort becomes the preferred choice.</a:t>
                </a:r>
              </a:p>
              <a:p>
                <a:endParaRPr lang="en-IN" sz="1300" dirty="0">
                  <a:latin typeface="Times New Roman" panose="02020603050405020304" pitchFamily="18" charset="0"/>
                  <a:cs typeface="Times New Roman" panose="02020603050405020304" pitchFamily="18" charset="0"/>
                </a:endParaRPr>
              </a:p>
              <a:p>
                <a:r>
                  <a:rPr lang="en-US" sz="1300" b="1" dirty="0">
                    <a:latin typeface="Times New Roman" panose="02020603050405020304" pitchFamily="18" charset="0"/>
                    <a:cs typeface="Times New Roman" panose="02020603050405020304" pitchFamily="18" charset="0"/>
                  </a:rPr>
                  <a:t>4.1.4 Summary of Results</a:t>
                </a:r>
              </a:p>
              <a:p>
                <a:endParaRPr lang="en-US" sz="1300" b="1" dirty="0">
                  <a:latin typeface="Times New Roman" panose="02020603050405020304" pitchFamily="18" charset="0"/>
                  <a:cs typeface="Times New Roman" panose="02020603050405020304" pitchFamily="18" charset="0"/>
                </a:endParaRPr>
              </a:p>
              <a:p>
                <a:r>
                  <a:rPr lang="en-US" sz="1200" dirty="0">
                    <a:latin typeface="Times New Roman" panose="02020603050405020304" pitchFamily="18" charset="0"/>
                    <a:cs typeface="Times New Roman" panose="02020603050405020304" pitchFamily="18" charset="0"/>
                  </a:rPr>
                  <a:t>The comparative analysis shows that while sequential Merge Sort is optimal for smaller input sizes, the Multithreaded Merge Sort achieves remarkable speedup for large datasets. The ideal performance balance depends on dataset size, available cores, and system memory. Overall, the study concludes that parallelism in sorting can drastically reduce execution time when managed efficiently, making multithreaded algorithms essential for modern multi-core architectures.</a:t>
                </a:r>
              </a:p>
              <a:p>
                <a:endParaRPr lang="en-IN" sz="1200" dirty="0">
                  <a:latin typeface="Times New Roman" panose="02020603050405020304" pitchFamily="18" charset="0"/>
                  <a:cs typeface="Times New Roman" panose="02020603050405020304" pitchFamily="18" charset="0"/>
                </a:endParaRPr>
              </a:p>
            </p:txBody>
          </p:sp>
        </mc:Choice>
        <mc:Fallback xmlns="">
          <p:sp>
            <p:nvSpPr>
              <p:cNvPr id="4" name="object 4"/>
              <p:cNvSpPr txBox="1">
                <a:spLocks noRot="1" noChangeAspect="1" noMove="1" noResize="1" noEditPoints="1" noAdjustHandles="1" noChangeArrowheads="1" noChangeShapeType="1" noTextEdit="1"/>
              </p:cNvSpPr>
              <p:nvPr/>
            </p:nvSpPr>
            <p:spPr>
              <a:xfrm>
                <a:off x="1130300" y="891320"/>
                <a:ext cx="5739765" cy="6183103"/>
              </a:xfrm>
              <a:prstGeom prst="rect">
                <a:avLst/>
              </a:prstGeom>
              <a:blipFill>
                <a:blip r:embed="rId2"/>
                <a:stretch>
                  <a:fillRect l="-1699" t="-591" r="-1911"/>
                </a:stretch>
              </a:blipFill>
            </p:spPr>
            <p:txBody>
              <a:bodyPr/>
              <a:lstStyle/>
              <a:p>
                <a:r>
                  <a:rPr lang="en-IN">
                    <a:noFill/>
                  </a:rPr>
                  <a:t> </a:t>
                </a:r>
              </a:p>
            </p:txBody>
          </p:sp>
        </mc:Fallback>
      </mc:AlternateContent>
      <p:sp>
        <p:nvSpPr>
          <p:cNvPr id="7" name="object 7"/>
          <p:cNvSpPr/>
          <p:nvPr/>
        </p:nvSpPr>
        <p:spPr>
          <a:xfrm>
            <a:off x="228600" y="228599"/>
            <a:ext cx="7315200" cy="9601200"/>
          </a:xfrm>
          <a:custGeom>
            <a:avLst/>
            <a:gdLst/>
            <a:ahLst/>
            <a:cxnLst/>
            <a:rect l="l" t="t" r="r" b="b"/>
            <a:pathLst>
              <a:path w="7315200" h="9601200">
                <a:moveTo>
                  <a:pt x="7315200" y="12"/>
                </a:moveTo>
                <a:lnTo>
                  <a:pt x="7309104" y="12"/>
                </a:lnTo>
                <a:lnTo>
                  <a:pt x="7309104" y="6096"/>
                </a:lnTo>
                <a:lnTo>
                  <a:pt x="7309091" y="9595104"/>
                </a:lnTo>
                <a:lnTo>
                  <a:pt x="6083" y="9595104"/>
                </a:lnTo>
                <a:lnTo>
                  <a:pt x="6083" y="6096"/>
                </a:lnTo>
                <a:lnTo>
                  <a:pt x="7309091" y="6096"/>
                </a:lnTo>
                <a:lnTo>
                  <a:pt x="7309091" y="0"/>
                </a:lnTo>
                <a:lnTo>
                  <a:pt x="0" y="0"/>
                </a:lnTo>
                <a:lnTo>
                  <a:pt x="0" y="6096"/>
                </a:lnTo>
                <a:lnTo>
                  <a:pt x="0" y="9595104"/>
                </a:lnTo>
                <a:lnTo>
                  <a:pt x="0" y="9601200"/>
                </a:lnTo>
                <a:lnTo>
                  <a:pt x="7309091" y="9601200"/>
                </a:lnTo>
                <a:lnTo>
                  <a:pt x="7315200" y="9601200"/>
                </a:lnTo>
                <a:lnTo>
                  <a:pt x="7315200" y="9595104"/>
                </a:lnTo>
                <a:lnTo>
                  <a:pt x="7315200" y="6096"/>
                </a:lnTo>
                <a:lnTo>
                  <a:pt x="7315200" y="12"/>
                </a:lnTo>
                <a:close/>
              </a:path>
            </a:pathLst>
          </a:custGeom>
          <a:solidFill>
            <a:srgbClr val="000000"/>
          </a:solidFill>
        </p:spPr>
        <p:txBody>
          <a:bodyPr wrap="square" lIns="0" tIns="0" rIns="0" bIns="0" rtlCol="0"/>
          <a:lstStyle/>
          <a:p>
            <a:endParaRPr/>
          </a:p>
        </p:txBody>
      </p:sp>
      <p:sp>
        <p:nvSpPr>
          <p:cNvPr id="8" name="object 8"/>
          <p:cNvSpPr txBox="1">
            <a:spLocks noGrp="1"/>
          </p:cNvSpPr>
          <p:nvPr>
            <p:ph type="ftr" sz="quarter" idx="5"/>
          </p:nvPr>
        </p:nvSpPr>
        <p:spPr>
          <a:prstGeom prst="rect">
            <a:avLst/>
          </a:prstGeom>
        </p:spPr>
        <p:txBody>
          <a:bodyPr vert="horz" wrap="square" lIns="0" tIns="0" rIns="0" bIns="0" rtlCol="0">
            <a:spAutoFit/>
          </a:bodyPr>
          <a:lstStyle/>
          <a:p>
            <a:pPr marL="12700">
              <a:lnSpc>
                <a:spcPts val="1460"/>
              </a:lnSpc>
            </a:pPr>
            <a:r>
              <a:rPr dirty="0"/>
              <a:t>DEPARTMENT</a:t>
            </a:r>
            <a:r>
              <a:rPr spc="-30" dirty="0"/>
              <a:t> </a:t>
            </a:r>
            <a:r>
              <a:rPr dirty="0"/>
              <a:t>OF</a:t>
            </a:r>
            <a:r>
              <a:rPr spc="-40" dirty="0"/>
              <a:t> </a:t>
            </a:r>
            <a:r>
              <a:rPr dirty="0"/>
              <a:t>COMPUTER</a:t>
            </a:r>
            <a:r>
              <a:rPr spc="-45" dirty="0"/>
              <a:t> </a:t>
            </a:r>
            <a:r>
              <a:rPr spc="-10" dirty="0"/>
              <a:t>ENGINEERING,</a:t>
            </a:r>
            <a:r>
              <a:rPr spc="-45" dirty="0"/>
              <a:t> </a:t>
            </a:r>
            <a:r>
              <a:rPr dirty="0"/>
              <a:t>PESMCOE,</a:t>
            </a:r>
            <a:r>
              <a:rPr spc="-40" dirty="0"/>
              <a:t> </a:t>
            </a:r>
            <a:r>
              <a:rPr spc="-10" dirty="0"/>
              <a:t>PUNE:05</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651763" y="342692"/>
            <a:ext cx="184150" cy="215265"/>
          </a:xfrm>
          <a:prstGeom prst="rect">
            <a:avLst/>
          </a:prstGeom>
        </p:spPr>
        <p:txBody>
          <a:bodyPr vert="horz" wrap="square" lIns="0" tIns="12065" rIns="0" bIns="0" rtlCol="0">
            <a:spAutoFit/>
          </a:bodyPr>
          <a:lstStyle/>
          <a:p>
            <a:pPr marL="12700">
              <a:lnSpc>
                <a:spcPct val="100000"/>
              </a:lnSpc>
              <a:spcBef>
                <a:spcPts val="95"/>
              </a:spcBef>
            </a:pPr>
            <a:r>
              <a:rPr sz="1250" b="1" spc="-25" dirty="0">
                <a:solidFill>
                  <a:srgbClr val="FFFFFF"/>
                </a:solidFill>
                <a:latin typeface="Times New Roman"/>
                <a:cs typeface="Times New Roman"/>
              </a:rPr>
              <a:t>15</a:t>
            </a:r>
            <a:endParaRPr sz="1250">
              <a:latin typeface="Times New Roman"/>
              <a:cs typeface="Times New Roman"/>
            </a:endParaRPr>
          </a:p>
        </p:txBody>
      </p:sp>
      <p:sp>
        <p:nvSpPr>
          <p:cNvPr id="3" name="object 3"/>
          <p:cNvSpPr txBox="1"/>
          <p:nvPr/>
        </p:nvSpPr>
        <p:spPr>
          <a:xfrm>
            <a:off x="1773427" y="363967"/>
            <a:ext cx="4224655" cy="166071"/>
          </a:xfrm>
          <a:prstGeom prst="rect">
            <a:avLst/>
          </a:prstGeom>
        </p:spPr>
        <p:txBody>
          <a:bodyPr vert="horz" wrap="square" lIns="0" tIns="12065" rIns="0" bIns="0" rtlCol="0">
            <a:spAutoFit/>
          </a:bodyPr>
          <a:lstStyle/>
          <a:p>
            <a:pPr marL="12700">
              <a:lnSpc>
                <a:spcPct val="100000"/>
              </a:lnSpc>
              <a:spcBef>
                <a:spcPts val="95"/>
              </a:spcBef>
            </a:pPr>
            <a:r>
              <a:rPr lang="en-US" sz="1000" dirty="0">
                <a:latin typeface="Times New Roman"/>
                <a:cs typeface="Times New Roman"/>
              </a:rPr>
              <a:t>Performance Analysis of Single-Threaded and Multithreaded Merge Sort</a:t>
            </a:r>
            <a:endParaRPr sz="1000" dirty="0">
              <a:latin typeface="Times New Roman"/>
              <a:cs typeface="Times New Roman"/>
            </a:endParaRPr>
          </a:p>
        </p:txBody>
      </p:sp>
      <p:sp>
        <p:nvSpPr>
          <p:cNvPr id="9" name="object 9"/>
          <p:cNvSpPr/>
          <p:nvPr/>
        </p:nvSpPr>
        <p:spPr>
          <a:xfrm>
            <a:off x="228600" y="228599"/>
            <a:ext cx="7315200" cy="9601200"/>
          </a:xfrm>
          <a:custGeom>
            <a:avLst/>
            <a:gdLst/>
            <a:ahLst/>
            <a:cxnLst/>
            <a:rect l="l" t="t" r="r" b="b"/>
            <a:pathLst>
              <a:path w="7315200" h="9601200">
                <a:moveTo>
                  <a:pt x="7315200" y="12"/>
                </a:moveTo>
                <a:lnTo>
                  <a:pt x="7309104" y="12"/>
                </a:lnTo>
                <a:lnTo>
                  <a:pt x="7309104" y="6096"/>
                </a:lnTo>
                <a:lnTo>
                  <a:pt x="7309091" y="9595104"/>
                </a:lnTo>
                <a:lnTo>
                  <a:pt x="6083" y="9595104"/>
                </a:lnTo>
                <a:lnTo>
                  <a:pt x="6083" y="6096"/>
                </a:lnTo>
                <a:lnTo>
                  <a:pt x="7309091" y="6096"/>
                </a:lnTo>
                <a:lnTo>
                  <a:pt x="7309091" y="0"/>
                </a:lnTo>
                <a:lnTo>
                  <a:pt x="0" y="0"/>
                </a:lnTo>
                <a:lnTo>
                  <a:pt x="0" y="6096"/>
                </a:lnTo>
                <a:lnTo>
                  <a:pt x="0" y="9595104"/>
                </a:lnTo>
                <a:lnTo>
                  <a:pt x="0" y="9601200"/>
                </a:lnTo>
                <a:lnTo>
                  <a:pt x="7309091" y="9601200"/>
                </a:lnTo>
                <a:lnTo>
                  <a:pt x="7315200" y="9601200"/>
                </a:lnTo>
                <a:lnTo>
                  <a:pt x="7315200" y="9595104"/>
                </a:lnTo>
                <a:lnTo>
                  <a:pt x="7315200" y="6096"/>
                </a:lnTo>
                <a:lnTo>
                  <a:pt x="7315200" y="12"/>
                </a:lnTo>
                <a:close/>
              </a:path>
            </a:pathLst>
          </a:custGeom>
          <a:solidFill>
            <a:srgbClr val="000000"/>
          </a:solidFill>
        </p:spPr>
        <p:txBody>
          <a:bodyPr wrap="square" lIns="0" tIns="0" rIns="0" bIns="0" rtlCol="0"/>
          <a:lstStyle/>
          <a:p>
            <a:endParaRPr/>
          </a:p>
        </p:txBody>
      </p:sp>
      <p:sp>
        <p:nvSpPr>
          <p:cNvPr id="10" name="object 10"/>
          <p:cNvSpPr txBox="1">
            <a:spLocks noGrp="1"/>
          </p:cNvSpPr>
          <p:nvPr>
            <p:ph type="ftr" sz="quarter" idx="5"/>
          </p:nvPr>
        </p:nvSpPr>
        <p:spPr>
          <a:prstGeom prst="rect">
            <a:avLst/>
          </a:prstGeom>
        </p:spPr>
        <p:txBody>
          <a:bodyPr vert="horz" wrap="square" lIns="0" tIns="0" rIns="0" bIns="0" rtlCol="0">
            <a:spAutoFit/>
          </a:bodyPr>
          <a:lstStyle/>
          <a:p>
            <a:pPr marL="12700">
              <a:lnSpc>
                <a:spcPts val="1460"/>
              </a:lnSpc>
            </a:pPr>
            <a:r>
              <a:rPr dirty="0"/>
              <a:t>DEPARTMENT</a:t>
            </a:r>
            <a:r>
              <a:rPr spc="-30" dirty="0"/>
              <a:t> </a:t>
            </a:r>
            <a:r>
              <a:rPr dirty="0"/>
              <a:t>OF</a:t>
            </a:r>
            <a:r>
              <a:rPr spc="-40" dirty="0"/>
              <a:t> </a:t>
            </a:r>
            <a:r>
              <a:rPr dirty="0"/>
              <a:t>COMPUTER</a:t>
            </a:r>
            <a:r>
              <a:rPr spc="-45" dirty="0"/>
              <a:t> </a:t>
            </a:r>
            <a:r>
              <a:rPr spc="-10" dirty="0"/>
              <a:t>ENGINEERING,</a:t>
            </a:r>
            <a:r>
              <a:rPr spc="-45" dirty="0"/>
              <a:t> </a:t>
            </a:r>
            <a:r>
              <a:rPr dirty="0"/>
              <a:t>PESMCOE,</a:t>
            </a:r>
            <a:r>
              <a:rPr spc="-40" dirty="0"/>
              <a:t> </a:t>
            </a:r>
            <a:r>
              <a:rPr spc="-10" dirty="0"/>
              <a:t>PUNE:05</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651763" y="342692"/>
            <a:ext cx="184150" cy="215265"/>
          </a:xfrm>
          <a:prstGeom prst="rect">
            <a:avLst/>
          </a:prstGeom>
        </p:spPr>
        <p:txBody>
          <a:bodyPr vert="horz" wrap="square" lIns="0" tIns="12065" rIns="0" bIns="0" rtlCol="0">
            <a:spAutoFit/>
          </a:bodyPr>
          <a:lstStyle/>
          <a:p>
            <a:pPr marL="12700">
              <a:lnSpc>
                <a:spcPct val="100000"/>
              </a:lnSpc>
              <a:spcBef>
                <a:spcPts val="95"/>
              </a:spcBef>
            </a:pPr>
            <a:r>
              <a:rPr sz="1250" b="1" spc="-25" dirty="0">
                <a:solidFill>
                  <a:srgbClr val="FFFFFF"/>
                </a:solidFill>
                <a:latin typeface="Times New Roman"/>
                <a:cs typeface="Times New Roman"/>
              </a:rPr>
              <a:t>16</a:t>
            </a:r>
            <a:endParaRPr sz="1250">
              <a:latin typeface="Times New Roman"/>
              <a:cs typeface="Times New Roman"/>
            </a:endParaRPr>
          </a:p>
        </p:txBody>
      </p:sp>
      <p:sp>
        <p:nvSpPr>
          <p:cNvPr id="3" name="object 3"/>
          <p:cNvSpPr txBox="1"/>
          <p:nvPr/>
        </p:nvSpPr>
        <p:spPr>
          <a:xfrm>
            <a:off x="1773427" y="363967"/>
            <a:ext cx="4224655" cy="166071"/>
          </a:xfrm>
          <a:prstGeom prst="rect">
            <a:avLst/>
          </a:prstGeom>
        </p:spPr>
        <p:txBody>
          <a:bodyPr vert="horz" wrap="square" lIns="0" tIns="12065" rIns="0" bIns="0" rtlCol="0">
            <a:spAutoFit/>
          </a:bodyPr>
          <a:lstStyle/>
          <a:p>
            <a:pPr marL="12700">
              <a:lnSpc>
                <a:spcPct val="100000"/>
              </a:lnSpc>
              <a:spcBef>
                <a:spcPts val="95"/>
              </a:spcBef>
            </a:pPr>
            <a:r>
              <a:rPr lang="en-US" sz="1000" dirty="0">
                <a:latin typeface="Times New Roman"/>
                <a:cs typeface="Times New Roman"/>
              </a:rPr>
              <a:t>Performance Analysis of Single-Threaded and Multithreaded Merge Sort</a:t>
            </a:r>
            <a:endParaRPr sz="1000" dirty="0">
              <a:latin typeface="Times New Roman"/>
              <a:cs typeface="Times New Roman"/>
            </a:endParaRPr>
          </a:p>
        </p:txBody>
      </p:sp>
      <p:sp>
        <p:nvSpPr>
          <p:cNvPr id="4" name="object 4"/>
          <p:cNvSpPr txBox="1"/>
          <p:nvPr/>
        </p:nvSpPr>
        <p:spPr>
          <a:xfrm>
            <a:off x="901700" y="891343"/>
            <a:ext cx="785495" cy="222885"/>
          </a:xfrm>
          <a:prstGeom prst="rect">
            <a:avLst/>
          </a:prstGeom>
        </p:spPr>
        <p:txBody>
          <a:bodyPr vert="horz" wrap="square" lIns="0" tIns="11430" rIns="0" bIns="0" rtlCol="0">
            <a:spAutoFit/>
          </a:bodyPr>
          <a:lstStyle/>
          <a:p>
            <a:pPr marL="12700">
              <a:lnSpc>
                <a:spcPct val="100000"/>
              </a:lnSpc>
              <a:spcBef>
                <a:spcPts val="90"/>
              </a:spcBef>
            </a:pPr>
            <a:r>
              <a:rPr sz="1300" b="1" dirty="0">
                <a:latin typeface="Times New Roman"/>
                <a:cs typeface="Times New Roman"/>
              </a:rPr>
              <a:t>4.2</a:t>
            </a:r>
            <a:r>
              <a:rPr sz="1300" b="1" spc="-25" dirty="0">
                <a:latin typeface="Times New Roman"/>
                <a:cs typeface="Times New Roman"/>
              </a:rPr>
              <a:t> </a:t>
            </a:r>
            <a:r>
              <a:rPr sz="1300" b="1" spc="-10" dirty="0">
                <a:latin typeface="Times New Roman"/>
                <a:cs typeface="Times New Roman"/>
              </a:rPr>
              <a:t>Results</a:t>
            </a:r>
            <a:endParaRPr sz="1300">
              <a:latin typeface="Times New Roman"/>
              <a:cs typeface="Times New Roman"/>
            </a:endParaRPr>
          </a:p>
        </p:txBody>
      </p:sp>
      <p:sp>
        <p:nvSpPr>
          <p:cNvPr id="9" name="object 9"/>
          <p:cNvSpPr/>
          <p:nvPr/>
        </p:nvSpPr>
        <p:spPr>
          <a:xfrm>
            <a:off x="228600" y="228599"/>
            <a:ext cx="7315200" cy="9601200"/>
          </a:xfrm>
          <a:custGeom>
            <a:avLst/>
            <a:gdLst/>
            <a:ahLst/>
            <a:cxnLst/>
            <a:rect l="l" t="t" r="r" b="b"/>
            <a:pathLst>
              <a:path w="7315200" h="9601200">
                <a:moveTo>
                  <a:pt x="7315200" y="12"/>
                </a:moveTo>
                <a:lnTo>
                  <a:pt x="7309104" y="12"/>
                </a:lnTo>
                <a:lnTo>
                  <a:pt x="7309104" y="6096"/>
                </a:lnTo>
                <a:lnTo>
                  <a:pt x="7309091" y="9595104"/>
                </a:lnTo>
                <a:lnTo>
                  <a:pt x="6083" y="9595104"/>
                </a:lnTo>
                <a:lnTo>
                  <a:pt x="6083" y="6096"/>
                </a:lnTo>
                <a:lnTo>
                  <a:pt x="7309091" y="6096"/>
                </a:lnTo>
                <a:lnTo>
                  <a:pt x="7309091" y="0"/>
                </a:lnTo>
                <a:lnTo>
                  <a:pt x="0" y="0"/>
                </a:lnTo>
                <a:lnTo>
                  <a:pt x="0" y="6096"/>
                </a:lnTo>
                <a:lnTo>
                  <a:pt x="0" y="9595104"/>
                </a:lnTo>
                <a:lnTo>
                  <a:pt x="0" y="9601200"/>
                </a:lnTo>
                <a:lnTo>
                  <a:pt x="7309091" y="9601200"/>
                </a:lnTo>
                <a:lnTo>
                  <a:pt x="7315200" y="9601200"/>
                </a:lnTo>
                <a:lnTo>
                  <a:pt x="7315200" y="9595104"/>
                </a:lnTo>
                <a:lnTo>
                  <a:pt x="7315200" y="6096"/>
                </a:lnTo>
                <a:lnTo>
                  <a:pt x="7315200" y="12"/>
                </a:lnTo>
                <a:close/>
              </a:path>
            </a:pathLst>
          </a:custGeom>
          <a:solidFill>
            <a:srgbClr val="000000"/>
          </a:solidFill>
        </p:spPr>
        <p:txBody>
          <a:bodyPr wrap="square" lIns="0" tIns="0" rIns="0" bIns="0" rtlCol="0"/>
          <a:lstStyle/>
          <a:p>
            <a:endParaRPr/>
          </a:p>
        </p:txBody>
      </p:sp>
      <p:sp>
        <p:nvSpPr>
          <p:cNvPr id="10" name="object 10"/>
          <p:cNvSpPr txBox="1">
            <a:spLocks noGrp="1"/>
          </p:cNvSpPr>
          <p:nvPr>
            <p:ph type="ftr" sz="quarter" idx="5"/>
          </p:nvPr>
        </p:nvSpPr>
        <p:spPr>
          <a:prstGeom prst="rect">
            <a:avLst/>
          </a:prstGeom>
        </p:spPr>
        <p:txBody>
          <a:bodyPr vert="horz" wrap="square" lIns="0" tIns="0" rIns="0" bIns="0" rtlCol="0">
            <a:spAutoFit/>
          </a:bodyPr>
          <a:lstStyle/>
          <a:p>
            <a:pPr marL="12700">
              <a:lnSpc>
                <a:spcPts val="1460"/>
              </a:lnSpc>
            </a:pPr>
            <a:r>
              <a:rPr dirty="0"/>
              <a:t>DEPARTMENT</a:t>
            </a:r>
            <a:r>
              <a:rPr spc="-30" dirty="0"/>
              <a:t> </a:t>
            </a:r>
            <a:r>
              <a:rPr dirty="0"/>
              <a:t>OF</a:t>
            </a:r>
            <a:r>
              <a:rPr spc="-40" dirty="0"/>
              <a:t> </a:t>
            </a:r>
            <a:r>
              <a:rPr dirty="0"/>
              <a:t>COMPUTER</a:t>
            </a:r>
            <a:r>
              <a:rPr spc="-45" dirty="0"/>
              <a:t> </a:t>
            </a:r>
            <a:r>
              <a:rPr spc="-10" dirty="0"/>
              <a:t>ENGINEERING,</a:t>
            </a:r>
            <a:r>
              <a:rPr spc="-45" dirty="0"/>
              <a:t> </a:t>
            </a:r>
            <a:r>
              <a:rPr dirty="0"/>
              <a:t>PESMCOE,</a:t>
            </a:r>
            <a:r>
              <a:rPr spc="-40" dirty="0"/>
              <a:t> </a:t>
            </a:r>
            <a:r>
              <a:rPr spc="-10" dirty="0"/>
              <a:t>PUNE:05</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651763" y="342692"/>
            <a:ext cx="184150" cy="215265"/>
          </a:xfrm>
          <a:prstGeom prst="rect">
            <a:avLst/>
          </a:prstGeom>
        </p:spPr>
        <p:txBody>
          <a:bodyPr vert="horz" wrap="square" lIns="0" tIns="12065" rIns="0" bIns="0" rtlCol="0">
            <a:spAutoFit/>
          </a:bodyPr>
          <a:lstStyle/>
          <a:p>
            <a:pPr marL="12700">
              <a:lnSpc>
                <a:spcPct val="100000"/>
              </a:lnSpc>
              <a:spcBef>
                <a:spcPts val="95"/>
              </a:spcBef>
            </a:pPr>
            <a:r>
              <a:rPr sz="1250" b="1" spc="-25" dirty="0">
                <a:solidFill>
                  <a:srgbClr val="FFFFFF"/>
                </a:solidFill>
                <a:latin typeface="Times New Roman"/>
                <a:cs typeface="Times New Roman"/>
              </a:rPr>
              <a:t>17</a:t>
            </a:r>
            <a:endParaRPr sz="1250">
              <a:latin typeface="Times New Roman"/>
              <a:cs typeface="Times New Roman"/>
            </a:endParaRPr>
          </a:p>
        </p:txBody>
      </p:sp>
      <p:sp>
        <p:nvSpPr>
          <p:cNvPr id="3" name="object 3"/>
          <p:cNvSpPr txBox="1"/>
          <p:nvPr/>
        </p:nvSpPr>
        <p:spPr>
          <a:xfrm>
            <a:off x="1773427" y="363967"/>
            <a:ext cx="4224655" cy="166071"/>
          </a:xfrm>
          <a:prstGeom prst="rect">
            <a:avLst/>
          </a:prstGeom>
        </p:spPr>
        <p:txBody>
          <a:bodyPr vert="horz" wrap="square" lIns="0" tIns="12065" rIns="0" bIns="0" rtlCol="0">
            <a:spAutoFit/>
          </a:bodyPr>
          <a:lstStyle/>
          <a:p>
            <a:pPr marL="12700">
              <a:lnSpc>
                <a:spcPct val="100000"/>
              </a:lnSpc>
              <a:spcBef>
                <a:spcPts val="95"/>
              </a:spcBef>
            </a:pPr>
            <a:r>
              <a:rPr lang="en-US" sz="1000" dirty="0">
                <a:latin typeface="Times New Roman"/>
                <a:cs typeface="Times New Roman"/>
              </a:rPr>
              <a:t>Performance Analysis of Single-Threaded and Multithreaded Merge Sort</a:t>
            </a:r>
            <a:endParaRPr sz="1000" dirty="0">
              <a:latin typeface="Times New Roman"/>
              <a:cs typeface="Times New Roman"/>
            </a:endParaRPr>
          </a:p>
        </p:txBody>
      </p:sp>
      <p:sp>
        <p:nvSpPr>
          <p:cNvPr id="4" name="object 4"/>
          <p:cNvSpPr txBox="1"/>
          <p:nvPr/>
        </p:nvSpPr>
        <p:spPr>
          <a:xfrm>
            <a:off x="4173727" y="7031625"/>
            <a:ext cx="2698115" cy="1613535"/>
          </a:xfrm>
          <a:prstGeom prst="rect">
            <a:avLst/>
          </a:prstGeom>
        </p:spPr>
        <p:txBody>
          <a:bodyPr vert="horz" wrap="square" lIns="0" tIns="135890" rIns="0" bIns="0" rtlCol="0">
            <a:spAutoFit/>
          </a:bodyPr>
          <a:lstStyle/>
          <a:p>
            <a:pPr marR="5080" algn="r">
              <a:lnSpc>
                <a:spcPct val="100000"/>
              </a:lnSpc>
              <a:spcBef>
                <a:spcPts val="1070"/>
              </a:spcBef>
            </a:pPr>
            <a:r>
              <a:rPr sz="4400" b="1" spc="-25" dirty="0">
                <a:latin typeface="Times New Roman"/>
                <a:cs typeface="Times New Roman"/>
              </a:rPr>
              <a:t>6</a:t>
            </a:r>
            <a:r>
              <a:rPr sz="4400" spc="-25" dirty="0">
                <a:latin typeface="Times New Roman"/>
                <a:cs typeface="Times New Roman"/>
              </a:rPr>
              <a:t>.</a:t>
            </a:r>
            <a:endParaRPr sz="4400">
              <a:latin typeface="Times New Roman"/>
              <a:cs typeface="Times New Roman"/>
            </a:endParaRPr>
          </a:p>
          <a:p>
            <a:pPr marR="10160" algn="r">
              <a:lnSpc>
                <a:spcPct val="100000"/>
              </a:lnSpc>
              <a:spcBef>
                <a:spcPts val="975"/>
              </a:spcBef>
            </a:pPr>
            <a:r>
              <a:rPr sz="4400" b="1" spc="-10" dirty="0">
                <a:latin typeface="Times New Roman"/>
                <a:cs typeface="Times New Roman"/>
              </a:rPr>
              <a:t>Conclusion</a:t>
            </a:r>
            <a:endParaRPr sz="4400">
              <a:latin typeface="Times New Roman"/>
              <a:cs typeface="Times New Roman"/>
            </a:endParaRPr>
          </a:p>
        </p:txBody>
      </p:sp>
      <p:sp>
        <p:nvSpPr>
          <p:cNvPr id="5" name="object 5"/>
          <p:cNvSpPr/>
          <p:nvPr/>
        </p:nvSpPr>
        <p:spPr>
          <a:xfrm>
            <a:off x="228600" y="228599"/>
            <a:ext cx="7315200" cy="9601200"/>
          </a:xfrm>
          <a:custGeom>
            <a:avLst/>
            <a:gdLst/>
            <a:ahLst/>
            <a:cxnLst/>
            <a:rect l="l" t="t" r="r" b="b"/>
            <a:pathLst>
              <a:path w="7315200" h="9601200">
                <a:moveTo>
                  <a:pt x="7315200" y="12"/>
                </a:moveTo>
                <a:lnTo>
                  <a:pt x="7309104" y="12"/>
                </a:lnTo>
                <a:lnTo>
                  <a:pt x="7309104" y="6096"/>
                </a:lnTo>
                <a:lnTo>
                  <a:pt x="7309091" y="9595104"/>
                </a:lnTo>
                <a:lnTo>
                  <a:pt x="6083" y="9595104"/>
                </a:lnTo>
                <a:lnTo>
                  <a:pt x="6083" y="6096"/>
                </a:lnTo>
                <a:lnTo>
                  <a:pt x="7309091" y="6096"/>
                </a:lnTo>
                <a:lnTo>
                  <a:pt x="7309091" y="0"/>
                </a:lnTo>
                <a:lnTo>
                  <a:pt x="0" y="0"/>
                </a:lnTo>
                <a:lnTo>
                  <a:pt x="0" y="6096"/>
                </a:lnTo>
                <a:lnTo>
                  <a:pt x="0" y="9595104"/>
                </a:lnTo>
                <a:lnTo>
                  <a:pt x="0" y="9601200"/>
                </a:lnTo>
                <a:lnTo>
                  <a:pt x="7309091" y="9601200"/>
                </a:lnTo>
                <a:lnTo>
                  <a:pt x="7315200" y="9601200"/>
                </a:lnTo>
                <a:lnTo>
                  <a:pt x="7315200" y="9595104"/>
                </a:lnTo>
                <a:lnTo>
                  <a:pt x="7315200" y="6096"/>
                </a:lnTo>
                <a:lnTo>
                  <a:pt x="7315200" y="12"/>
                </a:lnTo>
                <a:close/>
              </a:path>
            </a:pathLst>
          </a:custGeom>
          <a:solidFill>
            <a:srgbClr val="000000"/>
          </a:solidFill>
        </p:spPr>
        <p:txBody>
          <a:bodyPr wrap="square" lIns="0" tIns="0" rIns="0" bIns="0" rtlCol="0"/>
          <a:lstStyle/>
          <a:p>
            <a:endParaRPr/>
          </a:p>
        </p:txBody>
      </p:sp>
      <p:sp>
        <p:nvSpPr>
          <p:cNvPr id="6" name="object 6"/>
          <p:cNvSpPr txBox="1">
            <a:spLocks noGrp="1"/>
          </p:cNvSpPr>
          <p:nvPr>
            <p:ph type="ftr" sz="quarter" idx="5"/>
          </p:nvPr>
        </p:nvSpPr>
        <p:spPr>
          <a:prstGeom prst="rect">
            <a:avLst/>
          </a:prstGeom>
        </p:spPr>
        <p:txBody>
          <a:bodyPr vert="horz" wrap="square" lIns="0" tIns="0" rIns="0" bIns="0" rtlCol="0">
            <a:spAutoFit/>
          </a:bodyPr>
          <a:lstStyle/>
          <a:p>
            <a:pPr marL="12700">
              <a:lnSpc>
                <a:spcPts val="1460"/>
              </a:lnSpc>
            </a:pPr>
            <a:r>
              <a:rPr dirty="0"/>
              <a:t>DEPARTMENT</a:t>
            </a:r>
            <a:r>
              <a:rPr spc="-30" dirty="0"/>
              <a:t> </a:t>
            </a:r>
            <a:r>
              <a:rPr dirty="0"/>
              <a:t>OF</a:t>
            </a:r>
            <a:r>
              <a:rPr spc="-40" dirty="0"/>
              <a:t> </a:t>
            </a:r>
            <a:r>
              <a:rPr dirty="0"/>
              <a:t>COMPUTER</a:t>
            </a:r>
            <a:r>
              <a:rPr spc="-45" dirty="0"/>
              <a:t> </a:t>
            </a:r>
            <a:r>
              <a:rPr spc="-10" dirty="0"/>
              <a:t>ENGINEERING,</a:t>
            </a:r>
            <a:r>
              <a:rPr spc="-45" dirty="0"/>
              <a:t> </a:t>
            </a:r>
            <a:r>
              <a:rPr dirty="0"/>
              <a:t>PESMCOE,</a:t>
            </a:r>
            <a:r>
              <a:rPr spc="-40" dirty="0"/>
              <a:t> </a:t>
            </a:r>
            <a:r>
              <a:rPr spc="-10" dirty="0"/>
              <a:t>PUNE:05</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651763" y="342692"/>
            <a:ext cx="184150" cy="215265"/>
          </a:xfrm>
          <a:prstGeom prst="rect">
            <a:avLst/>
          </a:prstGeom>
        </p:spPr>
        <p:txBody>
          <a:bodyPr vert="horz" wrap="square" lIns="0" tIns="12065" rIns="0" bIns="0" rtlCol="0">
            <a:spAutoFit/>
          </a:bodyPr>
          <a:lstStyle/>
          <a:p>
            <a:pPr marL="12700">
              <a:lnSpc>
                <a:spcPct val="100000"/>
              </a:lnSpc>
              <a:spcBef>
                <a:spcPts val="95"/>
              </a:spcBef>
            </a:pPr>
            <a:r>
              <a:rPr sz="1250" b="1" spc="-25" dirty="0">
                <a:solidFill>
                  <a:srgbClr val="FFFFFF"/>
                </a:solidFill>
                <a:latin typeface="Times New Roman"/>
                <a:cs typeface="Times New Roman"/>
              </a:rPr>
              <a:t>18</a:t>
            </a:r>
            <a:endParaRPr sz="1250">
              <a:latin typeface="Times New Roman"/>
              <a:cs typeface="Times New Roman"/>
            </a:endParaRPr>
          </a:p>
        </p:txBody>
      </p:sp>
      <p:sp>
        <p:nvSpPr>
          <p:cNvPr id="3" name="object 3"/>
          <p:cNvSpPr txBox="1"/>
          <p:nvPr/>
        </p:nvSpPr>
        <p:spPr>
          <a:xfrm>
            <a:off x="1773427" y="363967"/>
            <a:ext cx="4224655" cy="166071"/>
          </a:xfrm>
          <a:prstGeom prst="rect">
            <a:avLst/>
          </a:prstGeom>
        </p:spPr>
        <p:txBody>
          <a:bodyPr vert="horz" wrap="square" lIns="0" tIns="12065" rIns="0" bIns="0" rtlCol="0">
            <a:spAutoFit/>
          </a:bodyPr>
          <a:lstStyle/>
          <a:p>
            <a:pPr marL="12700">
              <a:lnSpc>
                <a:spcPct val="100000"/>
              </a:lnSpc>
              <a:spcBef>
                <a:spcPts val="95"/>
              </a:spcBef>
            </a:pPr>
            <a:r>
              <a:rPr lang="en-US" sz="1000" dirty="0">
                <a:latin typeface="Times New Roman"/>
                <a:cs typeface="Times New Roman"/>
              </a:rPr>
              <a:t>Performance Analysis of Single-Threaded and Multithreaded Merge Sort</a:t>
            </a:r>
            <a:endParaRPr sz="1000" dirty="0">
              <a:latin typeface="Times New Roman"/>
              <a:cs typeface="Times New Roman"/>
            </a:endParaRPr>
          </a:p>
        </p:txBody>
      </p:sp>
      <p:sp>
        <p:nvSpPr>
          <p:cNvPr id="4" name="object 4"/>
          <p:cNvSpPr txBox="1"/>
          <p:nvPr/>
        </p:nvSpPr>
        <p:spPr>
          <a:xfrm>
            <a:off x="901700" y="891320"/>
            <a:ext cx="5970270" cy="3933128"/>
          </a:xfrm>
          <a:prstGeom prst="rect">
            <a:avLst/>
          </a:prstGeom>
        </p:spPr>
        <p:txBody>
          <a:bodyPr vert="horz" wrap="square" lIns="0" tIns="24130" rIns="0" bIns="0" rtlCol="0">
            <a:spAutoFit/>
          </a:bodyPr>
          <a:lstStyle/>
          <a:p>
            <a:pPr algn="just"/>
            <a:r>
              <a:rPr lang="en-US" sz="1300" b="1" dirty="0">
                <a:latin typeface="Times New Roman" panose="02020603050405020304" pitchFamily="18" charset="0"/>
                <a:cs typeface="Times New Roman" panose="02020603050405020304" pitchFamily="18" charset="0"/>
              </a:rPr>
              <a:t>5. Conclusion</a:t>
            </a:r>
          </a:p>
          <a:p>
            <a:pPr algn="just"/>
            <a:endParaRPr lang="en-US" sz="1300" b="1" dirty="0">
              <a:latin typeface="Times New Roman" panose="02020603050405020304" pitchFamily="18" charset="0"/>
              <a:cs typeface="Times New Roman" panose="02020603050405020304" pitchFamily="18" charset="0"/>
            </a:endParaRPr>
          </a:p>
          <a:p>
            <a:pPr algn="just"/>
            <a:r>
              <a:rPr lang="en-US" sz="1200" dirty="0">
                <a:latin typeface="Times New Roman" panose="02020603050405020304" pitchFamily="18" charset="0"/>
                <a:cs typeface="Times New Roman" panose="02020603050405020304" pitchFamily="18" charset="0"/>
              </a:rPr>
              <a:t>Efficient sorting is a crucial aspect of performance optimization in computer science, serving as a foundation for numerous data processing and analysis tasks. This study demonstrates the performance trade-offs between Sequential Merge Sort and Multithreaded Merge Sort implementations. For smaller datasets, the sequential version performed more efficiently due to lower overhead from thread creation and synchronization. However, as dataset size increased, the multithreaded implementation achieved significant acceleration, leveraging multiple CPU cores to divide the workload and reduce total execution time.</a:t>
            </a:r>
          </a:p>
          <a:p>
            <a:pPr algn="just"/>
            <a:r>
              <a:rPr lang="en-US" sz="1200" dirty="0">
                <a:latin typeface="Times New Roman" panose="02020603050405020304" pitchFamily="18" charset="0"/>
                <a:cs typeface="Times New Roman" panose="02020603050405020304" pitchFamily="18" charset="0"/>
              </a:rPr>
              <a:t>Experimental analysis revealed a clear crossover point—beyond approximately 20,000 elements—where the benefits of parallelism outweigh its setup cost. The Multithreaded Merge Sort achieved up to 3–6× speedup on multi-core systems, depending on core count and thread management efficiency. This illustrates that parallel sorting becomes increasingly advantageous as data size grows and computational complexity scales.</a:t>
            </a:r>
          </a:p>
          <a:p>
            <a:pPr algn="just"/>
            <a:r>
              <a:rPr lang="en-US" sz="1200" dirty="0">
                <a:latin typeface="Times New Roman" panose="02020603050405020304" pitchFamily="18" charset="0"/>
                <a:cs typeface="Times New Roman" panose="02020603050405020304" pitchFamily="18" charset="0"/>
              </a:rPr>
              <a:t>The results emphasize the importance of hardware-aware algorithm design. While single-threaded algorithms are optimal for small, latency-sensitive operations, multithreaded approaches excel in large-scale, compute-intensive workloads where concurrency can be fully exploited. Future improvements such as dynamic thread pooling, load balancing, and hybrid parallelization with GPU acceleration can further enhance performance. This project reaffirms that combining algorithmic efficiency with parallel architecture utilization is essential for achieving high-performance computation in modern systems.</a:t>
            </a:r>
          </a:p>
        </p:txBody>
      </p:sp>
      <p:sp>
        <p:nvSpPr>
          <p:cNvPr id="5" name="object 5"/>
          <p:cNvSpPr/>
          <p:nvPr/>
        </p:nvSpPr>
        <p:spPr>
          <a:xfrm>
            <a:off x="228600" y="228599"/>
            <a:ext cx="7315200" cy="9601200"/>
          </a:xfrm>
          <a:custGeom>
            <a:avLst/>
            <a:gdLst/>
            <a:ahLst/>
            <a:cxnLst/>
            <a:rect l="l" t="t" r="r" b="b"/>
            <a:pathLst>
              <a:path w="7315200" h="9601200">
                <a:moveTo>
                  <a:pt x="7315200" y="12"/>
                </a:moveTo>
                <a:lnTo>
                  <a:pt x="7309104" y="12"/>
                </a:lnTo>
                <a:lnTo>
                  <a:pt x="7309104" y="6096"/>
                </a:lnTo>
                <a:lnTo>
                  <a:pt x="7309091" y="9595104"/>
                </a:lnTo>
                <a:lnTo>
                  <a:pt x="6083" y="9595104"/>
                </a:lnTo>
                <a:lnTo>
                  <a:pt x="6083" y="6096"/>
                </a:lnTo>
                <a:lnTo>
                  <a:pt x="7309091" y="6096"/>
                </a:lnTo>
                <a:lnTo>
                  <a:pt x="7309091" y="0"/>
                </a:lnTo>
                <a:lnTo>
                  <a:pt x="0" y="0"/>
                </a:lnTo>
                <a:lnTo>
                  <a:pt x="0" y="6096"/>
                </a:lnTo>
                <a:lnTo>
                  <a:pt x="0" y="9595104"/>
                </a:lnTo>
                <a:lnTo>
                  <a:pt x="0" y="9601200"/>
                </a:lnTo>
                <a:lnTo>
                  <a:pt x="7309091" y="9601200"/>
                </a:lnTo>
                <a:lnTo>
                  <a:pt x="7315200" y="9601200"/>
                </a:lnTo>
                <a:lnTo>
                  <a:pt x="7315200" y="9595104"/>
                </a:lnTo>
                <a:lnTo>
                  <a:pt x="7315200" y="6096"/>
                </a:lnTo>
                <a:lnTo>
                  <a:pt x="7315200" y="12"/>
                </a:lnTo>
                <a:close/>
              </a:path>
            </a:pathLst>
          </a:custGeom>
          <a:solidFill>
            <a:srgbClr val="000000"/>
          </a:solidFill>
        </p:spPr>
        <p:txBody>
          <a:bodyPr wrap="square" lIns="0" tIns="0" rIns="0" bIns="0" rtlCol="0"/>
          <a:lstStyle/>
          <a:p>
            <a:endParaRPr/>
          </a:p>
        </p:txBody>
      </p:sp>
      <p:sp>
        <p:nvSpPr>
          <p:cNvPr id="6" name="object 6"/>
          <p:cNvSpPr txBox="1">
            <a:spLocks noGrp="1"/>
          </p:cNvSpPr>
          <p:nvPr>
            <p:ph type="ftr" sz="quarter" idx="5"/>
          </p:nvPr>
        </p:nvSpPr>
        <p:spPr>
          <a:prstGeom prst="rect">
            <a:avLst/>
          </a:prstGeom>
        </p:spPr>
        <p:txBody>
          <a:bodyPr vert="horz" wrap="square" lIns="0" tIns="0" rIns="0" bIns="0" rtlCol="0">
            <a:spAutoFit/>
          </a:bodyPr>
          <a:lstStyle/>
          <a:p>
            <a:pPr marL="12700">
              <a:lnSpc>
                <a:spcPts val="1460"/>
              </a:lnSpc>
            </a:pPr>
            <a:r>
              <a:rPr dirty="0"/>
              <a:t>DEPARTMENT</a:t>
            </a:r>
            <a:r>
              <a:rPr spc="-30" dirty="0"/>
              <a:t> </a:t>
            </a:r>
            <a:r>
              <a:rPr dirty="0"/>
              <a:t>OF</a:t>
            </a:r>
            <a:r>
              <a:rPr spc="-40" dirty="0"/>
              <a:t> </a:t>
            </a:r>
            <a:r>
              <a:rPr dirty="0"/>
              <a:t>COMPUTER</a:t>
            </a:r>
            <a:r>
              <a:rPr spc="-45" dirty="0"/>
              <a:t> </a:t>
            </a:r>
            <a:r>
              <a:rPr spc="-10" dirty="0"/>
              <a:t>ENGINEERING,</a:t>
            </a:r>
            <a:r>
              <a:rPr spc="-45" dirty="0"/>
              <a:t> </a:t>
            </a:r>
            <a:r>
              <a:rPr dirty="0"/>
              <a:t>PESMCOE,</a:t>
            </a:r>
            <a:r>
              <a:rPr spc="-40" dirty="0"/>
              <a:t> </a:t>
            </a:r>
            <a:r>
              <a:rPr spc="-10" dirty="0"/>
              <a:t>PUNE:05</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651763" y="342692"/>
            <a:ext cx="184150" cy="215265"/>
          </a:xfrm>
          <a:prstGeom prst="rect">
            <a:avLst/>
          </a:prstGeom>
        </p:spPr>
        <p:txBody>
          <a:bodyPr vert="horz" wrap="square" lIns="0" tIns="12065" rIns="0" bIns="0" rtlCol="0">
            <a:spAutoFit/>
          </a:bodyPr>
          <a:lstStyle/>
          <a:p>
            <a:pPr marL="12700">
              <a:lnSpc>
                <a:spcPct val="100000"/>
              </a:lnSpc>
              <a:spcBef>
                <a:spcPts val="95"/>
              </a:spcBef>
            </a:pPr>
            <a:r>
              <a:rPr sz="1250" b="1" spc="-25" dirty="0">
                <a:solidFill>
                  <a:srgbClr val="FFFFFF"/>
                </a:solidFill>
                <a:latin typeface="Times New Roman"/>
                <a:cs typeface="Times New Roman"/>
              </a:rPr>
              <a:t>19</a:t>
            </a:r>
            <a:endParaRPr sz="1250">
              <a:latin typeface="Times New Roman"/>
              <a:cs typeface="Times New Roman"/>
            </a:endParaRPr>
          </a:p>
        </p:txBody>
      </p:sp>
      <p:sp>
        <p:nvSpPr>
          <p:cNvPr id="3" name="object 3"/>
          <p:cNvSpPr txBox="1"/>
          <p:nvPr/>
        </p:nvSpPr>
        <p:spPr>
          <a:xfrm>
            <a:off x="1773427" y="363967"/>
            <a:ext cx="4224655" cy="166071"/>
          </a:xfrm>
          <a:prstGeom prst="rect">
            <a:avLst/>
          </a:prstGeom>
        </p:spPr>
        <p:txBody>
          <a:bodyPr vert="horz" wrap="square" lIns="0" tIns="12065" rIns="0" bIns="0" rtlCol="0">
            <a:spAutoFit/>
          </a:bodyPr>
          <a:lstStyle/>
          <a:p>
            <a:pPr marL="12700">
              <a:lnSpc>
                <a:spcPct val="100000"/>
              </a:lnSpc>
              <a:spcBef>
                <a:spcPts val="95"/>
              </a:spcBef>
            </a:pPr>
            <a:r>
              <a:rPr lang="en-US" sz="1000" dirty="0">
                <a:latin typeface="Times New Roman"/>
                <a:cs typeface="Times New Roman"/>
              </a:rPr>
              <a:t>Performance Analysis of Single-Threaded and Multithreaded Merge Sort</a:t>
            </a:r>
            <a:endParaRPr sz="1000" dirty="0">
              <a:latin typeface="Times New Roman"/>
              <a:cs typeface="Times New Roman"/>
            </a:endParaRPr>
          </a:p>
        </p:txBody>
      </p:sp>
      <p:sp>
        <p:nvSpPr>
          <p:cNvPr id="4" name="object 4"/>
          <p:cNvSpPr txBox="1"/>
          <p:nvPr/>
        </p:nvSpPr>
        <p:spPr>
          <a:xfrm>
            <a:off x="4106048" y="7100205"/>
            <a:ext cx="2682875" cy="1616710"/>
          </a:xfrm>
          <a:prstGeom prst="rect">
            <a:avLst/>
          </a:prstGeom>
        </p:spPr>
        <p:txBody>
          <a:bodyPr vert="horz" wrap="square" lIns="0" tIns="137795" rIns="0" bIns="0" rtlCol="0">
            <a:spAutoFit/>
          </a:bodyPr>
          <a:lstStyle/>
          <a:p>
            <a:pPr marR="5080" algn="r">
              <a:lnSpc>
                <a:spcPct val="100000"/>
              </a:lnSpc>
              <a:spcBef>
                <a:spcPts val="1085"/>
              </a:spcBef>
            </a:pPr>
            <a:r>
              <a:rPr sz="4400" b="1" spc="-25" dirty="0">
                <a:latin typeface="Times New Roman"/>
                <a:cs typeface="Times New Roman"/>
              </a:rPr>
              <a:t>8.</a:t>
            </a:r>
            <a:endParaRPr sz="4400">
              <a:latin typeface="Times New Roman"/>
              <a:cs typeface="Times New Roman"/>
            </a:endParaRPr>
          </a:p>
          <a:p>
            <a:pPr marR="53975" algn="r">
              <a:lnSpc>
                <a:spcPct val="100000"/>
              </a:lnSpc>
              <a:spcBef>
                <a:spcPts val="980"/>
              </a:spcBef>
            </a:pPr>
            <a:r>
              <a:rPr sz="4400" b="1" spc="-10" dirty="0">
                <a:latin typeface="Times New Roman"/>
                <a:cs typeface="Times New Roman"/>
              </a:rPr>
              <a:t>References</a:t>
            </a:r>
            <a:endParaRPr sz="4400">
              <a:latin typeface="Times New Roman"/>
              <a:cs typeface="Times New Roman"/>
            </a:endParaRPr>
          </a:p>
        </p:txBody>
      </p:sp>
      <p:sp>
        <p:nvSpPr>
          <p:cNvPr id="5" name="object 5"/>
          <p:cNvSpPr/>
          <p:nvPr/>
        </p:nvSpPr>
        <p:spPr>
          <a:xfrm>
            <a:off x="228600" y="228599"/>
            <a:ext cx="7315200" cy="9601200"/>
          </a:xfrm>
          <a:custGeom>
            <a:avLst/>
            <a:gdLst/>
            <a:ahLst/>
            <a:cxnLst/>
            <a:rect l="l" t="t" r="r" b="b"/>
            <a:pathLst>
              <a:path w="7315200" h="9601200">
                <a:moveTo>
                  <a:pt x="7315200" y="12"/>
                </a:moveTo>
                <a:lnTo>
                  <a:pt x="7309104" y="12"/>
                </a:lnTo>
                <a:lnTo>
                  <a:pt x="7309104" y="6096"/>
                </a:lnTo>
                <a:lnTo>
                  <a:pt x="7309091" y="9595104"/>
                </a:lnTo>
                <a:lnTo>
                  <a:pt x="6083" y="9595104"/>
                </a:lnTo>
                <a:lnTo>
                  <a:pt x="6083" y="6096"/>
                </a:lnTo>
                <a:lnTo>
                  <a:pt x="7309091" y="6096"/>
                </a:lnTo>
                <a:lnTo>
                  <a:pt x="7309091" y="0"/>
                </a:lnTo>
                <a:lnTo>
                  <a:pt x="0" y="0"/>
                </a:lnTo>
                <a:lnTo>
                  <a:pt x="0" y="6096"/>
                </a:lnTo>
                <a:lnTo>
                  <a:pt x="0" y="9595104"/>
                </a:lnTo>
                <a:lnTo>
                  <a:pt x="0" y="9601200"/>
                </a:lnTo>
                <a:lnTo>
                  <a:pt x="7309091" y="9601200"/>
                </a:lnTo>
                <a:lnTo>
                  <a:pt x="7315200" y="9601200"/>
                </a:lnTo>
                <a:lnTo>
                  <a:pt x="7315200" y="9595104"/>
                </a:lnTo>
                <a:lnTo>
                  <a:pt x="7315200" y="6096"/>
                </a:lnTo>
                <a:lnTo>
                  <a:pt x="7315200" y="12"/>
                </a:lnTo>
                <a:close/>
              </a:path>
            </a:pathLst>
          </a:custGeom>
          <a:solidFill>
            <a:srgbClr val="000000"/>
          </a:solidFill>
        </p:spPr>
        <p:txBody>
          <a:bodyPr wrap="square" lIns="0" tIns="0" rIns="0" bIns="0" rtlCol="0"/>
          <a:lstStyle/>
          <a:p>
            <a:endParaRPr/>
          </a:p>
        </p:txBody>
      </p:sp>
      <p:sp>
        <p:nvSpPr>
          <p:cNvPr id="6" name="object 6"/>
          <p:cNvSpPr txBox="1">
            <a:spLocks noGrp="1"/>
          </p:cNvSpPr>
          <p:nvPr>
            <p:ph type="ftr" sz="quarter" idx="5"/>
          </p:nvPr>
        </p:nvSpPr>
        <p:spPr>
          <a:prstGeom prst="rect">
            <a:avLst/>
          </a:prstGeom>
        </p:spPr>
        <p:txBody>
          <a:bodyPr vert="horz" wrap="square" lIns="0" tIns="0" rIns="0" bIns="0" rtlCol="0">
            <a:spAutoFit/>
          </a:bodyPr>
          <a:lstStyle/>
          <a:p>
            <a:pPr marL="12700">
              <a:lnSpc>
                <a:spcPts val="1460"/>
              </a:lnSpc>
            </a:pPr>
            <a:r>
              <a:rPr dirty="0"/>
              <a:t>DEPARTMENT</a:t>
            </a:r>
            <a:r>
              <a:rPr spc="-30" dirty="0"/>
              <a:t> </a:t>
            </a:r>
            <a:r>
              <a:rPr dirty="0"/>
              <a:t>OF</a:t>
            </a:r>
            <a:r>
              <a:rPr spc="-40" dirty="0"/>
              <a:t> </a:t>
            </a:r>
            <a:r>
              <a:rPr dirty="0"/>
              <a:t>COMPUTER</a:t>
            </a:r>
            <a:r>
              <a:rPr spc="-45" dirty="0"/>
              <a:t> </a:t>
            </a:r>
            <a:r>
              <a:rPr spc="-10" dirty="0"/>
              <a:t>ENGINEERING,</a:t>
            </a:r>
            <a:r>
              <a:rPr spc="-45" dirty="0"/>
              <a:t> </a:t>
            </a:r>
            <a:r>
              <a:rPr dirty="0"/>
              <a:t>PESMCOE,</a:t>
            </a:r>
            <a:r>
              <a:rPr spc="-40" dirty="0"/>
              <a:t> </a:t>
            </a:r>
            <a:r>
              <a:rPr spc="-10" dirty="0"/>
              <a:t>PUNE:05</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651763" y="342692"/>
            <a:ext cx="184150" cy="215265"/>
          </a:xfrm>
          <a:prstGeom prst="rect">
            <a:avLst/>
          </a:prstGeom>
        </p:spPr>
        <p:txBody>
          <a:bodyPr vert="horz" wrap="square" lIns="0" tIns="12065" rIns="0" bIns="0" rtlCol="0">
            <a:spAutoFit/>
          </a:bodyPr>
          <a:lstStyle/>
          <a:p>
            <a:pPr marL="12700">
              <a:lnSpc>
                <a:spcPct val="100000"/>
              </a:lnSpc>
              <a:spcBef>
                <a:spcPts val="95"/>
              </a:spcBef>
            </a:pPr>
            <a:r>
              <a:rPr sz="1250" b="1" spc="-25" dirty="0">
                <a:solidFill>
                  <a:srgbClr val="FFFFFF"/>
                </a:solidFill>
                <a:latin typeface="Times New Roman"/>
                <a:cs typeface="Times New Roman"/>
              </a:rPr>
              <a:t>20</a:t>
            </a:r>
            <a:endParaRPr sz="1250">
              <a:latin typeface="Times New Roman"/>
              <a:cs typeface="Times New Roman"/>
            </a:endParaRPr>
          </a:p>
        </p:txBody>
      </p:sp>
      <p:sp>
        <p:nvSpPr>
          <p:cNvPr id="3" name="object 3"/>
          <p:cNvSpPr txBox="1"/>
          <p:nvPr/>
        </p:nvSpPr>
        <p:spPr>
          <a:xfrm>
            <a:off x="1773427" y="363967"/>
            <a:ext cx="4224655" cy="166071"/>
          </a:xfrm>
          <a:prstGeom prst="rect">
            <a:avLst/>
          </a:prstGeom>
        </p:spPr>
        <p:txBody>
          <a:bodyPr vert="horz" wrap="square" lIns="0" tIns="12065" rIns="0" bIns="0" rtlCol="0">
            <a:spAutoFit/>
          </a:bodyPr>
          <a:lstStyle/>
          <a:p>
            <a:pPr marL="12700">
              <a:lnSpc>
                <a:spcPct val="100000"/>
              </a:lnSpc>
              <a:spcBef>
                <a:spcPts val="95"/>
              </a:spcBef>
            </a:pPr>
            <a:r>
              <a:rPr lang="en-US" sz="1000" dirty="0">
                <a:latin typeface="Times New Roman"/>
                <a:cs typeface="Times New Roman"/>
              </a:rPr>
              <a:t>Performance Analysis of Single-Threaded and Multithreaded Merge Sort</a:t>
            </a:r>
            <a:endParaRPr sz="1000" dirty="0">
              <a:latin typeface="Times New Roman"/>
              <a:cs typeface="Times New Roman"/>
            </a:endParaRPr>
          </a:p>
        </p:txBody>
      </p:sp>
      <p:sp>
        <p:nvSpPr>
          <p:cNvPr id="4" name="object 4"/>
          <p:cNvSpPr txBox="1"/>
          <p:nvPr/>
        </p:nvSpPr>
        <p:spPr>
          <a:xfrm>
            <a:off x="901700" y="1244888"/>
            <a:ext cx="5969635" cy="6703117"/>
          </a:xfrm>
          <a:prstGeom prst="rect">
            <a:avLst/>
          </a:prstGeom>
        </p:spPr>
        <p:txBody>
          <a:bodyPr vert="horz" wrap="square" lIns="0" tIns="24130" rIns="0" bIns="0" rtlCol="0">
            <a:spAutoFit/>
          </a:bodyPr>
          <a:lstStyle/>
          <a:p>
            <a:pPr algn="just"/>
            <a:r>
              <a:rPr lang="en-IN" sz="1300" b="1" dirty="0">
                <a:latin typeface="Times New Roman" panose="02020603050405020304" pitchFamily="18" charset="0"/>
                <a:cs typeface="Times New Roman" panose="02020603050405020304" pitchFamily="18" charset="0"/>
              </a:rPr>
              <a:t>6. References</a:t>
            </a:r>
          </a:p>
          <a:p>
            <a:pPr algn="just"/>
            <a:endParaRPr lang="en-IN" sz="1300" b="1" dirty="0">
              <a:latin typeface="Times New Roman" panose="02020603050405020304" pitchFamily="18" charset="0"/>
              <a:cs typeface="Times New Roman" panose="02020603050405020304" pitchFamily="18" charset="0"/>
            </a:endParaRPr>
          </a:p>
          <a:p>
            <a:pPr marL="228600" indent="-228600" algn="just">
              <a:buFont typeface="+mj-lt"/>
              <a:buAutoNum type="arabicPeriod"/>
            </a:pPr>
            <a:r>
              <a:rPr lang="en-IN" sz="1200" dirty="0">
                <a:latin typeface="Times New Roman" panose="02020603050405020304" pitchFamily="18" charset="0"/>
                <a:cs typeface="Times New Roman" panose="02020603050405020304" pitchFamily="18" charset="0"/>
              </a:rPr>
              <a:t>A. Patel and R. Singh, “Parallel Merge Sort Implementation Using Multithreading in C++,” </a:t>
            </a:r>
            <a:r>
              <a:rPr lang="en-IN" sz="1200" i="1" dirty="0">
                <a:latin typeface="Times New Roman" panose="02020603050405020304" pitchFamily="18" charset="0"/>
                <a:cs typeface="Times New Roman" panose="02020603050405020304" pitchFamily="18" charset="0"/>
              </a:rPr>
              <a:t>International Journal of Advanced Research in Computer Science</a:t>
            </a:r>
            <a:r>
              <a:rPr lang="en-IN" sz="1200" dirty="0">
                <a:latin typeface="Times New Roman" panose="02020603050405020304" pitchFamily="18" charset="0"/>
                <a:cs typeface="Times New Roman" panose="02020603050405020304" pitchFamily="18" charset="0"/>
              </a:rPr>
              <a:t>, vol. 11, no. 5, pp. 45–52, 2020.</a:t>
            </a:r>
          </a:p>
          <a:p>
            <a:pPr marL="228600" indent="-228600" algn="just">
              <a:buFont typeface="+mj-lt"/>
              <a:buAutoNum type="arabicPeriod"/>
            </a:pPr>
            <a:endParaRPr lang="en-IN" sz="1200" dirty="0">
              <a:latin typeface="Times New Roman" panose="02020603050405020304" pitchFamily="18" charset="0"/>
              <a:cs typeface="Times New Roman" panose="02020603050405020304" pitchFamily="18" charset="0"/>
            </a:endParaRPr>
          </a:p>
          <a:p>
            <a:pPr marL="228600" indent="-228600" algn="just">
              <a:buFont typeface="+mj-lt"/>
              <a:buAutoNum type="arabicPeriod"/>
            </a:pPr>
            <a:r>
              <a:rPr lang="en-IN" sz="1200" dirty="0">
                <a:latin typeface="Times New Roman" panose="02020603050405020304" pitchFamily="18" charset="0"/>
                <a:cs typeface="Times New Roman" panose="02020603050405020304" pitchFamily="18" charset="0"/>
              </a:rPr>
              <a:t>M. Gupta and S. Sharma, “Performance Comparison of Sequential and Multithreaded Sorting Algorithms,” </a:t>
            </a:r>
            <a:r>
              <a:rPr lang="en-IN" sz="1200" i="1" dirty="0">
                <a:latin typeface="Times New Roman" panose="02020603050405020304" pitchFamily="18" charset="0"/>
                <a:cs typeface="Times New Roman" panose="02020603050405020304" pitchFamily="18" charset="0"/>
              </a:rPr>
              <a:t>IEEE Conference on Parallel and Distributed Systems</a:t>
            </a:r>
            <a:r>
              <a:rPr lang="en-IN" sz="1200" dirty="0">
                <a:latin typeface="Times New Roman" panose="02020603050405020304" pitchFamily="18" charset="0"/>
                <a:cs typeface="Times New Roman" panose="02020603050405020304" pitchFamily="18" charset="0"/>
              </a:rPr>
              <a:t>, 2019.</a:t>
            </a:r>
          </a:p>
          <a:p>
            <a:pPr marL="228600" indent="-228600" algn="just">
              <a:buFont typeface="+mj-lt"/>
              <a:buAutoNum type="arabicPeriod"/>
            </a:pPr>
            <a:endParaRPr lang="en-IN" sz="1200" dirty="0">
              <a:latin typeface="Times New Roman" panose="02020603050405020304" pitchFamily="18" charset="0"/>
              <a:cs typeface="Times New Roman" panose="02020603050405020304" pitchFamily="18" charset="0"/>
            </a:endParaRPr>
          </a:p>
          <a:p>
            <a:pPr marL="228600" indent="-228600" algn="just">
              <a:buFont typeface="+mj-lt"/>
              <a:buAutoNum type="arabicPeriod"/>
            </a:pPr>
            <a:r>
              <a:rPr lang="en-IN" sz="1200" dirty="0">
                <a:latin typeface="Times New Roman" panose="02020603050405020304" pitchFamily="18" charset="0"/>
                <a:cs typeface="Times New Roman" panose="02020603050405020304" pitchFamily="18" charset="0"/>
              </a:rPr>
              <a:t>D. E. Knuth, </a:t>
            </a:r>
            <a:r>
              <a:rPr lang="en-IN" sz="1200" i="1" dirty="0">
                <a:latin typeface="Times New Roman" panose="02020603050405020304" pitchFamily="18" charset="0"/>
                <a:cs typeface="Times New Roman" panose="02020603050405020304" pitchFamily="18" charset="0"/>
              </a:rPr>
              <a:t>The Art of Computer Programming, Vol. 3: Sorting and Searching</a:t>
            </a:r>
            <a:r>
              <a:rPr lang="en-IN" sz="1200" dirty="0">
                <a:latin typeface="Times New Roman" panose="02020603050405020304" pitchFamily="18" charset="0"/>
                <a:cs typeface="Times New Roman" panose="02020603050405020304" pitchFamily="18" charset="0"/>
              </a:rPr>
              <a:t>, Addison-Wesley, 2018.</a:t>
            </a:r>
          </a:p>
          <a:p>
            <a:pPr marL="228600" indent="-228600" algn="just">
              <a:buFont typeface="+mj-lt"/>
              <a:buAutoNum type="arabicPeriod"/>
            </a:pPr>
            <a:endParaRPr lang="en-IN" sz="1200" dirty="0">
              <a:latin typeface="Times New Roman" panose="02020603050405020304" pitchFamily="18" charset="0"/>
              <a:cs typeface="Times New Roman" panose="02020603050405020304" pitchFamily="18" charset="0"/>
            </a:endParaRPr>
          </a:p>
          <a:p>
            <a:pPr marL="228600" indent="-228600" algn="just">
              <a:buFont typeface="+mj-lt"/>
              <a:buAutoNum type="arabicPeriod"/>
            </a:pPr>
            <a:r>
              <a:rPr lang="en-IN" sz="1200" dirty="0">
                <a:latin typeface="Times New Roman" panose="02020603050405020304" pitchFamily="18" charset="0"/>
                <a:cs typeface="Times New Roman" panose="02020603050405020304" pitchFamily="18" charset="0"/>
              </a:rPr>
              <a:t>R. </a:t>
            </a:r>
            <a:r>
              <a:rPr lang="en-IN" sz="1200" dirty="0" err="1">
                <a:latin typeface="Times New Roman" panose="02020603050405020304" pitchFamily="18" charset="0"/>
                <a:cs typeface="Times New Roman" panose="02020603050405020304" pitchFamily="18" charset="0"/>
              </a:rPr>
              <a:t>Buyya</a:t>
            </a:r>
            <a:r>
              <a:rPr lang="en-IN" sz="1200" dirty="0">
                <a:latin typeface="Times New Roman" panose="02020603050405020304" pitchFamily="18" charset="0"/>
                <a:cs typeface="Times New Roman" panose="02020603050405020304" pitchFamily="18" charset="0"/>
              </a:rPr>
              <a:t>, </a:t>
            </a:r>
            <a:r>
              <a:rPr lang="en-IN" sz="1200" i="1" dirty="0">
                <a:latin typeface="Times New Roman" panose="02020603050405020304" pitchFamily="18" charset="0"/>
                <a:cs typeface="Times New Roman" panose="02020603050405020304" pitchFamily="18" charset="0"/>
              </a:rPr>
              <a:t>High Performance Cluster Computing: Architectures and Systems</a:t>
            </a:r>
            <a:r>
              <a:rPr lang="en-IN" sz="1200" dirty="0">
                <a:latin typeface="Times New Roman" panose="02020603050405020304" pitchFamily="18" charset="0"/>
                <a:cs typeface="Times New Roman" panose="02020603050405020304" pitchFamily="18" charset="0"/>
              </a:rPr>
              <a:t>, Prentice Hall, 2017.</a:t>
            </a:r>
          </a:p>
          <a:p>
            <a:pPr marL="228600" indent="-228600" algn="just">
              <a:buFont typeface="+mj-lt"/>
              <a:buAutoNum type="arabicPeriod"/>
            </a:pPr>
            <a:endParaRPr lang="en-IN" sz="1200" dirty="0">
              <a:latin typeface="Times New Roman" panose="02020603050405020304" pitchFamily="18" charset="0"/>
              <a:cs typeface="Times New Roman" panose="02020603050405020304" pitchFamily="18" charset="0"/>
            </a:endParaRPr>
          </a:p>
          <a:p>
            <a:pPr marL="228600" indent="-228600" algn="just">
              <a:buFont typeface="+mj-lt"/>
              <a:buAutoNum type="arabicPeriod"/>
            </a:pPr>
            <a:r>
              <a:rPr lang="en-IN" sz="1200" dirty="0">
                <a:latin typeface="Times New Roman" panose="02020603050405020304" pitchFamily="18" charset="0"/>
                <a:cs typeface="Times New Roman" panose="02020603050405020304" pitchFamily="18" charset="0"/>
              </a:rPr>
              <a:t>W. Stallings, </a:t>
            </a:r>
            <a:r>
              <a:rPr lang="en-IN" sz="1200" i="1" dirty="0">
                <a:latin typeface="Times New Roman" panose="02020603050405020304" pitchFamily="18" charset="0"/>
                <a:cs typeface="Times New Roman" panose="02020603050405020304" pitchFamily="18" charset="0"/>
              </a:rPr>
              <a:t>Computer Organization and Architecture: Designing for Performance</a:t>
            </a:r>
            <a:r>
              <a:rPr lang="en-IN" sz="1200" dirty="0">
                <a:latin typeface="Times New Roman" panose="02020603050405020304" pitchFamily="18" charset="0"/>
                <a:cs typeface="Times New Roman" panose="02020603050405020304" pitchFamily="18" charset="0"/>
              </a:rPr>
              <a:t>, Pearson Education, 2016.</a:t>
            </a:r>
          </a:p>
          <a:p>
            <a:pPr marL="228600" indent="-228600" algn="just">
              <a:buFont typeface="+mj-lt"/>
              <a:buAutoNum type="arabicPeriod"/>
            </a:pPr>
            <a:endParaRPr lang="en-IN" sz="1200" dirty="0">
              <a:latin typeface="Times New Roman" panose="02020603050405020304" pitchFamily="18" charset="0"/>
              <a:cs typeface="Times New Roman" panose="02020603050405020304" pitchFamily="18" charset="0"/>
            </a:endParaRPr>
          </a:p>
          <a:p>
            <a:pPr marL="228600" indent="-228600" algn="just">
              <a:buFont typeface="+mj-lt"/>
              <a:buAutoNum type="arabicPeriod"/>
            </a:pPr>
            <a:r>
              <a:rPr lang="en-IN" sz="1200" dirty="0">
                <a:latin typeface="Times New Roman" panose="02020603050405020304" pitchFamily="18" charset="0"/>
                <a:cs typeface="Times New Roman" panose="02020603050405020304" pitchFamily="18" charset="0"/>
              </a:rPr>
              <a:t>H. S. Patel and M. K. Chauhan, “Optimizing Merge Sort Using Multithreading on Multi-Core Processors,” </a:t>
            </a:r>
            <a:r>
              <a:rPr lang="en-IN" sz="1200" i="1" dirty="0">
                <a:latin typeface="Times New Roman" panose="02020603050405020304" pitchFamily="18" charset="0"/>
                <a:cs typeface="Times New Roman" panose="02020603050405020304" pitchFamily="18" charset="0"/>
              </a:rPr>
              <a:t>International Journal of Computer Applications</a:t>
            </a:r>
            <a:r>
              <a:rPr lang="en-IN" sz="1200" dirty="0">
                <a:latin typeface="Times New Roman" panose="02020603050405020304" pitchFamily="18" charset="0"/>
                <a:cs typeface="Times New Roman" panose="02020603050405020304" pitchFamily="18" charset="0"/>
              </a:rPr>
              <a:t>, vol. 178, no. 7, pp. 12–17, 2019.</a:t>
            </a:r>
          </a:p>
          <a:p>
            <a:pPr marL="228600" indent="-228600" algn="just">
              <a:buFont typeface="+mj-lt"/>
              <a:buAutoNum type="arabicPeriod"/>
            </a:pPr>
            <a:endParaRPr lang="en-IN" sz="1200" dirty="0">
              <a:latin typeface="Times New Roman" panose="02020603050405020304" pitchFamily="18" charset="0"/>
              <a:cs typeface="Times New Roman" panose="02020603050405020304" pitchFamily="18" charset="0"/>
            </a:endParaRPr>
          </a:p>
          <a:p>
            <a:pPr marL="228600" indent="-228600" algn="just">
              <a:buFont typeface="+mj-lt"/>
              <a:buAutoNum type="arabicPeriod"/>
            </a:pPr>
            <a:r>
              <a:rPr lang="en-IN" sz="1200" dirty="0">
                <a:latin typeface="Times New Roman" panose="02020603050405020304" pitchFamily="18" charset="0"/>
                <a:cs typeface="Times New Roman" panose="02020603050405020304" pitchFamily="18" charset="0"/>
              </a:rPr>
              <a:t>P. Pacheco, </a:t>
            </a:r>
            <a:r>
              <a:rPr lang="en-IN" sz="1200" i="1" dirty="0">
                <a:latin typeface="Times New Roman" panose="02020603050405020304" pitchFamily="18" charset="0"/>
                <a:cs typeface="Times New Roman" panose="02020603050405020304" pitchFamily="18" charset="0"/>
              </a:rPr>
              <a:t>An Introduction to Parallel Programming with MPI and OpenMP</a:t>
            </a:r>
            <a:r>
              <a:rPr lang="en-IN" sz="1200" dirty="0">
                <a:latin typeface="Times New Roman" panose="02020603050405020304" pitchFamily="18" charset="0"/>
                <a:cs typeface="Times New Roman" panose="02020603050405020304" pitchFamily="18" charset="0"/>
              </a:rPr>
              <a:t>, Morgan Kaufmann, 2011.</a:t>
            </a:r>
          </a:p>
          <a:p>
            <a:pPr marL="228600" indent="-228600" algn="just">
              <a:buFont typeface="+mj-lt"/>
              <a:buAutoNum type="arabicPeriod"/>
            </a:pPr>
            <a:endParaRPr lang="en-IN" sz="1200" dirty="0">
              <a:latin typeface="Times New Roman" panose="02020603050405020304" pitchFamily="18" charset="0"/>
              <a:cs typeface="Times New Roman" panose="02020603050405020304" pitchFamily="18" charset="0"/>
            </a:endParaRPr>
          </a:p>
          <a:p>
            <a:pPr marL="228600" indent="-228600" algn="just">
              <a:buFont typeface="+mj-lt"/>
              <a:buAutoNum type="arabicPeriod"/>
            </a:pPr>
            <a:r>
              <a:rPr lang="en-IN" sz="1200" dirty="0">
                <a:latin typeface="Times New Roman" panose="02020603050405020304" pitchFamily="18" charset="0"/>
                <a:cs typeface="Times New Roman" panose="02020603050405020304" pitchFamily="18" charset="0"/>
              </a:rPr>
              <a:t>L. Grama, A. Gupta, G. </a:t>
            </a:r>
            <a:r>
              <a:rPr lang="en-IN" sz="1200" dirty="0" err="1">
                <a:latin typeface="Times New Roman" panose="02020603050405020304" pitchFamily="18" charset="0"/>
                <a:cs typeface="Times New Roman" panose="02020603050405020304" pitchFamily="18" charset="0"/>
              </a:rPr>
              <a:t>Karypis</a:t>
            </a:r>
            <a:r>
              <a:rPr lang="en-IN" sz="1200" dirty="0">
                <a:latin typeface="Times New Roman" panose="02020603050405020304" pitchFamily="18" charset="0"/>
                <a:cs typeface="Times New Roman" panose="02020603050405020304" pitchFamily="18" charset="0"/>
              </a:rPr>
              <a:t>, and V. Kumar, </a:t>
            </a:r>
            <a:r>
              <a:rPr lang="en-IN" sz="1200" i="1" dirty="0">
                <a:latin typeface="Times New Roman" panose="02020603050405020304" pitchFamily="18" charset="0"/>
                <a:cs typeface="Times New Roman" panose="02020603050405020304" pitchFamily="18" charset="0"/>
              </a:rPr>
              <a:t>Introduction to Parallel Computing</a:t>
            </a:r>
            <a:r>
              <a:rPr lang="en-IN" sz="1200" dirty="0">
                <a:latin typeface="Times New Roman" panose="02020603050405020304" pitchFamily="18" charset="0"/>
                <a:cs typeface="Times New Roman" panose="02020603050405020304" pitchFamily="18" charset="0"/>
              </a:rPr>
              <a:t>, 2nd Edition, Addison-Wesley, 2003.</a:t>
            </a:r>
          </a:p>
          <a:p>
            <a:pPr marL="228600" indent="-228600" algn="just">
              <a:buFont typeface="+mj-lt"/>
              <a:buAutoNum type="arabicPeriod"/>
            </a:pPr>
            <a:endParaRPr lang="en-IN" sz="1200" dirty="0">
              <a:latin typeface="Times New Roman" panose="02020603050405020304" pitchFamily="18" charset="0"/>
              <a:cs typeface="Times New Roman" panose="02020603050405020304" pitchFamily="18" charset="0"/>
            </a:endParaRPr>
          </a:p>
          <a:p>
            <a:pPr marL="228600" indent="-228600" algn="just">
              <a:buFont typeface="+mj-lt"/>
              <a:buAutoNum type="arabicPeriod"/>
            </a:pPr>
            <a:r>
              <a:rPr lang="en-IN" sz="1200" dirty="0">
                <a:latin typeface="Times New Roman" panose="02020603050405020304" pitchFamily="18" charset="0"/>
                <a:cs typeface="Times New Roman" panose="02020603050405020304" pitchFamily="18" charset="0"/>
              </a:rPr>
              <a:t>R. B. Mishra, “Performance Optimization of Parallel Sorting Algorithms on Multi-Core Systems,” </a:t>
            </a:r>
            <a:r>
              <a:rPr lang="en-IN" sz="1200" i="1" dirty="0">
                <a:latin typeface="Times New Roman" panose="02020603050405020304" pitchFamily="18" charset="0"/>
                <a:cs typeface="Times New Roman" panose="02020603050405020304" pitchFamily="18" charset="0"/>
              </a:rPr>
              <a:t>International Journal of High Performance Computing Applications</a:t>
            </a:r>
            <a:r>
              <a:rPr lang="en-IN" sz="1200" dirty="0">
                <a:latin typeface="Times New Roman" panose="02020603050405020304" pitchFamily="18" charset="0"/>
                <a:cs typeface="Times New Roman" panose="02020603050405020304" pitchFamily="18" charset="0"/>
              </a:rPr>
              <a:t>, 2018.</a:t>
            </a:r>
          </a:p>
          <a:p>
            <a:pPr marL="228600" indent="-228600" algn="just">
              <a:buFont typeface="+mj-lt"/>
              <a:buAutoNum type="arabicPeriod"/>
            </a:pPr>
            <a:endParaRPr lang="en-IN" sz="1200" dirty="0">
              <a:latin typeface="Times New Roman" panose="02020603050405020304" pitchFamily="18" charset="0"/>
              <a:cs typeface="Times New Roman" panose="02020603050405020304" pitchFamily="18" charset="0"/>
            </a:endParaRPr>
          </a:p>
          <a:p>
            <a:pPr marL="228600" indent="-228600" algn="just">
              <a:buFont typeface="+mj-lt"/>
              <a:buAutoNum type="arabicPeriod"/>
            </a:pPr>
            <a:r>
              <a:rPr lang="en-IN" sz="1200" dirty="0">
                <a:latin typeface="Times New Roman" panose="02020603050405020304" pitchFamily="18" charset="0"/>
                <a:cs typeface="Times New Roman" panose="02020603050405020304" pitchFamily="18" charset="0"/>
              </a:rPr>
              <a:t>S. Williams et al., “Roofline: A Visual Performance Model for Multicore Architectures,” </a:t>
            </a:r>
            <a:r>
              <a:rPr lang="en-IN" sz="1200" i="1" dirty="0">
                <a:latin typeface="Times New Roman" panose="02020603050405020304" pitchFamily="18" charset="0"/>
                <a:cs typeface="Times New Roman" panose="02020603050405020304" pitchFamily="18" charset="0"/>
              </a:rPr>
              <a:t>Communications of the ACM</a:t>
            </a:r>
            <a:r>
              <a:rPr lang="en-IN" sz="1200" dirty="0">
                <a:latin typeface="Times New Roman" panose="02020603050405020304" pitchFamily="18" charset="0"/>
                <a:cs typeface="Times New Roman" panose="02020603050405020304" pitchFamily="18" charset="0"/>
              </a:rPr>
              <a:t>, vol. 52, no. 4, pp. 65–76, 2009.</a:t>
            </a:r>
          </a:p>
          <a:p>
            <a:pPr marL="228600" indent="-228600" algn="just">
              <a:buFont typeface="+mj-lt"/>
              <a:buAutoNum type="arabicPeriod"/>
            </a:pPr>
            <a:endParaRPr lang="en-IN" sz="1200" dirty="0">
              <a:latin typeface="Times New Roman" panose="02020603050405020304" pitchFamily="18" charset="0"/>
              <a:cs typeface="Times New Roman" panose="02020603050405020304" pitchFamily="18" charset="0"/>
            </a:endParaRPr>
          </a:p>
          <a:p>
            <a:pPr marL="228600" indent="-228600" algn="just">
              <a:buFont typeface="+mj-lt"/>
              <a:buAutoNum type="arabicPeriod"/>
            </a:pPr>
            <a:r>
              <a:rPr lang="en-IN" sz="1200" dirty="0">
                <a:latin typeface="Times New Roman" panose="02020603050405020304" pitchFamily="18" charset="0"/>
                <a:cs typeface="Times New Roman" panose="02020603050405020304" pitchFamily="18" charset="0"/>
              </a:rPr>
              <a:t>H. C. Chen and M. J. Wainwright, “High-Performance Algorithm Design for Parallel Sorting,” </a:t>
            </a:r>
            <a:r>
              <a:rPr lang="en-IN" sz="1200" i="1" dirty="0">
                <a:latin typeface="Times New Roman" panose="02020603050405020304" pitchFamily="18" charset="0"/>
                <a:cs typeface="Times New Roman" panose="02020603050405020304" pitchFamily="18" charset="0"/>
              </a:rPr>
              <a:t>Journal of Parallel and Distributed Computing</a:t>
            </a:r>
            <a:r>
              <a:rPr lang="en-IN" sz="1200" dirty="0">
                <a:latin typeface="Times New Roman" panose="02020603050405020304" pitchFamily="18" charset="0"/>
                <a:cs typeface="Times New Roman" panose="02020603050405020304" pitchFamily="18" charset="0"/>
              </a:rPr>
              <a:t>, 2015.</a:t>
            </a:r>
          </a:p>
        </p:txBody>
      </p:sp>
      <p:sp>
        <p:nvSpPr>
          <p:cNvPr id="5" name="object 5"/>
          <p:cNvSpPr/>
          <p:nvPr/>
        </p:nvSpPr>
        <p:spPr>
          <a:xfrm>
            <a:off x="228600" y="228599"/>
            <a:ext cx="7315200" cy="9601200"/>
          </a:xfrm>
          <a:custGeom>
            <a:avLst/>
            <a:gdLst/>
            <a:ahLst/>
            <a:cxnLst/>
            <a:rect l="l" t="t" r="r" b="b"/>
            <a:pathLst>
              <a:path w="7315200" h="9601200">
                <a:moveTo>
                  <a:pt x="7315200" y="12"/>
                </a:moveTo>
                <a:lnTo>
                  <a:pt x="7309104" y="12"/>
                </a:lnTo>
                <a:lnTo>
                  <a:pt x="7309104" y="6096"/>
                </a:lnTo>
                <a:lnTo>
                  <a:pt x="7309091" y="9595104"/>
                </a:lnTo>
                <a:lnTo>
                  <a:pt x="6083" y="9595104"/>
                </a:lnTo>
                <a:lnTo>
                  <a:pt x="6083" y="6096"/>
                </a:lnTo>
                <a:lnTo>
                  <a:pt x="7309091" y="6096"/>
                </a:lnTo>
                <a:lnTo>
                  <a:pt x="7309091" y="0"/>
                </a:lnTo>
                <a:lnTo>
                  <a:pt x="0" y="0"/>
                </a:lnTo>
                <a:lnTo>
                  <a:pt x="0" y="6096"/>
                </a:lnTo>
                <a:lnTo>
                  <a:pt x="0" y="9595104"/>
                </a:lnTo>
                <a:lnTo>
                  <a:pt x="0" y="9601200"/>
                </a:lnTo>
                <a:lnTo>
                  <a:pt x="7309091" y="9601200"/>
                </a:lnTo>
                <a:lnTo>
                  <a:pt x="7315200" y="9601200"/>
                </a:lnTo>
                <a:lnTo>
                  <a:pt x="7315200" y="9595104"/>
                </a:lnTo>
                <a:lnTo>
                  <a:pt x="7315200" y="6096"/>
                </a:lnTo>
                <a:lnTo>
                  <a:pt x="7315200" y="12"/>
                </a:lnTo>
                <a:close/>
              </a:path>
            </a:pathLst>
          </a:custGeom>
          <a:solidFill>
            <a:srgbClr val="000000"/>
          </a:solidFill>
        </p:spPr>
        <p:txBody>
          <a:bodyPr wrap="square" lIns="0" tIns="0" rIns="0" bIns="0" rtlCol="0"/>
          <a:lstStyle/>
          <a:p>
            <a:endParaRPr/>
          </a:p>
        </p:txBody>
      </p:sp>
      <p:sp>
        <p:nvSpPr>
          <p:cNvPr id="6" name="object 6"/>
          <p:cNvSpPr txBox="1">
            <a:spLocks noGrp="1"/>
          </p:cNvSpPr>
          <p:nvPr>
            <p:ph type="ftr" sz="quarter" idx="5"/>
          </p:nvPr>
        </p:nvSpPr>
        <p:spPr>
          <a:prstGeom prst="rect">
            <a:avLst/>
          </a:prstGeom>
        </p:spPr>
        <p:txBody>
          <a:bodyPr vert="horz" wrap="square" lIns="0" tIns="0" rIns="0" bIns="0" rtlCol="0">
            <a:spAutoFit/>
          </a:bodyPr>
          <a:lstStyle/>
          <a:p>
            <a:pPr marL="12700">
              <a:lnSpc>
                <a:spcPts val="1460"/>
              </a:lnSpc>
            </a:pPr>
            <a:r>
              <a:rPr dirty="0"/>
              <a:t>DEPARTMENT</a:t>
            </a:r>
            <a:r>
              <a:rPr spc="-30" dirty="0"/>
              <a:t> </a:t>
            </a:r>
            <a:r>
              <a:rPr dirty="0"/>
              <a:t>OF</a:t>
            </a:r>
            <a:r>
              <a:rPr spc="-40" dirty="0"/>
              <a:t> </a:t>
            </a:r>
            <a:r>
              <a:rPr dirty="0"/>
              <a:t>COMPUTER</a:t>
            </a:r>
            <a:r>
              <a:rPr spc="-45" dirty="0"/>
              <a:t> </a:t>
            </a:r>
            <a:r>
              <a:rPr spc="-10" dirty="0"/>
              <a:t>ENGINEERING,</a:t>
            </a:r>
            <a:r>
              <a:rPr spc="-45" dirty="0"/>
              <a:t> </a:t>
            </a:r>
            <a:r>
              <a:rPr dirty="0"/>
              <a:t>PESMCOE,</a:t>
            </a:r>
            <a:r>
              <a:rPr spc="-40" dirty="0"/>
              <a:t> </a:t>
            </a:r>
            <a:r>
              <a:rPr spc="-10" dirty="0"/>
              <a:t>PUNE:05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73</TotalTime>
  <Words>5852</Words>
  <Application>Microsoft Office PowerPoint</Application>
  <PresentationFormat>Custom</PresentationFormat>
  <Paragraphs>306</Paragraphs>
  <Slides>25</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25</vt:i4>
      </vt:variant>
    </vt:vector>
  </HeadingPairs>
  <TitlesOfParts>
    <vt:vector size="29" baseType="lpstr">
      <vt:lpstr>Calibri</vt:lpstr>
      <vt:lpstr>Cambria Math</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Microsoft Word - DAA_FInal[1]</dc:title>
  <dc:creator>Vishwajeet Londhe</dc:creator>
  <cp:lastModifiedBy>VEDANT BHOR</cp:lastModifiedBy>
  <cp:revision>8</cp:revision>
  <dcterms:created xsi:type="dcterms:W3CDTF">2025-10-30T18:55:25Z</dcterms:created>
  <dcterms:modified xsi:type="dcterms:W3CDTF">2025-10-30T20:10:06Z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2025-10-29T00:00:00Z</vt:filetime>
  </property>
  <property fmtid="{D5CDD505-2E9C-101B-9397-08002B2CF9AE}" pid="3" name="LastSaved">
    <vt:filetime>2025-10-30T00:00:00Z</vt:filetime>
  </property>
  <property fmtid="{D5CDD505-2E9C-101B-9397-08002B2CF9AE}" pid="4" name="Producer">
    <vt:lpwstr>Microsoft: Print To PDF</vt:lpwstr>
  </property>
</Properties>
</file>